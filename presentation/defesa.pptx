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Vantagem das híbridas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&quot;+&quot;0.00&quot; pp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A54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13.49</c:v>
                </c:pt>
                <c:pt idx="1">
                  <c:v>5.17</c:v>
                </c:pt>
              </c:numCache>
            </c:numRef>
          </c:val>
        </c:ser>
        <c:dLbls>
          <c:numFmt formatCode="&quot;+&quot;0.00&quot; pp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Acurácia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0,500</c:v>
                  </c:pt>
                  <c:pt idx="1">
                    <c:v>0,778</c:v>
                  </c:pt>
                  <c:pt idx="2">
                    <c:v>1,056</c:v>
                  </c:pt>
                  <c:pt idx="3">
                    <c:v>1,333</c:v>
                  </c:pt>
                  <c:pt idx="4">
                    <c:v>1,611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76.7</c:v>
                </c:pt>
                <c:pt idx="1">
                  <c:v>83.3</c:v>
                </c:pt>
                <c:pt idx="2">
                  <c:v>80</c:v>
                </c:pt>
                <c:pt idx="3">
                  <c:v>90</c:v>
                </c:pt>
                <c:pt idx="4">
                  <c:v>83.3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B2A3A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CNN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84.55</c:v>
                </c:pt>
                <c:pt idx="1">
                  <c:v>73.81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YOLOv8n-cls</c:v>
                </c:pt>
              </c:strCache>
            </c:strRef>
          </c:tx>
          <c:spPr>
            <a:solidFill>
              <a:srgbClr val="F5A54A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66.28</c:v>
                </c:pt>
                <c:pt idx="1">
                  <c:v>71.43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Piso majoritário</c:v>
                </c:pt>
              </c:strCache>
            </c:strRef>
          </c:tx>
          <c:spPr>
            <a:solidFill>
              <a:srgbClr val="A9BCCC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74.42</c:v>
                </c:pt>
                <c:pt idx="1">
                  <c:v>73.33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1B2A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5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5C6F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Bom dia a todos.
Meu nome é Luan Willig Silveira e apresento a minha dissertação de mestrado, desenvolvida no Programa de Pós-Graduação em Engenharia Elétrica da Universidade Federal de Santa Maria, sob orientação do professor Daniel Pinheiro Bernardon e coorientação do professor Paulo César Vargas Luz.
O título do trabalho é Método de aprimoramento de processamentos de imagens aplicados à detecção e classificação de falhas em cadeias de isoladores. O tema une a manutenção das linhas do sistema elétrico ao uso de imagens e de redes neurais para inspecioná-las.
Agradeço a presença da banca e passo à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apresentação está dividida em quatro partes.
Começo pelo problema elétrico: o papel dos isoladores no sistema elétrico de potência, as falhas que eles apresentam e a forma como são inspecionados.
Em seguida, apresento a proposta, que é a metodologia para comparar, selecionar, combinar e ajustar o processamento das imagens.
Depois, os resultados obtidos com dois conjuntos de dados e dois modelos de rede neural.
E termino voltando ao sistema elétrico, com as vantagens e o impacto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Começo pelo Sistema Elétrico de Potência. A energia gerada percorre as linhas de transmissão, passa pelas subestações e chega aos consumidores pelas redes de distribuição.
Ao longo dessas linhas, componentes como isoladores, fixadores e suportes garantem a sustentação e o isolamento dos condutores. Quando esses componentes apresentam problemas que não são tratados, a consequência pode ser a interrupção do fornecimento de energia. Por isso, a inspeção desses ativos é uma atividade central para a confiabilidade do sistema. E o processamento de imagens se tornou uma ferramenta essencial para essa confiabilidade, porque permite identificar problemas nesses componentes a partir de imagens das linhas.
Entre esses componentes, o foco deste trabalho é o que aparece destacado no círculo da figura: a cadeia de isoladores, presente nas estruturas das linhas de alta tensão. É sobre a detecção e a classificação de falhas nessas cadeias que a dissertação trata.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isoladores cumprem duas funções ao mesmo tempo.
A primeira é mecânica: sustentar os condutores.
A segunda é elétrica: garantir o isolamento entre as partes energizadas e as estruturas aterradas.
Nas linhas de alta tensão, eles são normalmente agrupados em cadeias, como a que aparece na foto.
O problema é que essas cadeias ficam expostas de forma contínua a condições ambientais severas, como variações de temperatura, umidade, poluição e descargas atmosféricas. Ao longo do tempo, essa exposição favorece o surgimento de falhas que comprometem a capacidade de isolamento e, com ela, a confiabilidade do sistema elétrico. O desempenho da linha depende, portanto, do estado de cada cadeia de isoladores instalada ao longo 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falhas aparecem de diferentes formas. A literatura cita trincas, contaminação superficial, perfurações e rupturas, além de corrosões nas estruturas, que também podem ser identificadas por imagem. À esquerda está um exemplo de corrosão.
À direita está o defeito estrutural das cadeias de discos cerâmicos, em que o disco está ausente ou fraturado. Essas condições comprometem a rigidez dielétrica da cadeia e podem evoluir para falhas de isolamento na linha.
O ponto em comum é que todas essas falhas deixam uma assinatura visual. É isso que torna possível usar imagens para encontrá-las.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isso, a identificação precoce dessas falhas é essencial, e ela traz três ganhos diretos para o sistema elétrico.
O primeiro é a continuidade: encontrar a falha a tempo evita interrupções no fornecimento de energia.
O segundo é econômico: a detecção precoce reduz os custos de manutenção.
O terceiro é a segurança: previne riscos às instalações e às pessoas.
Há também o outro lado dessa questão. Uma falha que não é detectada, o chamado falso negativo, pode ter consequências graves e, no limite, levar a falhas no sistema de transmissão. Por isso, ao longo do trabalho, a capacidade de encontrar a falha, e não apenas a taxa geral de acertos, recebe atenção especial na leitura dos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Tradicionalmente, a inspeção de cadeias de isoladores é feita de forma visual e manual, por equipes especializadas. Isso torna a inspeção lenta, custosa e sujeita à subjetividade e a erros humanos.
Uma alternativa promissora é a inspeção por imagem. O uso de imagens capturadas por drones facilita a inspeção de grandes extensões de linhas de transmissão, reduz custos e aumenta a segurança, porque evita intervenções manuais em locais de difícil acesso.
Associadas a modelos de aprendizado de máquina, essas imagens permitem automatizar a detecção e a classificação das falhas, o que torna a inspeção mais rápida, econômica e reprodutível. E os métodos de aprendizado profundo conseguem reconhecer padrões que indicam falhas mesmo em condições adversas, como baixa visibilidade ou equipamentos desgastados.
É essa combinação de drone e inteligência artificial que forma o contexto de aplicação desta dissertação.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inspeção por imagem, porém, traz os seus próprios desafios.
O primeiro é o volume. Uma inspeção produz um grande número de imagens, e a literatura aponta que a inspeção manual se torna ineficaz justamente pelo alto volume de dados.
O segundo é o fundo das imagens. O isolador aparece sobre vegetação, rios, ocupação urbana e outras estruturas, e essa complexidade dificulta distinguir o componente elétrico do ambiente ao seu redor.
O terceiro é a anotação. Rotular manualmente as imagens capturadas por drones é demorado e propenso a erros, o que limita o tamanho dos conjuntos de dados disponíveis.
A inteligência artificial responde ao primeiro desafio, porque permite analisar grandes volumes de dados e identificar padrões complexos. Mas os outros dois mostram que a qualidade da imagem que chega ao modelo continua sendo decisiva.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sistema de inspeção automática segue esta sequência. A imagem é adquirida, recebe um pré-processamento, é analisada pelo modelo de rede neural, e o resultado é um diagnóstico: com falha ou sem falha.
A eficácia desse sistema depende, em grande medida, das técnicas de processamento de imagem empregadas e da forma como elas são combinadas e ajustadas. Diferentes técnicas, parâmetros e arquiteturas podem produzir resultados bastante distintos para o mesmo problema.
Não basta investir apenas em arquiteturas complexas de rede neural se as imagens de entrada apresentarem ruídos e limitações de contraste que ocultam os defeitos.
Por isso, este trabalho coloca o pré-processamento no centro, como a variável independente do estudo. A pergunta passa a ser: qual tratamento aplicar à imagem para que o modelo identifique melhor a falha no isolador?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se busca na literatura como tratar essas imagens, o que se encontra é falta de consenso.
Liu e Wang, que detectam falhas em isoladores em imagens aéreas de linhas de transmissão, utilizaram apenas redimensionamento e normalização, e não registram impacto significativo do pré-processamento.
Zhang, que combina aprendizado profundo com processamento morfológico para segmentar os isoladores, relata melhora no desempenho. Salvi, em uma revisão na área de patologia digital, conclui que essas técnicas melhoram a precisão e reduzem o tempo computacional.
Já Öztürk e Akdemir mostram que o excesso de processamento pode degradar o desempenho, e Rodrigues observa que as imagens originais favoreceram a rede neural.
Os estudos vão, portanto, da melhora ao risco de sobre-processamento. E nenhum deles propõe um método para determinar quais processamentos são mais eficientes e para otimizar os seus parâmetros. Essa é a lacuna que a dissertação procura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dessa lacuna, o objetivo geral do trabalho é desenvolver uma metodologia capaz de comparar, selecionar, combinar e aprimorar técnicas de processamento de imagem para a detecção e a classificação de falhas em cadeias de isoladores.
Os quatro verbos organizam toda a proposta.
Comparar as técnicas entre si, sob as mesmas condições.
Selecionar as mais adequadas a cada caso.
Combinar técnicas em sequência, formando pipelines.
E aprimorar os seus parâmetros de forma automática, sem a necessidade de intervenção manual extensa.
Esse objetivo responde diretamente à lacuna identificada. Em vez de relatar apenas o que funcionou em um experimento, a proposta é oferecer um método para determinar os processamentos mais eficientes e otimizar os seus parâmetros.
Com isso, a escolha do tratamento das imagens passa a seguir um procedimento sistemático.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alcançar esse objetivo, foram definidos sete objetivos específicos.
O primeiro é estabelecer métricas para avaliar a eficácia dos processamentos de imagem.
O segundo e o terceiro são determinar o tipo de rede neural adequado e construir os modelos de avaliação, sem o intuito de encontrar um modelo definitivo.
O quarto e o quinto são analisar o impacto da escolha do modelo e a influência do conjunto de dados sobre os resultados.
O sexto é aprimorar os processamentos pela combinação de abordagens unitárias.
E o sétimo é criar um método de ajuste automático dos parâmetros.
Destaco o sentido do terceiro objetivo: os modelos treinados servem para avaliar o impacto dos diferentes processamentos, e não são o produto final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metodologia é estruturada, iterativa e modular.
O fluxo parte do início e percorre seis etapas: a seleção e a validação do conjunto de dados, o pré-processamento, o ajuste de parâmetros, a escolha e a construção do modelo, o treinamento e, por fim, a avaliação e os ajustes, encerrando em conclusões e recomendações.
O caráter iterativo vem do ciclo de avaliação. Quando o desempenho não é satisfatório, a avaliação retroalimenta o pré-processamento e a escolha do modelo, o que permite refinar as técnicas e os parâmetros a cada iteração.
O caráter modular vem da divisão em blocos, que permite identificar e corrigir problemas em cada etapa de forma isolada, sem comprometer o restante do processo. É essa modularidade que permite, mais adiante, trocar apenas o bloco do modelo e repetir o experimento com uma segunda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etapa se desdobra em operações e decisões, mostradas no fluxograma detalhado. Destaco os quatro pontos de decisão.
O primeiro verifica se o conjunto de dados está balanceado. Isso é especialmente relevante na detecção de falhas, em que costuma haver muito mais amostras de isoladores saudáveis do que de defeituosos.
O segundo decide se as técnicas serão usadas isoladas ou combinadas em um pipeline.
O terceiro define o tipo de tarefa, entre classificação, detecção e regressão.
E o quarto verifica se o desempenho atende aos critérios definidos. Se não atende, o bloco de ajuste de processamentos e modelo devolve o fluxo às etapas anteriores.
Neste trabalho, foram percorridos os dois ramos do pré-processamento, o de técnicas isoladas e o de técnicas combinadas, com a tarefa de classificação e o ajuste automático de parâmetros.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validar a metodologia, foram usados dois conjuntos de dados de inspeção de infraestrutura elétrica, que representam cenários bem diferentes.
O primeiro é o CPLID, o Chinese Power Line Insulator Dataset. Ele reúne imagens de cadeias de isoladores de linhas de transmissão aéreas, majoritariamente cerâmicos, capturadas por drones e com fundos homogêneos. O defeito de interesse é estrutural: a ausência de disco e as fraturas no corpo do isolador. São duas classes, com 678 imagens de treino e 43 de teste.
O segundo é o DRNPW, disponibilizado pela CPFL, com imagens capturadas por drones em condições operacionais reais. Aqui os isoladores aparecem sobre fundos heterogêneos, com vegetação e ocupação urbana, o que reproduz a dificuldade de campo em distinguir o componente elétrico do ambiente. São 585 imagens, divididas em 468 de treino, 87 de validação e 30 de teste.
Esse conjunto é fortemente desbalanceado: das 468 imagens de treino, 335 pertencem a uma única categoria.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Foram avaliadas 14 variantes de pré-processamento, aplicadas às imagens antes do treinamento. A figura ilustra o efeito de algumas delas sobre uma mesma imagem.
O realce de contraste amplia as diferenças de intensidade por meio de um fator multiplicador. A equalização de histograma redistribui as intensidades na faixa dinâmica disponível. A escala de cinza suprime a informação de cor. O desfoque gaussiano faz uma suavização passa-baixa. E a detecção de bordas isola os contornos da imagem.
Além dessas, foram avaliadas a binarização adaptativa, o CLAHE, que equaliza o histograma por regiões locais, a redução de ruído por médias não locais e o filtro de mediana.
Quatro variantes são híbridas, combinando o realce de contraste com o CLAHE ou com a equalização de histograma, em ordens diferentes.
E a imagem original entra como amostra de controle, a linha de base sem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protocolo experimental isola uma única variável.
Foi implementada uma rede neural convolucional clássica e padronizada, com duas camadas convolucionais de 32 filtros, max-pooling, uma camada densa de 8 unidades e saída softmax. O treinamento usou o otimizador Adam por 50 épocas, com data augmentation em tempo de treino e imagens de 512 por 512 pixels. Com o modelo fixo, a única variável entre as execuções é o pré-processamento aplicado às imagens. Depois, a mesma varredura foi repetida com uma segunda arquitetura.
Para ler os resultados, é preciso um critério de referência, porque os dois conjuntos de teste são desbalanceados. Nesses casos, a acurácia sozinha pode ser enganosa, já que um modelo que sempre prevê a classe saudável alcança um valor alto sem detectar nenhuma falha. Esse critério é o piso majoritário: a acurácia obtida ao responder sempre a classe mais frequente, sem observar a imagem.
No CPLID, 32 das 43 imagens de teste são de isoladores normais, o que dá um piso de 74,42 por cento. No DRNPW, o piso é de 73,33 por cento. Um modelo abaixo desse valor não extrai informação útil das imagens.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Começo pelos resultados da rede convolucional no CPLID, o cenário das cadeias cerâmicas de linhas de transmissão com defeito estrutural. O gráfico mostra a acurácia de cada técnica, em ordem crescente, com a imagem tratada acima de cada barra.
No topo, três técnicas empataram em 95,35 por cento de acurácia, e todas ampliam o contraste: o realce de contraste simples, a combinação de CLAHE com realce e a combinação de realce com equalização de histograma. O realce simples teve ainda o maior F1-score do conjunto, 96,55 por cento, superando inclusive a imagem original sem tratamento, que alcançou 93,02 por cento de acurácia.
Esse resultado é coerente com a natureza do defeito. As assinaturas visuais do disco ausente e da fratura se concentram na estrutura física do isolador e são realçadas pela ampliação do intervalo tonal.
No outro extremo, as técnicas de suavização e desfoque reduziram consideravelmente o desempenho. O desfoque gaussiano ficou em apenas 67,44 por cento, abaixo da imagem original e abaixo do piso majoritário. Ou seja, um tratamento inadequado piorou o resultado em relação a não tratar a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DRNPW, o cenário de inspeção aérea em ambiente operacional real, o comportamento muda.
Com fundos de forte poluição visual, os melhores resultados vieram das combinações que ampliam o contraste. A combinação de realce de contraste e equalização de histograma teve o melhor desempenho, com 83,33 por cento de acurácia e 75,76 por cento de F1-score, contra 63,33 por cento de acurácia e 49,12 por cento de F1-score dos modelos treinados apenas com as imagens originais.
A leitura é que, nesse cenário, a combinação reforça o contraste entre o componente e o fundo. Já as técnicas que suprimem a cor, como a escala de cinza, ou que suavizam as texturas, como os desfoques, ficaram entre os piores resultados, por descartarem informação relevante à identificação do defeito.
Faço aqui uma ressalva: esse melhor resultado supera o piso de 73,33 por cento em 10 pontos percentuais, o equivalente a três imagens de teste, e seis das 14 técnicas ficaram no piso ou abaixo dele. Por isso, a inspeção em ambiente com forte poluição visual permanece como o caso mais desafiador.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Agrupando as 14 técnicas em simples e híbridas, as combinações se destacam com a rede convolucional.
No CPLID, a média de acurácia das técnicas híbridas foi 13,49 pontos percentuais superior à das técnicas simples. No DRNPW, a vantagem foi de 5,17 pontos.
Isso confirma a decisão da metodologia de avaliar também pipelines de técnicas combinadas, em que a saída de uma técnica serve de entrada para a próxima. Um pipeline pode reunir, por exemplo, normalização, redução de ruído, ajuste de contraste e aumento de nitidez.
E há um detalhe importante: a ordem das operações importa, porque sequências diferentes produzem resultados distintos. Por isso, as combinações foram avaliadas nas duas ordens possíveis: CLAHE seguido de realce e realce seguido de CLAHE, e equalização seguida de realce e realce seguido de equalização.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etapa de ajuste automático foi aplicada ao parâmetro do realce de contraste, o fator multiplicador, no DRNPW. Valores menores que 1 reduzem o contraste, e valores maiores que 1 o aumentam.
Primeiro, a busca em grade avaliou cinco valores entre 0,5 e 1,611. O melhor foi o fator 1,333, com 90 por cento de acurácia, 81 por cento de precisão e 85,3 por cento de F1-score. A redução excessiva de contraste, com fator 0,5, resultou na menor acurácia, 76,7 por cento.
Como complemento, a busca aleatória testou cinco valores entre 0,5 e 3. O melhor foi 1,4364, com 85,06 por cento de acurácia na validação, e contrastes muito altos degradaram o desempenho, com 71,26 por cento no fator 2,33.
Os dois métodos apontam para valores próximos, um pouco acima de 1.
O ganho metodológico é que o ajuste deixa de depender de otimização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Até aqui, todas as avaliações usaram uma única arquitetura. Isso isola o pré-processamento, mas deixa uma pergunta em aberto: os efeitos observados vêm das imagens ou do modelo usado para avaliá-las?
Como a metodologia trata o modelo como um bloco substituível, a mesma varredura foi repetida com o YOLOv8n-cls, a variante de classificação da família YOLO, com pesos iniciais do COCO e cerca de 1,4 milhão de parâmetros treináveis. Foram 28 treinamentos completos, mantendo os conjuntos, as 14 técnicas e as 50 épocas.
O YOLOv8n-cls não superou a rede convolucional. No CPLID, a sua acurácia média foi de 66,28 por cento, contra 84,55, e ele superou o piso em apenas 1 das 14 técnicas. No DRNPW, as duas arquiteturas ficaram na vizinhança do piso.
E a ordem de mérito das técnicas se inverteu. A combinação de CLAHE com realce caiu de 95,35 para 51,16 por cento. A melhor combinação do DRNPW caiu de 83,33 para 53,33. E a escala de cinza subiu de 76,74 para 81,40 por cento.
Uma explicação plausível é que os pesos do COCO carregam as estatísticas de cor e contraste de fotografias naturais, e transformações que se afastam dessa distribuição degradam a utilidade dos filtros já aprendidos. A consequência é que a escolha do pré-processamento não é independente do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Reunindo os resultados, destaco o que a metodologia entrega para quem desenvolve um sistema de inspeção de isoladores.
Primeiro, ganho de desempenho. No cenário de campo, a escolha do tratamento levou o F1-score de 49,12 por cento, com as imagens originais, para 75,76 por cento, com a mesma rede.
Segundo, proteção contra a escolha errada. No CPLID, o desfoque gaussiano derrubou a acurácia de 93,02 para 67,44 por cento.
Terceiro, uma indicação sobre onde investir. Em regime de poucos dados, a arquitetura maior e pré-treinada não superou a rede convolucional simples, porque o aumento da capacidade do modelo não compensou as limitações do conjunto de dados.
E quarto, um procedimento. Como a melhor técnica muda com a arquitetura e com o conjunto de dados, a seleção precisa ser refeita a cada mudança, e a estrutura iterativa da metodologia viabiliza essa reexecução controlada.
Em síntese, o tratamento adequado das imagens brutas, ajustado a cada conjunto de dados e ao modelo adotado, é condição essencial para o bom desempenho.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Voltando ao sistema elétrico, a inspeção automatizada por imagem, que este trabalho ajuda a tornar mais confiável, traz vantagens em seis frentes.
A continuidade do fornecimento, porque a detecção precoce de falhas evita interrupções.
O custo, porque identificar a falha cedo reduz os custos de manutenção.
A segurança, porque o uso de imagens evita intervenções manuais em locais de difícil acesso.
A abrangência, porque os drones facilitam a inspeção de grandes extensões de linhas.
A reprodutibilidade, porque o diagnóstico automatizado é mais rápido, econômico e menos sujeito à subjetividade e ao erro humano.
E a manutenção preditiva, porque as técnicas modernas permitem monitorar os equipamentos e identificar danos antes que se tornem críticos.
Em todas essas frentes, o ganho depende de o modelo acertar, e o acerto do modelo depende, como vimos, do tratamento dado às imagens.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Concluindo.
Primeira conclusão: o pré-processamento das imagens exerce papel determinante no desempenho dos modelos em cenários de inspeção de infraestrutura elétrica.
Segunda conclusão: não há um processamento universalmente superior. Para defeitos estruturais em cadeias de isoladores de linhas de transmissão, no CPLID, o realce de contraste foi a estratégia de maior êxito. Para a inspeção aérea com fundos heterogêneos e poluídos, no DRNPW, as combinações de realce de contraste e equalização de histograma foram mais eficazes. A eficácia de cada técnica depende das características do conjunto de dados e do contexto de captura das falhas.
Terceira conclusão: a ordem de mérito das técnicas se altera conforme a arquitetura, de modo que a seleção do pré-processamento não é independente do modelo nem da forma de inicialização dos seus pesos. Por isso, ela precisa ser refeita a cada mudança de arquitetura ou de conjunto de dados, e é essa reexecução controlada que a metodologia proposta busca viabilizar.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trabalho enfrentou limitações.
A principal foi a quantidade e a disponibilidade de dados. Há grande escassez de bancos de imagens públicos focados em redes de distribuição, com número expressivo de componentes defeituosos e anotações rigorosas, o que obriga o uso de conjuntos fortemente desbalanceados.
Outra limitação foi o custo computacional. Otimizar todos os parâmetros do pipeline ao mesmo tempo leva à explosão combinatória, o que inviabiliza a avaliação exaustiva em tempo hábil.
A partir dessas limitações, sugiro cinco trabalhos futuros. Usar a otimização bayesiana para explorar vários parâmetros simultaneamente. Gerar exemplos sintéticos de defeitos com redes generativas adversariais. Estender o método para arquiteturas de detecção, avaliando a localização espacial das falhas. Adotar métricas mais robustas ao desbalanceamento, como o F1-score macro e a acurácia balanceada. E avaliar o desempenho do pipeline em dispositivos embarcados, como drones, para viabilizar a inspeção dinâmica em campo.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Encerro voltando ao ponto de partida, o Sistema Elétrico de Potência.
A principal contribuição deste trabalho é uma metodologia estruturada para a inspeção automatizada de linhas de transmissão, que mapeia de forma sistemática o impacto do processamento das imagens aéreas.
O impacto aparece em três frentes. Na confiabilidade do sistema, porque um modelo que identifica melhor a falha no isolador contribui para encontrá-la antes que ela cause uma interrupção no fornecimento. Na manutenção das linhas, porque fortalece a inspeção por drone e inteligência artificial, que é mais rápida, econômica, segura e reprodutível que a inspeção manual. E na própria inspeção automatizada, porque oferece um procedimento sistemático para escolher e ajustar o tratamento das imagens, que pode ser repetido a cada novo conjunto de dados ou nova arquitetura.
A mensagem final é que o tratamento adequado das imagens brutas é tão relevante quanto a escolha da arquitetura da rede neural.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Muito obrigado pela atenção. Fico à disposição da banca para as arguições.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image" Target="../media/image-9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jpeg"/><Relationship Id="rId4" Type="http://schemas.openxmlformats.org/officeDocument/2006/relationships/image" Target="../media/image-16-4.jpeg"/><Relationship Id="rId5" Type="http://schemas.openxmlformats.org/officeDocument/2006/relationships/image" Target="../media/image-16-5.jpeg"/><Relationship Id="rId6" Type="http://schemas.openxmlformats.org/officeDocument/2006/relationships/image" Target="../media/image-16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20-1.jpeg"/><Relationship Id="rId3" Type="http://schemas.openxmlformats.org/officeDocument/2006/relationships/image" Target="../media/image-20-2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0292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 Federal de Santa Maria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02920" y="74066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Pós-Graduação em Engenharia Elétrica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2801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 de aprimoramento de processamentos de imagens aplicados à detecção e classificação de falhas em cadeias de isoladores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02920" y="31546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de Dissertação de Mestrado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2920" y="36118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Mestrando: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 Willig Silveira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Daniel Pinheiro Bernardon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Coorientador: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Paulo César Vargas Luz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47320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Maria, RS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sistema elétrico de volta ao sistema elétrico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182880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1264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elétrico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0292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Isoladores, falhas e inspeção</a:t>
            </a:r>
            <a:endParaRPr lang="en-US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234440"/>
            <a:ext cx="1828800" cy="18288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60604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71576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71576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26060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0604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de processamento</a:t>
            </a:r>
            <a:endParaRPr lang="en-US" sz="10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234440"/>
            <a:ext cx="1828800" cy="182880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70916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81888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81888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70916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470916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cenários, dois modelos</a:t>
            </a:r>
            <a:endParaRPr lang="en-US" sz="10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234440"/>
            <a:ext cx="1828800" cy="18288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81228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922008" y="1344168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92200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8122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681228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para o sistema elétrico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isolador no Sistema Elétrico de Potência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8138160" cy="227868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361188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Transmissão e distribuição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que levam a energia até os consumidores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91840" y="361188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347472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Isoladores, fixadores e suportes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47472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inspecionados ao longo das linhas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80760" y="3611880"/>
            <a:ext cx="54864" cy="777240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12" name="Text 9"/>
          <p:cNvSpPr/>
          <p:nvPr/>
        </p:nvSpPr>
        <p:spPr>
          <a:xfrm>
            <a:off x="626364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 não tratada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26364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causar interrupções no fornecimento de energia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435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0" y="274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486400" y="51206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Isolador: sustentação e isolamento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0" y="1691640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080760" y="165506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080760" y="19476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mecanicamente os condutores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0" y="2624328"/>
            <a:ext cx="457200" cy="45720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080760" y="258775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080760" y="2880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partes energizadas das estruturas aterradas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0" y="3557016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080760" y="3520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exposto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080760" y="38130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temperatura, umidade, poluição e descargas atmosféricas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48640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Falhas que deixam marca na imagem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3931920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Corrosão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02920" y="4114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Identificável em imagens de inspeção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143000"/>
            <a:ext cx="3931920" cy="2606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0916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ausente e fraturas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709160" y="4114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Comprometem a rigidez dielétrica da cadeia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ilustrativas de cadeias de isoladores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88720"/>
            <a:ext cx="2834640" cy="2834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Detectar cedo protege o sistema elétrico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7512" y="170078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" y="1700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234440" y="160934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interrupções no fornecimento de energia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37744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252374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34440" y="24323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os custos de manutenção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320040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7512" y="334670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34440" y="325526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Previne riscos às instalações e às pessoas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02920" y="4114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Falhas não detectadas podem ter consequências graves.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inspeção manual à inspeção automatizada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3931920" cy="213447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6118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capturadas por drones facilitam a inspeção de grandes extensões de linhas.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4709160" y="1188720"/>
            <a:ext cx="3931920" cy="1481328"/>
          </a:xfrm>
          <a:prstGeom prst="roundRect">
            <a:avLst>
              <a:gd name="adj" fmla="val 4321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919472" y="1280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visual e manual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937760" y="1609344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Lenta e custosa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Sujeita à subjetividade e a erros humanos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Feita por equipes especializadas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709160" y="2834640"/>
            <a:ext cx="3931920" cy="1645920"/>
          </a:xfrm>
          <a:prstGeom prst="roundRect">
            <a:avLst>
              <a:gd name="adj" fmla="val 3889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919472" y="2926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por imagem com IA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937760" y="325526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rápida, econômica e reprodutível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intervenções manuais em locais de difícil acesso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 padrões de falha em condições adversas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desafio: muitas imagens e fundos complexos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4983480" cy="25019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749040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ilustrativas de inspeção de cadeias de isoladores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760720" y="118872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25312" y="12344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volume de dados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 a inspeção manual ineficaz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760720" y="205740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925312" y="21031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Fundos complexos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Vegetação, rios e ocupação urbana ao redor do isolador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760720" y="292608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25312" y="2971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Anotação manual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Demorada e propensa a erros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depende da imagem que recebe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783080" cy="1337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da cadeia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2286000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1280160"/>
            <a:ext cx="1783080" cy="133731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624328" y="1280160"/>
            <a:ext cx="1783080" cy="1337310"/>
          </a:xfrm>
          <a:prstGeom prst="rect">
            <a:avLst/>
          </a:prstGeom>
          <a:ln w="44450">
            <a:solidFill>
              <a:srgbClr val="F5A54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624328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2624328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da imagem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4407408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1280160"/>
            <a:ext cx="1783080" cy="133731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745736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745736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neural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528816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144" y="1280160"/>
            <a:ext cx="1783080" cy="133731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67144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867144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falha ou sem falha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2807208" y="3328416"/>
            <a:ext cx="1417320" cy="292608"/>
          </a:xfrm>
          <a:prstGeom prst="roundRect">
            <a:avLst>
              <a:gd name="adj" fmla="val 25000"/>
            </a:avLst>
          </a:prstGeom>
          <a:solidFill>
            <a:srgbClr val="F5A54A"/>
          </a:solidFill>
          <a:ln/>
        </p:spPr>
      </p:sp>
      <p:sp>
        <p:nvSpPr>
          <p:cNvPr id="21" name="Text 15"/>
          <p:cNvSpPr/>
          <p:nvPr/>
        </p:nvSpPr>
        <p:spPr>
          <a:xfrm>
            <a:off x="2807208" y="332841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deste trabalho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02920" y="3840480"/>
            <a:ext cx="8138160" cy="621792"/>
          </a:xfrm>
          <a:prstGeom prst="roundRect">
            <a:avLst>
              <a:gd name="adj" fmla="val 10294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777240" y="384048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basta investir em arquiteturas complexas se a imagem oculta o defeito.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DA ARTE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literatura não chega a um consenso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89888" y="1463040"/>
            <a:ext cx="822960" cy="822960"/>
          </a:xfrm>
          <a:prstGeom prst="ellipse">
            <a:avLst/>
          </a:prstGeom>
          <a:solidFill>
            <a:srgbClr val="5C6F80"/>
          </a:solidFill>
          <a:ln w="12700">
            <a:solidFill>
              <a:srgbClr val="5C6F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8988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impacto significativo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(2021)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 (2023)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9184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78808" y="1463040"/>
            <a:ext cx="822960" cy="822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7880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42900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Melhorou o desempenho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 et al. (2022)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Salvi et al. (2021)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8076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67728" y="1463040"/>
            <a:ext cx="822960" cy="82296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6772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21792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e efeito negativo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Öztürk e Akdemir (2018)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Rodrigues et al. (2020)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129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93192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estudo propõe um método para determinar os processamentos mais eficientes.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43000"/>
            <a:ext cx="2834640" cy="2834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geral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5029200" cy="1920240"/>
          </a:xfrm>
          <a:prstGeom prst="roundRect">
            <a:avLst>
              <a:gd name="adj" fmla="val 3333"/>
            </a:avLst>
          </a:prstGeom>
          <a:solidFill>
            <a:srgbClr val="1C3550"/>
          </a:solidFill>
          <a:ln w="9525">
            <a:solidFill>
              <a:srgbClr val="145A7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" y="1417320"/>
            <a:ext cx="4526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Desenvolver uma metodologia capaz de comparar, selecionar, combinar e aprimorar técnicas de processamento de imagem para a detecção e classificação de falhas em cadeias de isoladores.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0292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178308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8308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06324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6324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4340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34340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Aprimorar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97864" y="1280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197864" y="153619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Estabelecer métricas para avaliar a eficácia dos processamentos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17720" y="120700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37160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312664" y="1280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modelo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312664" y="153619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Determinar o tipo de rede neural para avaliar os processamentos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02996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19456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97864" y="21031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do modelo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97864" y="235915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redes de avaliação, sem buscar um modelo definitivo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202996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219456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12664" y="21031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 modelo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312664" y="235915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o impacto da escolha do modelo no processamento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285292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" y="301752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97864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 dataset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97864" y="318211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a influência do conjunto de dados na eficácia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17720" y="285292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301752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312664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312664" y="318211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Aprimorar os processamentos combinando abordagens unitárias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02920" y="3675888"/>
            <a:ext cx="80924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3840480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197864" y="374904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automático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1197864" y="4005072"/>
            <a:ext cx="7251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parâmetros sem intervenção manual extensa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Estruturada, iterativa e modular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84048" y="1005840"/>
            <a:ext cx="1701784" cy="3621024"/>
          </a:xfrm>
          <a:prstGeom prst="roundRect">
            <a:avLst>
              <a:gd name="adj" fmla="val 2149"/>
            </a:avLst>
          </a:prstGeom>
          <a:solidFill>
            <a:srgbClr val="FFFFFF"/>
          </a:solidFill>
          <a:ln w="9525">
            <a:solidFill>
              <a:srgbClr val="E4EA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78992"/>
            <a:ext cx="1555480" cy="3474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0" y="118872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414016" y="132588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14016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834640" y="118872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e validação do dataset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577840" y="118872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05856" y="132588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05856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126480" y="118872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286000" y="192024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414016" y="205740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414016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2834640" y="192024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de parâmetros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577840" y="192024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05856" y="205740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705856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126480" y="192024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e construção do modelo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286000" y="265176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414016" y="278892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41401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2834640" y="265176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577840" y="265176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705856" y="2788920"/>
            <a:ext cx="329184" cy="32918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70585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126480" y="265176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e ajustes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2286000" y="3520440"/>
            <a:ext cx="6400800" cy="914400"/>
          </a:xfrm>
          <a:prstGeom prst="roundRect">
            <a:avLst>
              <a:gd name="adj" fmla="val 7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514600" y="35204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retroalimenta o pré-processamento e a escolha do modelo.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conduzem o fluxo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9768" y="978408"/>
            <a:ext cx="1391986" cy="3639312"/>
          </a:xfrm>
          <a:prstGeom prst="roundRect">
            <a:avLst>
              <a:gd name="adj" fmla="val 2628"/>
            </a:avLst>
          </a:prstGeom>
          <a:solidFill>
            <a:srgbClr val="FFFFFF"/>
          </a:solidFill>
          <a:ln w="9525">
            <a:solidFill>
              <a:srgbClr val="E4EA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1245682" cy="34930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331720" y="1225296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7" name="Text 4"/>
          <p:cNvSpPr/>
          <p:nvPr/>
        </p:nvSpPr>
        <p:spPr>
          <a:xfrm>
            <a:off x="2331720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971800" y="118872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está balanceado?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331720" y="1883664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10" name="Text 7"/>
          <p:cNvSpPr/>
          <p:nvPr/>
        </p:nvSpPr>
        <p:spPr>
          <a:xfrm>
            <a:off x="2331720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971800" y="1847088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 técnicas?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2331720" y="2542032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13" name="Text 10"/>
          <p:cNvSpPr/>
          <p:nvPr/>
        </p:nvSpPr>
        <p:spPr>
          <a:xfrm>
            <a:off x="23317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971800" y="2505456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tarefa?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2331720" y="3200400"/>
            <a:ext cx="457200" cy="457200"/>
          </a:xfrm>
          <a:prstGeom prst="diamond">
            <a:avLst/>
          </a:prstGeom>
          <a:solidFill>
            <a:srgbClr val="F5A54A"/>
          </a:solidFill>
          <a:ln/>
        </p:spPr>
      </p:sp>
      <p:sp>
        <p:nvSpPr>
          <p:cNvPr id="16" name="Text 13"/>
          <p:cNvSpPr/>
          <p:nvPr/>
        </p:nvSpPr>
        <p:spPr>
          <a:xfrm>
            <a:off x="23317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971800" y="3163824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satisfatório?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2286000" y="3931920"/>
            <a:ext cx="6400800" cy="566928"/>
          </a:xfrm>
          <a:prstGeom prst="roundRect">
            <a:avLst>
              <a:gd name="adj" fmla="val 1129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68880" y="393192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trabalho: técnicas isoladas e combinadas, classificação e ajuste automático de parâmetros.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cenários de inspeção de isoladores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3931920" cy="1828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12724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CPLID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21208" y="3493008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de transmissão, isoladores majoritariamente cerâmicos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 estrutural: disco ausente e fraturas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imagens de treino e 43 de teste</a:t>
            </a:r>
            <a:endParaRPr lang="en-US" sz="11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188720"/>
            <a:ext cx="3931920" cy="18288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09160" y="312724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DRNPW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4727448" y="3493008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de drones disponibilizadas pela CPFL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Fundos heterogêneos com forte poluição visual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585 imagens, fortemente desbalanceado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à direita: ilustrativa do cenário de campo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técnica faz com a imagem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15568"/>
            <a:ext cx="1920240" cy="14401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original</a:t>
            </a:r>
            <a:endParaRPr lang="en-US" sz="10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115568"/>
            <a:ext cx="1920240" cy="14401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606040" y="1115568"/>
            <a:ext cx="1920240" cy="1440180"/>
          </a:xfrm>
          <a:prstGeom prst="rect">
            <a:avLst/>
          </a:prstGeom>
          <a:ln w="38100">
            <a:solidFill>
              <a:srgbClr val="F5A54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60604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115568"/>
            <a:ext cx="1920240" cy="14401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70916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Equalização de histograma</a:t>
            </a:r>
            <a:endParaRPr lang="en-US" sz="10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21508"/>
            <a:ext cx="1920240" cy="14401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0292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cinza</a:t>
            </a:r>
            <a:endParaRPr lang="en-US" sz="10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6040" y="2921508"/>
            <a:ext cx="1920240" cy="144018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260604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Desfoque gaussiano</a:t>
            </a:r>
            <a:endParaRPr lang="en-US" sz="105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921508"/>
            <a:ext cx="1920240" cy="144018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470916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bordas</a:t>
            </a:r>
            <a:endParaRPr lang="en-US" sz="1050" dirty="0"/>
          </a:p>
        </p:txBody>
      </p:sp>
      <p:sp>
        <p:nvSpPr>
          <p:cNvPr id="17" name="Shape 9"/>
          <p:cNvSpPr/>
          <p:nvPr/>
        </p:nvSpPr>
        <p:spPr>
          <a:xfrm>
            <a:off x="6812280" y="1115568"/>
            <a:ext cx="1828800" cy="3474720"/>
          </a:xfrm>
          <a:prstGeom prst="roundRect">
            <a:avLst>
              <a:gd name="adj" fmla="val 35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8" name="Text 10"/>
          <p:cNvSpPr/>
          <p:nvPr/>
        </p:nvSpPr>
        <p:spPr>
          <a:xfrm>
            <a:off x="6812280" y="13258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400" dirty="0"/>
          </a:p>
        </p:txBody>
      </p:sp>
      <p:sp>
        <p:nvSpPr>
          <p:cNvPr id="19" name="Text 11"/>
          <p:cNvSpPr/>
          <p:nvPr/>
        </p:nvSpPr>
        <p:spPr>
          <a:xfrm>
            <a:off x="694944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 avaliadas</a:t>
            </a:r>
            <a:endParaRPr lang="en-US" sz="1150" dirty="0"/>
          </a:p>
        </p:txBody>
      </p:sp>
      <p:sp>
        <p:nvSpPr>
          <p:cNvPr id="20" name="Text 12"/>
          <p:cNvSpPr/>
          <p:nvPr/>
        </p:nvSpPr>
        <p:spPr>
          <a:xfrm>
            <a:off x="6949440" y="2514600"/>
            <a:ext cx="1554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combinações híbridas</a:t>
            </a:r>
            <a:endParaRPr lang="en-US" sz="22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5B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sem processamento</a:t>
            </a:r>
            <a:endParaRPr lang="en-US" sz="2200" dirty="0"/>
          </a:p>
        </p:txBody>
      </p:sp>
      <p:sp>
        <p:nvSpPr>
          <p:cNvPr id="21" name="Text 1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en-US" sz="900" dirty="0"/>
          </a:p>
        </p:txBody>
      </p:sp>
      <p:sp>
        <p:nvSpPr>
          <p:cNvPr id="22" name="Text 14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Ilustração do efeito das técnicas sobre uma mesma imagem</a:t>
            </a:r>
            <a:endParaRPr lang="en-US" sz="750" dirty="0"/>
          </a:p>
        </p:txBody>
      </p:sp>
      <p:sp>
        <p:nvSpPr>
          <p:cNvPr id="23" name="Text 1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EXPERIMENTAL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variável por vez e uma régua de leitura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103120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679192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79192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770632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conjuntos de dados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79392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855464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946904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55664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7031736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31736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7123176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variável: o pré-processamento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2606040"/>
            <a:ext cx="8138160" cy="1828800"/>
          </a:xfrm>
          <a:prstGeom prst="roundRect">
            <a:avLst>
              <a:gd name="adj" fmla="val 35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27432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majoritário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30632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obtida ao responder sempre a classe mais frequente do teste, sem observar a imagem. Abaixo dele, o modelo não extrai informação útil.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74920" y="2926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74,42%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5074920" y="3566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do CPLID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2926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73,33%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858000" y="3566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do DRNPW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LINHAS DE TRANSMISSÃO COM ISOLADORES CERÂMICOS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Realçar o contraste evidencia o defeito estrutural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274320" y="1060704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CNN por técnica, em ordem crescente, com a imagem tratada acima de cada barra (CPLID)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243584"/>
            <a:ext cx="8686800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95,35%</a:t>
            </a:r>
            <a:pPr indent="0" marL="0">
              <a:buNone/>
            </a:pPr>
            <a:r>
              <a:rPr 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MELHOR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contraste, com F1-score de 96,55%, o maior do conjunto.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136392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319272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67,44%</a:t>
            </a:r>
            <a:pPr indent="0" marL="0">
              <a:buNone/>
            </a:pPr>
            <a:r>
              <a:rPr lang="en-US" sz="9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PIOR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319272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Desfoque gaussiano, abaixo da imagem original e do piso de 74,42%.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044184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27064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93,02%</a:t>
            </a:r>
            <a:pPr indent="0" marL="0">
              <a:buNone/>
            </a:pPr>
            <a:r>
              <a:rPr 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ORIGINAL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227064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sem tratamento, superada pelo realce de contraste.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INSPEÇÃO AÉREA EM AMBIENTE OPERACIONAL REAL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técnicas separa o isolador do fundo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274320" y="1060704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CNN por técnica, em ordem crescente, nas imagens de drones da CPFL (DRNPW)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243584"/>
            <a:ext cx="8686800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83,33%</a:t>
            </a:r>
            <a:pPr indent="0" marL="0">
              <a:buNone/>
            </a:pPr>
            <a:r>
              <a:rPr 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MELHOR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 com equalização de histograma, F1-score de 75,76%.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136392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319272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49,12%</a:t>
            </a:r>
            <a:pPr indent="0" marL="0">
              <a:buNone/>
            </a:pPr>
            <a:r>
              <a:rPr lang="en-US" sz="9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F1 ORIGINAL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319272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sem tratamento, com 63,33% de acurácia.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044184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27064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imagens</a:t>
            </a:r>
            <a:pPr indent="0" marL="0">
              <a:buNone/>
            </a:pPr>
            <a:r>
              <a:rPr 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ACIMA DO PISO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227064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 do melhor resultado sobre o piso de 73,33%.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técnicas compensa com a CNN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32588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 média de acurácia entre técnicas híbridas e simples, CNN (pontos percentuais)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486400" y="12344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1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1417320" cy="10607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903720" y="185623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554480"/>
            <a:ext cx="1417320" cy="106070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0" y="2880360"/>
            <a:ext cx="3154680" cy="1554480"/>
          </a:xfrm>
          <a:prstGeom prst="roundRect">
            <a:avLst>
              <a:gd name="adj" fmla="val 4118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5687568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importa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5687568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Sequências diferentes produzem resultados distintos.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DE PARÂMETROS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ajuste do contraste passa a ser automático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32588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em grade: acurácia no teste por fator de realce de contraste (DRNPW)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486400" y="1234440"/>
            <a:ext cx="315468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0" y="13258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1,333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995160" y="134416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em grade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90,0% de acurácia no teste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0" y="2331720"/>
            <a:ext cx="315468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1,4364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6995160" y="244144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aleatória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85,06% de acurácia na validação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0" y="3520440"/>
            <a:ext cx="3154680" cy="914400"/>
          </a:xfrm>
          <a:prstGeom prst="roundRect">
            <a:avLst>
              <a:gd name="adj" fmla="val 7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66928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métodos apontam para valores um pouco acima de 1,0.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ADICIONAL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 modelo inverte a melhor técnica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298448"/>
          <a:ext cx="47548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média nas 14 técnicas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303520" y="123444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técnica: CNN → YOLOv8n-cls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303520" y="157276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68112" y="166420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 + realce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CPLID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858000" y="1664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95,35%</a:t>
            </a:r>
            <a:pPr algn="r" indent="0" marL="0">
              <a:buNone/>
            </a:pPr>
            <a:r>
              <a:rPr 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en-US" sz="135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51,16%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303520" y="253288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68112" y="262432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+ equalização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DRNPW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0" y="262432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83,33%</a:t>
            </a:r>
            <a:pPr algn="r" indent="0" marL="0">
              <a:buNone/>
            </a:pPr>
            <a:r>
              <a:rPr 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en-US" sz="135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53,33%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303520" y="349300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68112" y="358444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cinza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CPLID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0" y="358444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76,74%</a:t>
            </a:r>
            <a:pPr algn="r" indent="0" marL="0">
              <a:buNone/>
            </a:pPr>
            <a:r>
              <a:rPr 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81,40%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metodologia entrega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49,12% → 75,76%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de desempenho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da imagem original à melhor combinação, no DRNPW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23444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B4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93,02% → 67,44%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84632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contra a escolha errada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imagem original ao desfoque gaussiano, no CPLID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8036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B4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84,55% × 66,28%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investir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maior e pré-treinada não superou a CNN, no CPLID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88036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↺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84632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Reexecução controlada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refeita a cada mudança de modelo ou de conjunto de dados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Vantagens para o sistema elétrico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detecção precoce de falhas evita interrupções no fornecimento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9184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347472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2336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manutenção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47472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a falha cedo reduz os custos de manutenção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8076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Shape 16"/>
          <p:cNvSpPr/>
          <p:nvPr/>
        </p:nvSpPr>
        <p:spPr>
          <a:xfrm>
            <a:off x="626364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1228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26364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intervenções manuais em locais de difícil acesso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8580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3444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extensões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8580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Drones facilitam a inspeção de longos trechos de linha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9184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30" name="Shape 28"/>
          <p:cNvSpPr/>
          <p:nvPr/>
        </p:nvSpPr>
        <p:spPr>
          <a:xfrm>
            <a:off x="347472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2336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Reprodutibilidade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347472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mais rápido, econômico e menos subjetivo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08076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8076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36" name="Shape 34"/>
          <p:cNvSpPr/>
          <p:nvPr/>
        </p:nvSpPr>
        <p:spPr>
          <a:xfrm>
            <a:off x="626364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81228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preditiva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626364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Danos identificados antes de se tornarem críticos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os resultados sustentam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490472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25880" y="135331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pré-processamento é determinante na detecção de falhas em isoladores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25880" y="167335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Elevou o F1-score de 49,12% para 75,76% no DRNPW e, mal escolhido, levou a acurácia de 93,02% a 67,44% no CPLID.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33172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2587752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" y="2587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25880" y="245059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técnica universalmente superior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25880" y="2770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 para defeito estrutural em cadeias cerâmicas. Combinações híbridas para fundos com poluição visual.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685032"/>
            <a:ext cx="457200" cy="45720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25880" y="35478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seleção do pré-processamento depende do modelo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25880" y="386791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de mérito se inverteu entre a CNN e o YOLOv8n-cls, e a escolha deve ser refeita a cada mudança.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trabalhos futuros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931920" cy="3200400"/>
          </a:xfrm>
          <a:prstGeom prst="roundRect">
            <a:avLst>
              <a:gd name="adj" fmla="val 20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de imagens públicas com defeitos anotados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Conjuntos de dados fortemente desbalanceados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Explosão combinatória ao otimizar todos os parâmetros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234440"/>
            <a:ext cx="3931920" cy="3200400"/>
          </a:xfrm>
          <a:prstGeom prst="roundRect">
            <a:avLst>
              <a:gd name="adj" fmla="val 2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65192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83480" y="17830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bayesiana de múltiplos parâmetros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de dados com GANs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com arquiteturas de detecção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robustas ao desbalanceamento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embarcada em drones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impacto para a engenharia elétrica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28016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261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 do sistema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31520" y="1554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que identificam melhor as falhas nos isoladores, antes das interrupções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214884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213055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de linhas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2423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por drone e IA mais rápida, econômica, segura e reprodutível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301752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299923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para a inspeção automatizada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31520" y="3291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sistemático para escolher e ajustar o tratamento das imagens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39319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Tratar bem a imagem bruta é tão relevante quanto escolher a arquitetura da rede.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0020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 pela atenção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02920" y="22860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à disposição da banca para as arguições.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02920" y="3017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 Willig Silveira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luan.w.silveira@gmail.com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PPGEE, Universidade Federal de Santa Maria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Defesa de Mestrado - Processamento de imagens em cadeias de isoladores</dc:title>
  <dc:subject>PptxGenJS Presentation</dc:subject>
  <dc:creator>Luan Willig Silveira</dc:creator>
  <cp:lastModifiedBy>Luan Willig Silveira</cp:lastModifiedBy>
  <cp:revision>1</cp:revision>
  <dcterms:created xsi:type="dcterms:W3CDTF">2026-09-17T02:38:22Z</dcterms:created>
  <dcterms:modified xsi:type="dcterms:W3CDTF">2026-09-17T02:38:22Z</dcterms:modified>
</cp:coreProperties>
</file>