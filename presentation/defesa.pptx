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Técnicas simples</c:v>
                </c:pt>
              </c:strCache>
            </c:strRef>
          </c:tx>
          <c:spPr>
            <a:solidFill>
              <a:srgbClr val="A9BCCC"/>
            </a:solidFill>
            <a:effectLst/>
          </c:spPr>
          <c:invertIfNegative val="0"/>
          <c:dLbls>
            <c:numFmt formatCode="0.00&quot;%&quot;" sourceLinked="0"/>
            <c:txPr>
              <a:bodyPr/>
              <a:lstStyle/>
              <a:p>
                <a:pPr>
                  <a:defRPr b="0" i="0" strike="noStrike" sz="100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80.7</c:v>
                </c:pt>
                <c:pt idx="1">
                  <c:v>72.33</c:v>
                </c:pt>
              </c:numCache>
            </c:numRef>
          </c:val>
        </c:ser>
        <c:ser>
          <c:idx val="1"/>
          <c:order val="1"/>
          <c:tx>
            <c:strRef>
              <c:f>Sheet1!$C$1</c:f>
              <c:strCache>
                <c:ptCount val="1"/>
                <c:pt idx="0">
                  <c:v>Técnicas combinadas</c:v>
                </c:pt>
              </c:strCache>
            </c:strRef>
          </c:tx>
          <c:spPr>
            <a:solidFill>
              <a:srgbClr val="1C7293"/>
            </a:solidFill>
            <a:effectLst/>
          </c:spPr>
          <c:invertIfNegative val="0"/>
          <c:dLbls>
            <c:numFmt formatCode="0.00&quot;%&quot;" sourceLinked="0"/>
            <c:txPr>
              <a:bodyPr/>
              <a:lstStyle/>
              <a:p>
                <a:pPr>
                  <a:defRPr b="0" i="0" strike="noStrike" sz="100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94.19</c:v>
                </c:pt>
                <c:pt idx="1">
                  <c:v>77.5</c:v>
                </c:pt>
              </c:numCache>
            </c:numRef>
          </c:val>
        </c:ser>
        <c:dLbls>
          <c:numFmt formatCode="0.00&quot;%&quot;" sourceLinked="0"/>
          <c:txPr>
            <a:bodyPr/>
            <a:lstStyle/>
            <a:p>
              <a:pPr>
                <a:defRPr b="0" i="0" strike="noStrike" sz="1000" u="none">
                  <a:solidFill>
                    <a:srgbClr val="1B2A3A"/>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00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8100" cap="flat">
              <a:solidFill>
                <a:srgbClr val="1C7293"/>
              </a:solidFill>
              <a:prstDash val="solid"/>
              <a:round/>
            </a:ln>
            <a:effectLst/>
          </c:spPr>
          <c:invertIfNegative val="0"/>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9"/>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Rede convolucional simples</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95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Bom dia a todos.
Meu nome é Luan Willig Silveira e apresento a minha dissertação de mestrado, desenvolvida no Programa de Pós-Graduação em Engenharia Elétrica da UFSM, sob orientação do professor Daniel Pinheiro Bernardon e coorientação do professor Paulo César Vargas Luz.
O trabalho trata do processamento de imagens aplicado à detecção e à classificação de falhas em cadeias de isoladores. A foto de fundo já mostra o cenário do problema: uma cadeia de isoladores de uma linha de transmissão, fotografada por um drone durante uma inspeção real.
Agradeço a presença da banca.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apresentação tem quatro partes. Começo pelo problema elétrico: o papel dos isoladores, como eles falham e quanto essas falhas custam. Depois apresento a proposta, que é uma metodologia para escolher o tratamento das imagens usadas na inspeção. Em seguida, os resultados em dois cenários e com dois modelos. E termino voltando ao setor elétrico, com o impacto financeiro e operacional do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Começo pelo sistema elétrico. A energia sai da geração, que no Brasil é majoritariamente hidráulica, percorre longas distâncias pelas linhas de transmissão, passa pelas subestações e chega ao consumidor pela rede de distribuição.
De todos esses elos, a linha aérea é o mais exposto. Ela atravessa campo, cidade e vegetação, sem nenhum abrigo.
E a dimensão desse ativo é grande. Somente a Rede Básica do Sistema Interligado Nacional soma cerca de 177 mil quilômetros de linhas. O planejamento do ONS prevê mais 5,3 mil quilômetros até 2030, com cerca de 28 bilhões de reais em obras. Cada quilômetro novo é mais estrutura para inspecionar e manter.
Em cada torre dessa rede existe um componente pequeno, do qual depende o funcionamento de toda a linha. É o que está destacado no círculo da figura: a cadeia de isoladores.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foto foi feita por um drone durante uma inspeção da CPFL. O que se vê pendurado na torre é uma cadeia de discos de vidro, e ela cumpre duas funções ao mesmo tempo.
A primeira é mecânica: sustentar o peso do condutor e os esforços de vento.
A segunda é elétrica: manter isolada a fase energizada da estrutura metálica, que está aterrada. Para isso, cada disco precisa preservar a sua rigidez dielétrica ao longo de décadas de operação, exposto ao sol, à chuva, à poluição e às descargas atmosféricas.
Quando o isolamento da cadeia se perde, ocorre a descarga disruptiva, a corrente encontra um caminho pela estrutura e a proteção desliga a linha. Ou seja, um componente de baixo custo pode tirar de operação uma linha inteira.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falhas aparecem de formas diferentes.
À esquerda, a corrosão do pino metálico, provocada pela umidade ao longo dos anos, que compromete a resistência mecânica da cadeia.
No centro, a oxidação e a contaminação da superfície. Esses depósitos, somados à umidade, formam uma camada condutora sobre o vidro e aumentam a corrente de fuga.
À direita, uma cadeia de discos cerâmicos, em que o defeito típico é estrutural: o disco trincado ou até ausente. Cada disco perdido reduz a tensão que a cadeia suporta.
O ponto em comum é que todas essas falhas começam pequenas e já são visíveis em imagem, muito antes do desligamento. Encontradas cedo, viram uma troca programada de isolador. Encontradas tarde, viram uma falta na linha.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Esse risco tem custo, e o setor elétrico mede esse custo.
Na distribuição, a ANEEL acompanha a continuidade do fornecimento pelos indicadores DEC e FEC. Em 2025, cada consumidor brasileiro ficou em média 9,30 horas sem energia, distribuídas em 4,66 interrupções.
Quando os limites são ultrapassados, a distribuidora paga uma compensação diretamente na fatura do consumidor. Esse valor chegou a 1 bilhão e 2 milhões de reais em 2025. É importante dizer que esse número reúne todas as causas de interrupção, e não apenas isoladores, mas ele mostra a ordem de grandeza do custo da falta de continuidade.
Na transmissão, o mecanismo é a Parcela Variável por Indisponibilidade. Enquanto uma linha fica desligada por responsabilidade da transmissora, parte da sua receita é descontada.
Nos dois casos, a lógica econômica é a mesma: cada falha evitada antes do desligamento é dinheiro que deixa de sair do caixa da empresa, além do prejuízo evitado ao consumidor.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forma de inspecionar essas cadeias mudou nos últimos anos. A inspeção detalhada exigia uma equipe escalando a estrutura, ou o sobrevoo de helicóptero. As duas alternativas são caras e expõem pessoas a risco de queda, de choque elétrico e de acidente aéreo.
O drone mudou essa conta. Os números à direita são de mercado. Uma empresa brasileira de inspeção por drones relata que o custo médio de inspeção por torre caiu de 750 para 300 reais, e que a produtividade passou de 5 para 25 torres inspecionadas por dia. Um comparativo internacional aponta um custo de 120 a 200 dólares por quilômetro de patrulha com helicóptero, contra 40 a 80 dólares com drone.
Além do custo, o drone chega a poucos metros da cadeia, fotografa cada disco em alta resolução e não coloca ninguém na altura nem perto da linha energizada.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 o drone traz um efeito colateral. Cada torre gera dezenas de fotografias, e uma campanha de inspeção em uma linha longa gera milhares delas. O mosaico à esquerda é uma pequena amostra do que chega ao escritório depois do trabalho de campo.
Se cada imagem precisar ser aberta e analisada por um especialista, o gargalo apenas muda de lugar: sai da coleta e vai para a análise. E essa análise manual é lenta, cansativa e varia de um analista para outro, principalmente no fim de um dia olhando milhares de discos de vidro.
É aqui que entra a inteligência artificial. Um modelo de visão computacional classifica todas as imagens, separa as que indicam falha e entrega ao especialista apenas as suspeitas. O especialista continua decidindo, mas passa a olhar para o que importa.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sistema de inspeção automática segue esta sequência. O drone adquire a imagem, a imagem recebe algum tratamento, o modelo de rede neural a analisa e, no fim, sai um diagnóstico: cadeia com falha ou sem falha.
A maior parte das pesquisas concentra esforço no terceiro bloco, o modelo, buscando redes cada vez maiores. O segundo bloco, o pré-processamento, costuma ser tratado como detalhe e escolhido por hábito.
Só que a imagem de campo chega com sol de frente, sombra, céu estourado e vegetação ao fundo. A forma como ela é tratada decide o que a rede consegue enxergar.
Por isso, este trabalho coloca o pré-processamento no centro. Tudo o mais fica fixo, e a pergunta passa a ser: qual tratamento aplicar à imagem para que a rede identifique melhor a falha no isolador?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se procura na literatura a resposta para essa pergunta, o que se encontra são conclusões opostas.
Liu e Wang, que trabalham com imagens do nosso domínio, relatam que o pré-processamento não teve efeito relevante.
Zhang, com processamento morfológico, e Salvi, em uma revisão na área médica, relatam ganho de desempenho.
Öztürk e Rodrigues mostram o contrário: tratar demais a imagem pode piorar o resultado, e em um dos casos a imagem original superou todas as versões processadas.
Cada trabalho relata o que funcionou no seu experimento, mas nenhum oferece um procedimento para decidir o que usar diante de uma linha, de um drone e de um conjunto de imagens novos. Essa é a lacuna.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Daí vem o objetivo do trabalho. O que falta na área não é técnica de processamento, porque existe um catálogo enorme delas. O que falta é critério para escolher entre elas.
O objetivo geral é desenvolver uma metodologia capaz de comparar, selecionar, combinar e aprimorar técnicas de processamento de imagem para a detecção e a classificação de falhas em cadeias de isoladores.
Os quatro verbos organizam o trabalho: comparar as técnicas entre si, selecionar a mais adequada para cada cenário, combinar técnicas em sequência e aprimorar os seus parâmetros de forma automática.
Os modelos de rede neural entram como instrumento de medida, e não como produto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é a metodologia proposta, na sua visão geral. O fluxo percorre seis etapas. Primeiro, a seleção e a validação do conjunto de imagens, com as métricas definidas antes de qualquer experimento. Depois, o pré-processamento, com técnicas isoladas e combinadas. Em seguida, o ajuste automático dos parâmetros dessas técnicas. Depois, a escolha e a construção do modelo, o treinamento e, por fim, a avaliação.
O ponto central está no retorno do fluxo. Se o desempenho não atende ao critério, a avaliação devolve o processo ao pré-processamento e à escolha do modelo, e o ciclo se repete.
Para uma concessionária, isso significa ter um procedimento que pode ser executado de novo sempre que muda o drone, a câmera, o tipo de linha ou o modelo de inteligência artificial.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é a versão detalhada do mesmo fluxo, que está na dissertação. Não vou percorrer cada bloco, mas destaco os quatro pontos de decisão, que são os losangos do diagrama.
O primeiro verifica se o conjunto de imagens está balanceado, o que é raro em inspeção, porque há muito mais isoladores bons do que defeituosos.
O segundo decide se as técnicas serão usadas isoladas ou combinadas.
O terceiro define o tipo de tarefa, entre classificação, detecção ou regressão.
O quarto verifica se o desempenho é satisfatório.
São essas decisões que fazem da metodologia um procedimento, e não uma receita fixa. Neste trabalho, o caminho percorrido foi o de um conjunto desbalanceado, técnicas isoladas e combinadas, tarefa de classificação e busca automática de parâmetros.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validar a metodologia, usei dois conjuntos de imagens que representam cenários de inspeção com dificuldades bem diferentes.
O primeiro é o CPLID, um conjunto público de cadeias de isoladores cerâmicos de linhas de transmissão, fotografadas por drone. O fundo é relativamente homogêneo e o defeito é estrutural: disco ausente ou fraturado. São 721 imagens, 678 para treino e 43 para teste.
O segundo é o DRNPW, formado por imagens de inspeção por drone cedidas pela CPFL, em condição real de operação. Aqui a cadeia aparece sobre vegetação, estradas e construções, como na foto, o que torna muito mais difícil separar o componente elétrico do fundo. São 585 imagens, e o conjunto é fortemente desbalanceado: 335 das 468 imagens de treino pertencem a uma única categoria.
Esse é exatamente o problema que uma concessionária encontra na prática: poucos exemplos de defeito no meio de muitas imagens de isoladores em bom estado.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dar concretude, apliquei alguns dos tratamentos avaliados sobre a mesma foto de campo.
No alto, à esquerda, a imagem original. Ao lado, o realce de contraste, que amplia a diferença entre claro e escuro e destaca o vidro e as ferragens contra a vegetação. Depois, a equalização de histograma, que redistribui os tons da imagem inteira.
Na linha de baixo, a conversão para tons de cinza, que descarta a cor. O desfoque gaussiano, que suaviza o ruído, mas também apaga detalhes finos, como uma trinca ou uma mancha de corrosão. E a detecção de bordas, que reduz a imagem a contornos.
Nenhum desses tratamentos é bom ou ruim por si só. A pergunta é qual deles, ou qual combinação deles, ajuda a rede a reconhecer a falha em cada cenário. No total, foram avaliadas 14 variantes: 10 técnicas simples e 4 combinações.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protocolo experimental isola uma única variável. Para cada um dos 14 tratamentos, nos dois cenários, treinei a mesma rede, com a mesma configuração, mudando apenas a imagem de entrada. Depois repeti tudo com uma segunda arquitetura, o que totaliza 56 treinamentos completos.
A rede principal é uma rede convolucional deliberadamente simples, com duas camadas convolucionais e treinada por 50 épocas. Um modelo simples e estável permite atribuir a diferença de desempenho ao tratamento da imagem, e não ao modelo.
Antes dos resultados, preciso fixar uma régua. Os conjuntos de teste são desbalanceados, então um modelo que responde sempre a classe mais comum, sem olhar a imagem, já acerta muito. No CPLID, esse piso é de 74,42 por cento. No DRNPW, de 73,33 por cento. Qualquer resultado abaixo desses valores significa que o modelo não aprendeu a reconhecer a falha.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Primeiro cenário: cadeias cerâmicas de linhas de transmissão, com defeito estrutural. O gráfico mostra a acurácia da rede para cada um dos 14 tratamentos, em ordem crescente, com a imagem tratada acima de cada barra.
No topo, três tratamentos empatam em 95,35 por cento de acurácia, e todos têm algo em comum: ampliam o contraste. O realce de contraste simples teve ainda o maior F1-score do cenário, 96,55 por cento.
Do ponto de vista do defeito, isso faz sentido. A falha aqui é a ausência ou a fratura de um disco, uma descontinuidade na silhueta da cadeia, e ampliar o contraste deixa essa descontinuidade mais nítida.
Na outra ponta, o desfoque, a remoção de ruído e a limiarização adaptativa caem para 67,44 por cento. Isso fica abaixo da imagem sem tratamento, que atingiu 93,02 por cento, e abaixo até do piso majoritário. Em outras palavras, o tratamento errado apagou justamente a evidência da falha e deixou o modelo cego.
Cabe uma ressalva: entre o realce de contraste e a imagem original, a diferença é de uma única imagem de teste. O resultado mais forte deste cenário não é o ganho no topo, é a perda na base. Escolher mal o tratamento custou mais de 25 pontos percentuais de acurácia.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segundo cenário é o mais próximo da realidade de uma concessionária: imagens de campo da CPFL, com vegetação, estrada e construções ao fundo.
Aqui o melhor resultado veio de uma combinação, o realce de contraste seguido da equalização de histograma, com 83,33 por cento de acurácia e 75,76 por cento de F1-score. A mesma rede, treinada com as imagens originais, ficou em 63,33 por cento de acurácia e 49,12 por cento de F1-score.
São 20 pontos de acurácia e mais de 26 pontos de F1-score de diferença, obtidos sem trocar o drone, a câmera ou o modelo, apenas tratando a imagem.
A leitura elétrica é que, com fundo poluído, o problema deixa de ser só enxergar o defeito e passa a ser separar o isolador do ambiente. A combinação de técnicas faz isso melhor que qualquer técnica isolada.
Também aqui preciso ser cuidadoso. O conjunto de teste tem 30 imagens, e a vantagem sobre o piso majoritário equivale a três imagens. O resultado indica uma direção clara, mas precisa ser confirmado com mais dados de campo.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Agrupando os resultados, as combinações de técnicas superaram as técnicas isoladas nos dois cenários. No CPLID, a vantagem média foi de 13,49 pontos percentuais. No DRNPW, de 5,17 pontos.
Um detalhe prático: a ordem das operações importa. Aplicar o realce e depois o CLAHE não produz o mesmo resultado que aplicar o CLAHE e depois o realce, por isso as duas ordens foram avaliadas.
Para quem vai implantar um sistema de inspeção, a mensagem é que o pré-processamento deve ser pensado como uma sequência configurável, e não como um filtro único.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etapa seguinte substitui a tentativa e erro pelo ajuste automático. O parâmetro escolhido foi o fator do realce de contraste, no cenário de campo.
A busca em grade testou cinco valores entre 0,5 e 1,6, e o melhor foi 1,333, com 90 por cento de acurácia e 85,3 por cento de F1-score. A busca aleatória, feita como complemento, encontrou 1,4364, com 85 por cento de acurácia na validação.
Os dois métodos apontam para a mesma região: um realce moderado, pouco acima de 1. Contraste demais também atrapalha, e no fator 2,33 a acurácia caiu para 71 por cento.
Registro as ressalvas: as duas buscas usaram conjuntos diferentes, e esse treinamento foi mais curto que o das varreduras anteriores, então os números não se comparam diretamente.
O ganho prático é outro. O ajuste deixa de depender da experiência de quem configura o sistema e passa a ser um procedimento automático e repetível.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Até aqui, todos os resultados usaram a mesma rede. Surge então uma pergunta que interessa diretamente a quem implanta o sistema: se a empresa trocar o modelo de IA, a melhor técnica continua sendo a mesma?
Como a metodologia trata o modelo como um bloco substituível, repeti os 28 treinamentos com o YOLOv8n-cls, uma rede pré-treinada e de maior capacidade.
O resultado surpreende em dois pontos. Primeiro, a rede maior não foi melhor. No CPLID, a sua acurácia média foi de 66,28 por cento, contra 84,55 da rede simples, e ela superou o piso em apenas 1 dos 14 tratamentos. Com poucos exemplos de defeito, mais capacidade não compensa a falta de dados.
Segundo, e mais importante, a ordem das técnicas se inverteu. A combinação de CLAHE com realce, que empatava no topo com 95,35 por cento, caiu para 51,16 com o YOLO. A melhor combinação do cenário de campo caiu de 83,33 para 53,33. E os tons de cinza, que eram fracos, passaram a liderar no CPLID.
A consequência prática é direta: o pré-processamento não se transfere de um modelo para outro. Cada troca de modelo exige refazer a seleção, e é justamente isso que a metodologia torna rápido e controlado.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Traduzindo esses resultados para a linguagem de uma concessionária, destaco quatro entregas.
A primeira é ganho de detecção. No cenário de campo, o tratamento correto elevou o F1-score da rede em mais de 26 pontos percentuais. O F1-score penaliza tanto o alarme falso quanto o defeito não detectado, então esse ganho significa menos isoladores com falha passando despercebidos e menos deslocamentos desnecessários de equipe.
A segunda é proteção contra o erro. No CPLID, um tratamento mal escolhido derrubou a acurácia em mais de 25 pontos, e a metodologia existe para impedir que isso chegue à operação.
A terceira é custo. Todo esse ganho veio de software, sem comprar drone, câmera ou modelo novo. Aplicar um tratamento de imagem custa praticamente nada perto de trocar equipamento.
A quarta é continuidade. As empresas trocam de drone, de câmera e de modelo com frequência, e cada troca, como vimos, muda o tratamento ideal. A metodologia oferece um procedimento para refazer essa escolha sem recomeçar do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dar uma ordem de grandeza ao ganho financeiro, faço uma estimativa simples, com premissas explícitas.
A Rede Básica tem cerca de 177 mil quilômetros de linhas. Considerando um vão médio de 500 metros, são cerca de 2 torres por quilômetro, o que dá algo como 350 mil estruturas. Tomando como referência a redução de 750 para 300 reais por torre com a inspeção por drone, a economia é de 450 reais por estrutura. Multiplicando, chega-se a cerca de 157 milhões de reais por ciclo completo de inspeção, só na Rede Básica, sem contar a distribuição.
É uma estimativa de ordem de grandeza, e não um orçamento. Mas ela deixa claro onde a inteligência artificial entra: essa economia só se sustenta se as milhares de imagens de cada campanha forem triadas automaticamente e com confiabilidade, que é exatamente o que este trabalho melhora.
E há o ganho que não aparece nessa conta. Cada falha detectada antes do desligamento reduz o DEC e o FEC, evita compensações ao consumidor e preserva a receita da transmissora na Parcela Variável.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ganho da inteligência artificial na inspeção não é só financeiro.
O primeiro é segurança: menos gente escalando estruturas e trabalhando perto de condutores energizados.
O segundo é escala. O drone multiplica a quantidade de torres inspecionadas por dia, e a IA garante que o volume de imagens resultante seja de fato analisado.
O terceiro é padronização. O modelo aplica o mesmo critério à primeira e à milésima imagem, sem cansaço e sem variação entre analistas.
O quarto é rastreabilidade. Cada torre passa a ter um histórico de imagens, o que permite acompanhar, por exemplo, a evolução de uma corrosão de um ano para o outro.
O quinto é priorização, com a manutenção orientada pela condição real do isolador, e não apenas pelo calendário.
E o sexto é rapidez. A imagem pode ser analisada logo depois do voo, e o alerta chega à equipe de manutenção antes que a falha evolua.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Concluindo.
Primeira conclusão: na detecção de falhas em cadeias de isoladores, o pré-processamento da imagem é determinante. Ele mudou o desempenho na mesma escala que a troca de arquitetura. Para melhor, com mais de 26 pontos de F1-score no cenário de campo. E para pior, derrubando o modelo abaixo do piso no CPLID.
Segunda conclusão: não existe um tratamento universal. Para defeitos estruturais em cadeias cerâmicas de linhas de transmissão, ampliar o contraste funcionou melhor. Para imagens de campo com vegetação e construções ao fundo, as combinações de técnicas foram mais eficazes. A escolha depende da linha, do tipo de defeito e das condições de captura.
Terceira conclusão: essa escolha não se transfere entre modelos. A melhor técnica de uma rede foi a pior da outra. Por isso, a seleção precisa ser refeita a cada mudança, e a metodologia proposta existe para que essa reexecução seja sistemática, e não tentativa e erro.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trabalho tem limitações que precisam ser ditas. A principal é de dados: existem poucos conjuntos públicos de isoladores com defeitos anotados, e os que existem são desbalanceados. Os conjuntos de teste são pequenos, e no DRNPW cada imagem vale 3,3 pontos percentuais, o que limita a força das comparações entre técnicas próximas. E o custo computacional restringiu a otimização a um único parâmetro.
Essas limitações apontam os próximos passos. Ampliar a base com imagens de campo das próprias concessionárias, que já produzem esse material em cada campanha. Gerar exemplos sintéticos de defeitos com redes generativas. Otimizar vários parâmetros ao mesmo tempo com otimização bayesiana. Evoluir da classificação para a detecção, apontando onde está a falha na torre. E executar o modelo embarcado no próprio drone, para que o alerta saia ainda em campo.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Encerro voltando ao ponto de partida, o sistema elétrico. O impacto deste trabalho aparece em três frentes.
Na continuidade do fornecimento. Um isolador defeituoso encontrado na imagem, antes de provocar a falta, é uma troca programada em vez de um desligamento, com reflexo direto no DEC, no FEC, nas compensações pagas ao consumidor e na receita da transmissora.
Na manutenção de linhas. A combinação de drone e inteligência artificial torna a inspeção mais barata, mais rápida e mais segura, e este trabalho mostra como extrair mais desempenho dessa IA sem investir em hardware.
E na prática de engenharia. Em vez de escolher o tratamento da imagem por hábito, a concessionária passa a ter um método reprodutível para configurar o seu sistema de inspeção a cada nova linha, novo drone ou novo modelo.
A mensagem final é simples: na inspeção de isoladores, tratar bem a imagem é tão importante quanto escolher a rede neural.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Muito obrigado pela atenção. Fico à disposição da banca para as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objetivos específicos desdobram o objetivo geral em sete frentes: definir as métricas, determinar o tipo de rede, construir os modelos de avaliação, analisar o efeito da arquitetura, analisar o efeito do conjunto de dados, desenvolver a combinação de técnicas e criar o ajuste automático de parâmetros. Os modelos são instrumento de medida do pré-processamento, e não o produto final do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etapa 1, as métricas são definidas antes da seleção dos dados: acurácia, F1-score e tempo. Em seguida verifica-se o balanceamento e, se necessário, aplicam-se filtros.
Na etapa 2 está a decisão de combinar ou não as técnicas. Pelo ramo Não avaliam-se técnicas isoladas e, pelo ramo Sim, gera-se um pipeline em sequência. Os dois ramos foram percorridos, e deles saem as 14 variantes.
A etapa 3 substitui o ajuste manual por busca automática. A metodologia prevê busca em grade, aleatória, bayesiana e métodos populacionais, e as duas primeiras foram implementadas sobre o fator de contraste.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etapa 4 escolhe-se a arquitetura e o tipo de tarefa. O ramo percorrido foi o da classificação, porque os dois conjuntos possuem exatamente uma anotação por imagem.
A etapa 5 é o treinamento, com monitoramento da função de custo e das métricas de validação.
A etapa 6 fecha o ciclo. Pelo ramo Sim, comparam-se modelos e técnicas. Pelo ramo Não, ajustam-se o processamento e o modelo, e o fluxo volta às etapas 2 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é a varredura completa do YOLOv8n-cls no CPLID. Quase todas as barras ficam abaixo do piso majoritário de 74,42 por cento, e apenas uma técnica o supera. Os tons de cinza lideram com 81,40 por cento, e a combinação de CLAHE com realce, que empatava no topo da rede simples, é a pior, com 51,16 por cento.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DRNPW o padrão se repete. O melhor resultado, 83,33 por cento, veio da limiarização adaptativa, que na rede simples ficava exatamente no piso. E a combinação de realce com equalização, a melhor da rede simples, cai para 53,33 por cento. Como cada imagem de teste vale 3,33 pontos, o que sustenta a leitura é a inversão das extremidades, e não a diferença entre técnicas vizinhas.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busca aleatória testou cinco valores entre 0,5 e 3,0. O melhor foi 1,4364, com 85,06 por cento de acurácia na validação, próximo do 1,333 da busca em grade. Não afirmo convergência em sentido forte, porque a grade foi avaliada no teste de 30 imagens e a busca aleatória na validação de 87. O que se confirma nas duas é que contraste muito alto degrada o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são as fontes dos números do setor elétrico e de mercado usados na apresentação. Os indicadores de continuidade e as compensações são da ANEEL. A extensão da rede e os investimentos são do planejamento do ONS. Os custos e a produtividade da inspeção por drone são dados divulgados por empresas do setor, e a economia por ciclo de inspeção é uma estimativa de ordem de grandeza feita a partir dessas bases.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image" Target="../media/image-15-5.jpeg"/><Relationship Id="rId6" Type="http://schemas.openxmlformats.org/officeDocument/2006/relationships/image" Target="../media/image-15-6.jpe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502920"/>
            <a:ext cx="5303520" cy="237744"/>
          </a:xfrm>
          <a:prstGeom prst="rect">
            <a:avLst/>
          </a:prstGeom>
          <a:noFill/>
          <a:ln/>
        </p:spPr>
        <p:txBody>
          <a:bodyPr wrap="square" lIns="0" tIns="0" rIns="0" bIns="0" rtlCol="0" anchor="ctr"/>
          <a:lstStyle/>
          <a:p>
            <a:pPr indent="0" marL="0">
              <a:buNone/>
            </a:pPr>
            <a:r>
              <a:rPr lang="en-US" sz="1200" b="1" dirty="0">
                <a:solidFill>
                  <a:srgbClr val="F5A54A"/>
                </a:solidFill>
                <a:latin typeface="Calibri" pitchFamily="34" charset="0"/>
                <a:ea typeface="Calibri" pitchFamily="34" charset="-122"/>
                <a:cs typeface="Calibri" pitchFamily="34" charset="-120"/>
              </a:rPr>
              <a:t>Universidade Federal de Santa Maria</a:t>
            </a:r>
            <a:endParaRPr lang="en-US" sz="1200" dirty="0"/>
          </a:p>
        </p:txBody>
      </p:sp>
      <p:sp>
        <p:nvSpPr>
          <p:cNvPr id="4" name="Text 1"/>
          <p:cNvSpPr/>
          <p:nvPr/>
        </p:nvSpPr>
        <p:spPr>
          <a:xfrm>
            <a:off x="502920" y="740664"/>
            <a:ext cx="5303520" cy="237744"/>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en-US" sz="1100" dirty="0"/>
          </a:p>
        </p:txBody>
      </p:sp>
      <p:sp>
        <p:nvSpPr>
          <p:cNvPr id="5" name="Text 2"/>
          <p:cNvSpPr/>
          <p:nvPr/>
        </p:nvSpPr>
        <p:spPr>
          <a:xfrm>
            <a:off x="502920" y="1280160"/>
            <a:ext cx="5120640" cy="1783080"/>
          </a:xfrm>
          <a:prstGeom prst="rect">
            <a:avLst/>
          </a:prstGeom>
          <a:noFill/>
          <a:ln/>
        </p:spPr>
        <p:txBody>
          <a:bodyPr wrap="square" lIns="0" tIns="0" rIns="0" bIns="0" rtlCol="0" anchor="ctr"/>
          <a:lstStyle/>
          <a:p>
            <a:pPr indent="0" marL="0">
              <a:lnSpc>
                <a:spcPct val="105000"/>
              </a:lnSpc>
              <a:buNone/>
            </a:pPr>
            <a:r>
              <a:rPr lang="en-US" sz="23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en-US" sz="2300" dirty="0"/>
          </a:p>
        </p:txBody>
      </p:sp>
      <p:sp>
        <p:nvSpPr>
          <p:cNvPr id="6" name="Text 3"/>
          <p:cNvSpPr/>
          <p:nvPr/>
        </p:nvSpPr>
        <p:spPr>
          <a:xfrm>
            <a:off x="502920" y="3154680"/>
            <a:ext cx="5120640" cy="256032"/>
          </a:xfrm>
          <a:prstGeom prst="rect">
            <a:avLst/>
          </a:prstGeom>
          <a:noFill/>
          <a:ln/>
        </p:spPr>
        <p:txBody>
          <a:bodyPr wrap="square" lIns="0" tIns="0" rIns="0" bIns="0" rtlCol="0" anchor="ctr"/>
          <a:lstStyle/>
          <a:p>
            <a:pPr indent="0" marL="0">
              <a:buNone/>
            </a:pPr>
            <a:r>
              <a:rPr lang="en-US" sz="1200" i="1" dirty="0">
                <a:solidFill>
                  <a:srgbClr val="FFD9A8"/>
                </a:solidFill>
                <a:latin typeface="Calibri" pitchFamily="34" charset="0"/>
                <a:ea typeface="Calibri" pitchFamily="34" charset="-122"/>
                <a:cs typeface="Calibri" pitchFamily="34" charset="-120"/>
              </a:rPr>
              <a:t>Defesa de Dissertação de Mestrado</a:t>
            </a:r>
            <a:endParaRPr lang="en-US" sz="1200" dirty="0"/>
          </a:p>
        </p:txBody>
      </p:sp>
      <p:sp>
        <p:nvSpPr>
          <p:cNvPr id="7" name="Text 4"/>
          <p:cNvSpPr/>
          <p:nvPr/>
        </p:nvSpPr>
        <p:spPr>
          <a:xfrm>
            <a:off x="502920" y="3611880"/>
            <a:ext cx="5303520" cy="914400"/>
          </a:xfrm>
          <a:prstGeom prst="rect">
            <a:avLst/>
          </a:prstGeom>
          <a:noFill/>
          <a:ln/>
        </p:spPr>
        <p:txBody>
          <a:bodyPr wrap="square" lIns="0" tIns="0" rIns="0" bIns="0" rtlCol="0" anchor="ctr"/>
          <a:lstStyle/>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Luan Willig Silveira</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Daniel Pinheiro Bernardon</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Paulo César Vargas Luz</a:t>
            </a:r>
            <a:endParaRPr lang="en-US" sz="1200" dirty="0"/>
          </a:p>
        </p:txBody>
      </p:sp>
      <p:sp>
        <p:nvSpPr>
          <p:cNvPr id="8" name="Text 5"/>
          <p:cNvSpPr/>
          <p:nvPr/>
        </p:nvSpPr>
        <p:spPr>
          <a:xfrm>
            <a:off x="502920" y="4732020"/>
            <a:ext cx="3657600" cy="228600"/>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Santa Maria, RS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ROTEIRO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Do sistema elétrico de volta ao sistema elétrico</a:t>
            </a:r>
            <a:endParaRPr lang="en-US" sz="2800" dirty="0"/>
          </a:p>
        </p:txBody>
      </p:sp>
      <p:pic>
        <p:nvPicPr>
          <p:cNvPr id="4" name="Image 0" descr="preencoded.png">    </p:cNvPr>
          <p:cNvPicPr>
            <a:picLocks noChangeAspect="1"/>
          </p:cNvPicPr>
          <p:nvPr/>
        </p:nvPicPr>
        <p:blipFill>
          <a:blip r:embed="rId1"/>
          <a:stretch>
            <a:fillRect/>
          </a:stretch>
        </p:blipFill>
        <p:spPr>
          <a:xfrm>
            <a:off x="502920" y="1234440"/>
            <a:ext cx="1828800" cy="1828800"/>
          </a:xfrm>
          <a:prstGeom prst="rect">
            <a:avLst/>
          </a:prstGeom>
        </p:spPr>
      </p:pic>
      <p:sp>
        <p:nvSpPr>
          <p:cNvPr id="5" name="Shape 2"/>
          <p:cNvSpPr/>
          <p:nvPr/>
        </p:nvSpPr>
        <p:spPr>
          <a:xfrm>
            <a:off x="612648" y="1344168"/>
            <a:ext cx="402336" cy="402336"/>
          </a:xfrm>
          <a:prstGeom prst="ellipse">
            <a:avLst/>
          </a:prstGeom>
          <a:solidFill>
            <a:srgbClr val="1C7293"/>
          </a:solidFill>
          <a:ln w="12700">
            <a:solidFill>
              <a:srgbClr val="1C7293"/>
            </a:solidFill>
            <a:prstDash val="solid"/>
          </a:ln>
        </p:spPr>
      </p:sp>
      <p:sp>
        <p:nvSpPr>
          <p:cNvPr id="6" name="Text 3"/>
          <p:cNvSpPr/>
          <p:nvPr/>
        </p:nvSpPr>
        <p:spPr>
          <a:xfrm>
            <a:off x="61264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50292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O problema elétrico</a:t>
            </a:r>
            <a:endParaRPr lang="en-US" sz="1400" dirty="0"/>
          </a:p>
        </p:txBody>
      </p:sp>
      <p:sp>
        <p:nvSpPr>
          <p:cNvPr id="8" name="Text 5"/>
          <p:cNvSpPr/>
          <p:nvPr/>
        </p:nvSpPr>
        <p:spPr>
          <a:xfrm>
            <a:off x="50292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Isoladores, falhas e custo</a:t>
            </a:r>
            <a:endParaRPr lang="en-US" sz="1050" dirty="0"/>
          </a:p>
        </p:txBody>
      </p:sp>
      <p:pic>
        <p:nvPicPr>
          <p:cNvPr id="9" name="Image 1" descr="preencoded.png">    </p:cNvPr>
          <p:cNvPicPr>
            <a:picLocks noChangeAspect="1"/>
          </p:cNvPicPr>
          <p:nvPr/>
        </p:nvPicPr>
        <p:blipFill>
          <a:blip r:embed="rId2"/>
          <a:stretch>
            <a:fillRect/>
          </a:stretch>
        </p:blipFill>
        <p:spPr>
          <a:xfrm>
            <a:off x="2606040" y="1234440"/>
            <a:ext cx="1828800" cy="1828800"/>
          </a:xfrm>
          <a:prstGeom prst="rect">
            <a:avLst/>
          </a:prstGeom>
        </p:spPr>
      </p:pic>
      <p:sp>
        <p:nvSpPr>
          <p:cNvPr id="10" name="Shape 6"/>
          <p:cNvSpPr/>
          <p:nvPr/>
        </p:nvSpPr>
        <p:spPr>
          <a:xfrm>
            <a:off x="2715768" y="1344168"/>
            <a:ext cx="402336" cy="402336"/>
          </a:xfrm>
          <a:prstGeom prst="ellipse">
            <a:avLst/>
          </a:prstGeom>
          <a:solidFill>
            <a:srgbClr val="1C7293"/>
          </a:solidFill>
          <a:ln w="12700">
            <a:solidFill>
              <a:srgbClr val="1C7293"/>
            </a:solidFill>
            <a:prstDash val="solid"/>
          </a:ln>
        </p:spPr>
      </p:sp>
      <p:sp>
        <p:nvSpPr>
          <p:cNvPr id="11" name="Text 7"/>
          <p:cNvSpPr/>
          <p:nvPr/>
        </p:nvSpPr>
        <p:spPr>
          <a:xfrm>
            <a:off x="271576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8"/>
          <p:cNvSpPr/>
          <p:nvPr/>
        </p:nvSpPr>
        <p:spPr>
          <a:xfrm>
            <a:off x="260604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 proposta</a:t>
            </a:r>
            <a:endParaRPr lang="en-US" sz="1400" dirty="0"/>
          </a:p>
        </p:txBody>
      </p:sp>
      <p:sp>
        <p:nvSpPr>
          <p:cNvPr id="13" name="Text 9"/>
          <p:cNvSpPr/>
          <p:nvPr/>
        </p:nvSpPr>
        <p:spPr>
          <a:xfrm>
            <a:off x="260604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Metodologia de pré-processamento</a:t>
            </a:r>
            <a:endParaRPr lang="en-US" sz="1050" dirty="0"/>
          </a:p>
        </p:txBody>
      </p:sp>
      <p:pic>
        <p:nvPicPr>
          <p:cNvPr id="14" name="Image 2" descr="preencoded.png">    </p:cNvPr>
          <p:cNvPicPr>
            <a:picLocks noChangeAspect="1"/>
          </p:cNvPicPr>
          <p:nvPr/>
        </p:nvPicPr>
        <p:blipFill>
          <a:blip r:embed="rId3"/>
          <a:stretch>
            <a:fillRect/>
          </a:stretch>
        </p:blipFill>
        <p:spPr>
          <a:xfrm>
            <a:off x="4709160" y="1234440"/>
            <a:ext cx="1828800" cy="1828800"/>
          </a:xfrm>
          <a:prstGeom prst="rect">
            <a:avLst/>
          </a:prstGeom>
        </p:spPr>
      </p:pic>
      <p:sp>
        <p:nvSpPr>
          <p:cNvPr id="15" name="Shape 10"/>
          <p:cNvSpPr/>
          <p:nvPr/>
        </p:nvSpPr>
        <p:spPr>
          <a:xfrm>
            <a:off x="4818888" y="1344168"/>
            <a:ext cx="402336" cy="402336"/>
          </a:xfrm>
          <a:prstGeom prst="ellipse">
            <a:avLst/>
          </a:prstGeom>
          <a:solidFill>
            <a:srgbClr val="1C7293"/>
          </a:solidFill>
          <a:ln w="12700">
            <a:solidFill>
              <a:srgbClr val="1C7293"/>
            </a:solidFill>
            <a:prstDash val="solid"/>
          </a:ln>
        </p:spPr>
      </p:sp>
      <p:sp>
        <p:nvSpPr>
          <p:cNvPr id="16" name="Text 11"/>
          <p:cNvSpPr/>
          <p:nvPr/>
        </p:nvSpPr>
        <p:spPr>
          <a:xfrm>
            <a:off x="481888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2"/>
          <p:cNvSpPr/>
          <p:nvPr/>
        </p:nvSpPr>
        <p:spPr>
          <a:xfrm>
            <a:off x="470916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Resultados</a:t>
            </a:r>
            <a:endParaRPr lang="en-US" sz="1400" dirty="0"/>
          </a:p>
        </p:txBody>
      </p:sp>
      <p:sp>
        <p:nvSpPr>
          <p:cNvPr id="18" name="Text 13"/>
          <p:cNvSpPr/>
          <p:nvPr/>
        </p:nvSpPr>
        <p:spPr>
          <a:xfrm>
            <a:off x="470916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Dois cenários, dois modelos</a:t>
            </a:r>
            <a:endParaRPr lang="en-US" sz="1050" dirty="0"/>
          </a:p>
        </p:txBody>
      </p:sp>
      <p:pic>
        <p:nvPicPr>
          <p:cNvPr id="19" name="Image 3" descr="preencoded.png">    </p:cNvPr>
          <p:cNvPicPr>
            <a:picLocks noChangeAspect="1"/>
          </p:cNvPicPr>
          <p:nvPr/>
        </p:nvPicPr>
        <p:blipFill>
          <a:blip r:embed="rId4"/>
          <a:stretch>
            <a:fillRect/>
          </a:stretch>
        </p:blipFill>
        <p:spPr>
          <a:xfrm>
            <a:off x="6812280" y="1234440"/>
            <a:ext cx="1828800" cy="1828800"/>
          </a:xfrm>
          <a:prstGeom prst="rect">
            <a:avLst/>
          </a:prstGeom>
        </p:spPr>
      </p:pic>
      <p:sp>
        <p:nvSpPr>
          <p:cNvPr id="20" name="Shape 14"/>
          <p:cNvSpPr/>
          <p:nvPr/>
        </p:nvSpPr>
        <p:spPr>
          <a:xfrm>
            <a:off x="6922008" y="1344168"/>
            <a:ext cx="402336" cy="402336"/>
          </a:xfrm>
          <a:prstGeom prst="ellipse">
            <a:avLst/>
          </a:prstGeom>
          <a:solidFill>
            <a:srgbClr val="F5A54A"/>
          </a:solidFill>
          <a:ln w="12700">
            <a:solidFill>
              <a:srgbClr val="F5A54A"/>
            </a:solidFill>
            <a:prstDash val="solid"/>
          </a:ln>
        </p:spPr>
      </p:sp>
      <p:sp>
        <p:nvSpPr>
          <p:cNvPr id="21" name="Text 15"/>
          <p:cNvSpPr/>
          <p:nvPr/>
        </p:nvSpPr>
        <p:spPr>
          <a:xfrm>
            <a:off x="6922008" y="1344168"/>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4</a:t>
            </a:r>
            <a:endParaRPr lang="en-US" sz="1200" dirty="0"/>
          </a:p>
        </p:txBody>
      </p:sp>
      <p:sp>
        <p:nvSpPr>
          <p:cNvPr id="22" name="Text 16"/>
          <p:cNvSpPr/>
          <p:nvPr/>
        </p:nvSpPr>
        <p:spPr>
          <a:xfrm>
            <a:off x="681228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Impacto no setor</a:t>
            </a:r>
            <a:endParaRPr lang="en-US" sz="1400" dirty="0"/>
          </a:p>
        </p:txBody>
      </p:sp>
      <p:sp>
        <p:nvSpPr>
          <p:cNvPr id="23" name="Text 17"/>
          <p:cNvSpPr/>
          <p:nvPr/>
        </p:nvSpPr>
        <p:spPr>
          <a:xfrm>
            <a:off x="681228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Ganhos financeiros e operacionais</a:t>
            </a:r>
            <a:endParaRPr lang="en-US" sz="105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Roteiro</a:t>
            </a:r>
            <a:endParaRPr lang="en-US"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 linha é o elo mais exposto do sistema</a:t>
            </a:r>
            <a:endParaRPr lang="en-US" sz="2800" dirty="0"/>
          </a:p>
        </p:txBody>
      </p:sp>
      <p:pic>
        <p:nvPicPr>
          <p:cNvPr id="4" name="Image 0" descr="preencoded.png">    </p:cNvPr>
          <p:cNvPicPr>
            <a:picLocks noChangeAspect="1"/>
          </p:cNvPicPr>
          <p:nvPr/>
        </p:nvPicPr>
        <p:blipFill>
          <a:blip r:embed="rId1"/>
          <a:stretch>
            <a:fillRect/>
          </a:stretch>
        </p:blipFill>
        <p:spPr>
          <a:xfrm>
            <a:off x="502920" y="1097280"/>
            <a:ext cx="8138160" cy="2278685"/>
          </a:xfrm>
          <a:prstGeom prst="rect">
            <a:avLst/>
          </a:prstGeom>
        </p:spPr>
      </p:pic>
      <p:sp>
        <p:nvSpPr>
          <p:cNvPr id="5" name="Shape 2"/>
          <p:cNvSpPr/>
          <p:nvPr/>
        </p:nvSpPr>
        <p:spPr>
          <a:xfrm>
            <a:off x="502920" y="3611880"/>
            <a:ext cx="54864" cy="868680"/>
          </a:xfrm>
          <a:prstGeom prst="rect">
            <a:avLst/>
          </a:prstGeom>
          <a:solidFill>
            <a:srgbClr val="F5A54A"/>
          </a:solidFill>
          <a:ln/>
        </p:spPr>
      </p:sp>
      <p:sp>
        <p:nvSpPr>
          <p:cNvPr id="6" name="Text 3"/>
          <p:cNvSpPr/>
          <p:nvPr/>
        </p:nvSpPr>
        <p:spPr>
          <a:xfrm>
            <a:off x="685800" y="3566160"/>
            <a:ext cx="2468880" cy="45720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 177 mil km</a:t>
            </a:r>
            <a:endParaRPr lang="en-US" sz="2400" dirty="0"/>
          </a:p>
        </p:txBody>
      </p:sp>
      <p:sp>
        <p:nvSpPr>
          <p:cNvPr id="7" name="Text 4"/>
          <p:cNvSpPr/>
          <p:nvPr/>
        </p:nvSpPr>
        <p:spPr>
          <a:xfrm>
            <a:off x="685800" y="4023360"/>
            <a:ext cx="2377440" cy="45720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de linhas na Rede Básica do Sistema Interligado Nacional</a:t>
            </a:r>
            <a:endParaRPr lang="en-US" sz="1050" dirty="0"/>
          </a:p>
        </p:txBody>
      </p:sp>
      <p:sp>
        <p:nvSpPr>
          <p:cNvPr id="8" name="Shape 5"/>
          <p:cNvSpPr/>
          <p:nvPr/>
        </p:nvSpPr>
        <p:spPr>
          <a:xfrm>
            <a:off x="3291840" y="3611880"/>
            <a:ext cx="54864" cy="868680"/>
          </a:xfrm>
          <a:prstGeom prst="rect">
            <a:avLst/>
          </a:prstGeom>
          <a:solidFill>
            <a:srgbClr val="1C7293"/>
          </a:solidFill>
          <a:ln/>
        </p:spPr>
      </p:sp>
      <p:sp>
        <p:nvSpPr>
          <p:cNvPr id="9" name="Text 6"/>
          <p:cNvSpPr/>
          <p:nvPr/>
        </p:nvSpPr>
        <p:spPr>
          <a:xfrm>
            <a:off x="3474720" y="3566160"/>
            <a:ext cx="2468880" cy="45720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+ 5,3 mil km</a:t>
            </a:r>
            <a:endParaRPr lang="en-US" sz="2400" dirty="0"/>
          </a:p>
        </p:txBody>
      </p:sp>
      <p:sp>
        <p:nvSpPr>
          <p:cNvPr id="10" name="Text 7"/>
          <p:cNvSpPr/>
          <p:nvPr/>
        </p:nvSpPr>
        <p:spPr>
          <a:xfrm>
            <a:off x="3474720" y="4023360"/>
            <a:ext cx="2377440" cy="45720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de novas linhas de transmissão previstas até 2030</a:t>
            </a:r>
            <a:endParaRPr lang="en-US" sz="1050" dirty="0"/>
          </a:p>
        </p:txBody>
      </p:sp>
      <p:sp>
        <p:nvSpPr>
          <p:cNvPr id="11" name="Shape 8"/>
          <p:cNvSpPr/>
          <p:nvPr/>
        </p:nvSpPr>
        <p:spPr>
          <a:xfrm>
            <a:off x="6080760" y="3611880"/>
            <a:ext cx="54864" cy="868680"/>
          </a:xfrm>
          <a:prstGeom prst="rect">
            <a:avLst/>
          </a:prstGeom>
          <a:solidFill>
            <a:srgbClr val="1C7293"/>
          </a:solidFill>
          <a:ln/>
        </p:spPr>
      </p:sp>
      <p:sp>
        <p:nvSpPr>
          <p:cNvPr id="12" name="Text 9"/>
          <p:cNvSpPr/>
          <p:nvPr/>
        </p:nvSpPr>
        <p:spPr>
          <a:xfrm>
            <a:off x="6263640" y="3566160"/>
            <a:ext cx="2468880" cy="45720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R$ 28,1 bi</a:t>
            </a:r>
            <a:endParaRPr lang="en-US" sz="2400" dirty="0"/>
          </a:p>
        </p:txBody>
      </p:sp>
      <p:sp>
        <p:nvSpPr>
          <p:cNvPr id="13" name="Text 10"/>
          <p:cNvSpPr/>
          <p:nvPr/>
        </p:nvSpPr>
        <p:spPr>
          <a:xfrm>
            <a:off x="6263640" y="4023360"/>
            <a:ext cx="2377440" cy="45720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em obras de ampliação e reforço da rede até 2030</a:t>
            </a:r>
            <a:endParaRPr lang="en-US" sz="10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5" name="Text 12"/>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Fonte: ONS, PAR/PEL 2025 (extensão atual estimada: 5.301 km novos equivalem a 3% da rede)</a:t>
            </a:r>
            <a:endParaRPr lang="en-US" sz="75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143500" cy="5143500"/>
          </a:xfrm>
          <a:prstGeom prst="rect">
            <a:avLst/>
          </a:prstGeom>
        </p:spPr>
      </p:pic>
      <p:sp>
        <p:nvSpPr>
          <p:cNvPr id="3" name="Text 0"/>
          <p:cNvSpPr/>
          <p:nvPr/>
        </p:nvSpPr>
        <p:spPr>
          <a:xfrm>
            <a:off x="5486400" y="274320"/>
            <a:ext cx="320040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4" name="Text 1"/>
          <p:cNvSpPr/>
          <p:nvPr/>
        </p:nvSpPr>
        <p:spPr>
          <a:xfrm>
            <a:off x="5486400" y="512064"/>
            <a:ext cx="3200400" cy="914400"/>
          </a:xfrm>
          <a:prstGeom prst="rect">
            <a:avLst/>
          </a:prstGeom>
          <a:noFill/>
          <a:ln/>
        </p:spPr>
        <p:txBody>
          <a:bodyPr wrap="square" lIns="0" tIns="0" rIns="0" bIns="0" rtlCol="0" anchor="t"/>
          <a:lstStyle/>
          <a:p>
            <a:pPr indent="0" marL="0">
              <a:buNone/>
            </a:pPr>
            <a:r>
              <a:rPr lang="en-US" sz="2400" b="1" dirty="0">
                <a:solidFill>
                  <a:srgbClr val="1B2A3A"/>
                </a:solidFill>
                <a:latin typeface="Cambria" pitchFamily="34" charset="0"/>
                <a:ea typeface="Cambria" pitchFamily="34" charset="-122"/>
                <a:cs typeface="Cambria" pitchFamily="34" charset="-120"/>
              </a:rPr>
              <a:t>Isolador: barato, pequeno e crítico</a:t>
            </a:r>
            <a:endParaRPr lang="en-US" sz="2400" dirty="0"/>
          </a:p>
        </p:txBody>
      </p:sp>
      <p:sp>
        <p:nvSpPr>
          <p:cNvPr id="5" name="Shape 2"/>
          <p:cNvSpPr/>
          <p:nvPr/>
        </p:nvSpPr>
        <p:spPr>
          <a:xfrm>
            <a:off x="5486400" y="1691640"/>
            <a:ext cx="457200" cy="457200"/>
          </a:xfrm>
          <a:prstGeom prst="ellipse">
            <a:avLst/>
          </a:prstGeom>
          <a:solidFill>
            <a:srgbClr val="1C7293"/>
          </a:solidFill>
          <a:ln w="12700">
            <a:solidFill>
              <a:srgbClr val="1C7293"/>
            </a:solidFill>
            <a:prstDash val="solid"/>
          </a:ln>
        </p:spPr>
      </p:sp>
      <p:sp>
        <p:nvSpPr>
          <p:cNvPr id="6" name="Text 3"/>
          <p:cNvSpPr/>
          <p:nvPr/>
        </p:nvSpPr>
        <p:spPr>
          <a:xfrm>
            <a:off x="5486400" y="16916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6080760" y="1655064"/>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Sustenta</a:t>
            </a:r>
            <a:endParaRPr lang="en-US" sz="1500" dirty="0"/>
          </a:p>
        </p:txBody>
      </p:sp>
      <p:sp>
        <p:nvSpPr>
          <p:cNvPr id="8" name="Text 5"/>
          <p:cNvSpPr/>
          <p:nvPr/>
        </p:nvSpPr>
        <p:spPr>
          <a:xfrm>
            <a:off x="6080760" y="1947672"/>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o peso do condutor e os esforços de vento</a:t>
            </a:r>
            <a:endParaRPr lang="en-US" sz="1100" dirty="0"/>
          </a:p>
        </p:txBody>
      </p:sp>
      <p:sp>
        <p:nvSpPr>
          <p:cNvPr id="9" name="Shape 6"/>
          <p:cNvSpPr/>
          <p:nvPr/>
        </p:nvSpPr>
        <p:spPr>
          <a:xfrm>
            <a:off x="5486400" y="2624328"/>
            <a:ext cx="457200" cy="457200"/>
          </a:xfrm>
          <a:prstGeom prst="ellipse">
            <a:avLst/>
          </a:prstGeom>
          <a:solidFill>
            <a:srgbClr val="F5A54A"/>
          </a:solidFill>
          <a:ln w="12700">
            <a:solidFill>
              <a:srgbClr val="F5A54A"/>
            </a:solidFill>
            <a:prstDash val="solid"/>
          </a:ln>
        </p:spPr>
      </p:sp>
      <p:sp>
        <p:nvSpPr>
          <p:cNvPr id="10" name="Text 7"/>
          <p:cNvSpPr/>
          <p:nvPr/>
        </p:nvSpPr>
        <p:spPr>
          <a:xfrm>
            <a:off x="5486400" y="2624328"/>
            <a:ext cx="457200" cy="457200"/>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6080760" y="2587752"/>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Isola</a:t>
            </a:r>
            <a:endParaRPr lang="en-US" sz="1500" dirty="0"/>
          </a:p>
        </p:txBody>
      </p:sp>
      <p:sp>
        <p:nvSpPr>
          <p:cNvPr id="12" name="Text 9"/>
          <p:cNvSpPr/>
          <p:nvPr/>
        </p:nvSpPr>
        <p:spPr>
          <a:xfrm>
            <a:off x="6080760" y="2880360"/>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a fase energizada da estrutura aterrada</a:t>
            </a:r>
            <a:endParaRPr lang="en-US" sz="1100" dirty="0"/>
          </a:p>
        </p:txBody>
      </p:sp>
      <p:sp>
        <p:nvSpPr>
          <p:cNvPr id="13" name="Shape 10"/>
          <p:cNvSpPr/>
          <p:nvPr/>
        </p:nvSpPr>
        <p:spPr>
          <a:xfrm>
            <a:off x="5486400" y="3557016"/>
            <a:ext cx="457200" cy="457200"/>
          </a:xfrm>
          <a:prstGeom prst="ellipse">
            <a:avLst/>
          </a:prstGeom>
          <a:solidFill>
            <a:srgbClr val="1C7293"/>
          </a:solidFill>
          <a:ln w="12700">
            <a:solidFill>
              <a:srgbClr val="1C7293"/>
            </a:solidFill>
            <a:prstDash val="solid"/>
          </a:ln>
        </p:spPr>
      </p:sp>
      <p:sp>
        <p:nvSpPr>
          <p:cNvPr id="14" name="Text 11"/>
          <p:cNvSpPr/>
          <p:nvPr/>
        </p:nvSpPr>
        <p:spPr>
          <a:xfrm>
            <a:off x="5486400" y="35570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6080760" y="3520440"/>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Resiste</a:t>
            </a:r>
            <a:endParaRPr lang="en-US" sz="1500" dirty="0"/>
          </a:p>
        </p:txBody>
      </p:sp>
      <p:sp>
        <p:nvSpPr>
          <p:cNvPr id="16" name="Text 13"/>
          <p:cNvSpPr/>
          <p:nvPr/>
        </p:nvSpPr>
        <p:spPr>
          <a:xfrm>
            <a:off x="6080760" y="3813048"/>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a sol, chuva, poluição e descargas por décadas</a:t>
            </a:r>
            <a:endParaRPr lang="en-US" sz="1100" dirty="0"/>
          </a:p>
        </p:txBody>
      </p:sp>
      <p:sp>
        <p:nvSpPr>
          <p:cNvPr id="17" name="Text 14"/>
          <p:cNvSpPr/>
          <p:nvPr/>
        </p:nvSpPr>
        <p:spPr>
          <a:xfrm>
            <a:off x="548640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8"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Como a cadeia de isoladores falha</a:t>
            </a:r>
            <a:endParaRPr lang="en-US" sz="2800" dirty="0"/>
          </a:p>
        </p:txBody>
      </p:sp>
      <p:pic>
        <p:nvPicPr>
          <p:cNvPr id="4" name="Image 0" descr="preencoded.png">    </p:cNvPr>
          <p:cNvPicPr>
            <a:picLocks noChangeAspect="1"/>
          </p:cNvPicPr>
          <p:nvPr/>
        </p:nvPicPr>
        <p:blipFill>
          <a:blip r:embed="rId1"/>
          <a:stretch>
            <a:fillRect/>
          </a:stretch>
        </p:blipFill>
        <p:spPr>
          <a:xfrm>
            <a:off x="502920" y="1143000"/>
            <a:ext cx="2606040" cy="2606040"/>
          </a:xfrm>
          <a:prstGeom prst="rect">
            <a:avLst/>
          </a:prstGeom>
        </p:spPr>
      </p:pic>
      <p:sp>
        <p:nvSpPr>
          <p:cNvPr id="5" name="Text 2"/>
          <p:cNvSpPr/>
          <p:nvPr/>
        </p:nvSpPr>
        <p:spPr>
          <a:xfrm>
            <a:off x="502920" y="3840480"/>
            <a:ext cx="260604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Corrosão</a:t>
            </a:r>
            <a:endParaRPr lang="en-US" sz="1400" dirty="0"/>
          </a:p>
        </p:txBody>
      </p:sp>
      <p:sp>
        <p:nvSpPr>
          <p:cNvPr id="6" name="Text 3"/>
          <p:cNvSpPr/>
          <p:nvPr/>
        </p:nvSpPr>
        <p:spPr>
          <a:xfrm>
            <a:off x="502920" y="4114800"/>
            <a:ext cx="260604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Pino metálico atacado pela umidade</a:t>
            </a:r>
            <a:endParaRPr lang="en-US" sz="1050" dirty="0"/>
          </a:p>
        </p:txBody>
      </p:sp>
      <p:pic>
        <p:nvPicPr>
          <p:cNvPr id="7" name="Image 1" descr="preencoded.png">    </p:cNvPr>
          <p:cNvPicPr>
            <a:picLocks noChangeAspect="1"/>
          </p:cNvPicPr>
          <p:nvPr/>
        </p:nvPicPr>
        <p:blipFill>
          <a:blip r:embed="rId2"/>
          <a:stretch>
            <a:fillRect/>
          </a:stretch>
        </p:blipFill>
        <p:spPr>
          <a:xfrm>
            <a:off x="3291840" y="1143000"/>
            <a:ext cx="2606040" cy="2606040"/>
          </a:xfrm>
          <a:prstGeom prst="rect">
            <a:avLst/>
          </a:prstGeom>
        </p:spPr>
      </p:pic>
      <p:sp>
        <p:nvSpPr>
          <p:cNvPr id="8" name="Text 4"/>
          <p:cNvSpPr/>
          <p:nvPr/>
        </p:nvSpPr>
        <p:spPr>
          <a:xfrm>
            <a:off x="3291840" y="3840480"/>
            <a:ext cx="260604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Oxidação e contaminação</a:t>
            </a:r>
            <a:endParaRPr lang="en-US" sz="1400" dirty="0"/>
          </a:p>
        </p:txBody>
      </p:sp>
      <p:sp>
        <p:nvSpPr>
          <p:cNvPr id="9" name="Text 5"/>
          <p:cNvSpPr/>
          <p:nvPr/>
        </p:nvSpPr>
        <p:spPr>
          <a:xfrm>
            <a:off x="3291840" y="4114800"/>
            <a:ext cx="260604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Depósitos sobre o vidro e as ferragens</a:t>
            </a:r>
            <a:endParaRPr lang="en-US" sz="1050" dirty="0"/>
          </a:p>
        </p:txBody>
      </p:sp>
      <p:pic>
        <p:nvPicPr>
          <p:cNvPr id="10" name="Image 2" descr="preencoded.png">    </p:cNvPr>
          <p:cNvPicPr>
            <a:picLocks noChangeAspect="1"/>
          </p:cNvPicPr>
          <p:nvPr/>
        </p:nvPicPr>
        <p:blipFill>
          <a:blip r:embed="rId3"/>
          <a:stretch>
            <a:fillRect/>
          </a:stretch>
        </p:blipFill>
        <p:spPr>
          <a:xfrm>
            <a:off x="6080760" y="1143000"/>
            <a:ext cx="2606040" cy="2606040"/>
          </a:xfrm>
          <a:prstGeom prst="rect">
            <a:avLst/>
          </a:prstGeom>
        </p:spPr>
      </p:pic>
      <p:sp>
        <p:nvSpPr>
          <p:cNvPr id="11" name="Text 6"/>
          <p:cNvSpPr/>
          <p:nvPr/>
        </p:nvSpPr>
        <p:spPr>
          <a:xfrm>
            <a:off x="6080760" y="3840480"/>
            <a:ext cx="2606040" cy="274320"/>
          </a:xfrm>
          <a:prstGeom prst="rect">
            <a:avLst/>
          </a:prstGeom>
          <a:noFill/>
          <a:ln/>
        </p:spPr>
        <p:txBody>
          <a:bodyPr wrap="square" lIns="0" tIns="0" rIns="0" bIns="0" rtlCol="0" anchor="ctr"/>
          <a:lstStyle/>
          <a:p>
            <a:pPr indent="0" marL="0">
              <a:buNone/>
            </a:pPr>
            <a:r>
              <a:rPr lang="en-US" sz="1400" b="1" dirty="0">
                <a:solidFill>
                  <a:srgbClr val="F5A54A"/>
                </a:solidFill>
                <a:latin typeface="Calibri" pitchFamily="34" charset="0"/>
                <a:ea typeface="Calibri" pitchFamily="34" charset="-122"/>
                <a:cs typeface="Calibri" pitchFamily="34" charset="-120"/>
              </a:rPr>
              <a:t>Defeito estrutural</a:t>
            </a:r>
            <a:endParaRPr lang="en-US" sz="1400" dirty="0"/>
          </a:p>
        </p:txBody>
      </p:sp>
      <p:sp>
        <p:nvSpPr>
          <p:cNvPr id="12" name="Text 7"/>
          <p:cNvSpPr/>
          <p:nvPr/>
        </p:nvSpPr>
        <p:spPr>
          <a:xfrm>
            <a:off x="6080760" y="4114800"/>
            <a:ext cx="260604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Cadeias cerâmicas: disco trincado ou ausente</a:t>
            </a:r>
            <a:endParaRPr lang="en-US" sz="105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4" name="Text 9"/>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Fotos: inspeções por drone da CPFL e conjunto CPLID</a:t>
            </a:r>
            <a:endParaRPr lang="en-US" sz="750" dirty="0"/>
          </a:p>
        </p:txBody>
      </p:sp>
      <p:sp>
        <p:nvSpPr>
          <p:cNvPr id="15"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Quando a linha desliga, a conta chega</a:t>
            </a:r>
            <a:endParaRPr lang="en-US" sz="2800" dirty="0"/>
          </a:p>
        </p:txBody>
      </p:sp>
      <p:sp>
        <p:nvSpPr>
          <p:cNvPr id="4" name="Text 2"/>
          <p:cNvSpPr/>
          <p:nvPr/>
        </p:nvSpPr>
        <p:spPr>
          <a:xfrm>
            <a:off x="502920" y="1188720"/>
            <a:ext cx="4572000" cy="237744"/>
          </a:xfrm>
          <a:prstGeom prst="rect">
            <a:avLst/>
          </a:prstGeom>
          <a:noFill/>
          <a:ln/>
        </p:spPr>
        <p:txBody>
          <a:bodyPr wrap="square" lIns="0" tIns="0" rIns="0" bIns="0" rtlCol="0" anchor="ctr"/>
          <a:lstStyle/>
          <a:p>
            <a:pPr indent="0" marL="0">
              <a:buNone/>
            </a:pPr>
            <a:r>
              <a:rPr lang="en-US" sz="1100" b="1" dirty="0">
                <a:solidFill>
                  <a:srgbClr val="A9BCCC"/>
                </a:solidFill>
                <a:latin typeface="Calibri" pitchFamily="34" charset="0"/>
                <a:ea typeface="Calibri" pitchFamily="34" charset="-122"/>
                <a:cs typeface="Calibri" pitchFamily="34" charset="-120"/>
              </a:rPr>
              <a:t>Distribuição, Brasil, 2025</a:t>
            </a:r>
            <a:endParaRPr lang="en-US" sz="1100" dirty="0"/>
          </a:p>
        </p:txBody>
      </p:sp>
      <p:sp>
        <p:nvSpPr>
          <p:cNvPr id="5" name="Shape 3"/>
          <p:cNvSpPr/>
          <p:nvPr/>
        </p:nvSpPr>
        <p:spPr>
          <a:xfrm>
            <a:off x="502920" y="1481328"/>
            <a:ext cx="2606040" cy="1572768"/>
          </a:xfrm>
          <a:prstGeom prst="roundRect">
            <a:avLst>
              <a:gd name="adj" fmla="val 4070"/>
            </a:avLst>
          </a:prstGeom>
          <a:solidFill>
            <a:srgbClr val="1C3550"/>
          </a:solidFill>
          <a:ln w="9525">
            <a:solidFill>
              <a:srgbClr val="1C3550"/>
            </a:solidFill>
            <a:prstDash val="solid"/>
          </a:ln>
        </p:spPr>
      </p:sp>
      <p:sp>
        <p:nvSpPr>
          <p:cNvPr id="6" name="Text 4"/>
          <p:cNvSpPr/>
          <p:nvPr/>
        </p:nvSpPr>
        <p:spPr>
          <a:xfrm>
            <a:off x="704088" y="1627632"/>
            <a:ext cx="2286000" cy="566928"/>
          </a:xfrm>
          <a:prstGeom prst="rect">
            <a:avLst/>
          </a:prstGeom>
          <a:noFill/>
          <a:ln/>
        </p:spPr>
        <p:txBody>
          <a:bodyPr wrap="square" lIns="0" tIns="0" rIns="0" bIns="0" rtlCol="0" anchor="ctr"/>
          <a:lstStyle/>
          <a:p>
            <a:pPr indent="0" marL="0">
              <a:buNone/>
            </a:pPr>
            <a:r>
              <a:rPr lang="en-US" sz="2700" b="1" dirty="0">
                <a:solidFill>
                  <a:srgbClr val="F5A54A"/>
                </a:solidFill>
                <a:latin typeface="Cambria" pitchFamily="34" charset="0"/>
                <a:ea typeface="Cambria" pitchFamily="34" charset="-122"/>
                <a:cs typeface="Cambria" pitchFamily="34" charset="-120"/>
              </a:rPr>
              <a:t>R$ 1,002 bi</a:t>
            </a:r>
            <a:endParaRPr lang="en-US" sz="2700" dirty="0"/>
          </a:p>
        </p:txBody>
      </p:sp>
      <p:sp>
        <p:nvSpPr>
          <p:cNvPr id="7" name="Text 5"/>
          <p:cNvSpPr/>
          <p:nvPr/>
        </p:nvSpPr>
        <p:spPr>
          <a:xfrm>
            <a:off x="704088" y="2240280"/>
            <a:ext cx="2240280" cy="731520"/>
          </a:xfrm>
          <a:prstGeom prst="rect">
            <a:avLst/>
          </a:prstGeom>
          <a:noFill/>
          <a:ln/>
        </p:spPr>
        <p:txBody>
          <a:bodyPr wrap="square" lIns="0" tIns="0" rIns="0" bIns="0" rtlCol="0" anchor="ctr"/>
          <a:lstStyle/>
          <a:p>
            <a:pPr indent="0" marL="0">
              <a:lnSpc>
                <a:spcPct val="105000"/>
              </a:lnSpc>
              <a:buNone/>
            </a:pPr>
            <a:r>
              <a:rPr lang="en-US" sz="1100" dirty="0">
                <a:solidFill>
                  <a:srgbClr val="FFFFFF"/>
                </a:solidFill>
                <a:latin typeface="Calibri" pitchFamily="34" charset="0"/>
                <a:ea typeface="Calibri" pitchFamily="34" charset="-122"/>
                <a:cs typeface="Calibri" pitchFamily="34" charset="-120"/>
              </a:rPr>
              <a:t>em compensações pagas aos consumidores por violação dos limites de continuidade</a:t>
            </a:r>
            <a:endParaRPr lang="en-US" sz="1100" dirty="0"/>
          </a:p>
        </p:txBody>
      </p:sp>
      <p:sp>
        <p:nvSpPr>
          <p:cNvPr id="8" name="Shape 6"/>
          <p:cNvSpPr/>
          <p:nvPr/>
        </p:nvSpPr>
        <p:spPr>
          <a:xfrm>
            <a:off x="3291840" y="1481328"/>
            <a:ext cx="2606040" cy="1572768"/>
          </a:xfrm>
          <a:prstGeom prst="roundRect">
            <a:avLst>
              <a:gd name="adj" fmla="val 4070"/>
            </a:avLst>
          </a:prstGeom>
          <a:solidFill>
            <a:srgbClr val="1C3550"/>
          </a:solidFill>
          <a:ln w="9525">
            <a:solidFill>
              <a:srgbClr val="1C3550"/>
            </a:solidFill>
            <a:prstDash val="solid"/>
          </a:ln>
        </p:spPr>
      </p:sp>
      <p:sp>
        <p:nvSpPr>
          <p:cNvPr id="9" name="Text 7"/>
          <p:cNvSpPr/>
          <p:nvPr/>
        </p:nvSpPr>
        <p:spPr>
          <a:xfrm>
            <a:off x="3493008" y="1627632"/>
            <a:ext cx="2286000" cy="566928"/>
          </a:xfrm>
          <a:prstGeom prst="rect">
            <a:avLst/>
          </a:prstGeom>
          <a:noFill/>
          <a:ln/>
        </p:spPr>
        <p:txBody>
          <a:bodyPr wrap="square" lIns="0" tIns="0" rIns="0" bIns="0" rtlCol="0" anchor="ctr"/>
          <a:lstStyle/>
          <a:p>
            <a:pPr indent="0" marL="0">
              <a:buNone/>
            </a:pPr>
            <a:r>
              <a:rPr lang="en-US" sz="3200" b="1" dirty="0">
                <a:solidFill>
                  <a:srgbClr val="5BB4D6"/>
                </a:solidFill>
                <a:latin typeface="Cambria" pitchFamily="34" charset="0"/>
                <a:ea typeface="Cambria" pitchFamily="34" charset="-122"/>
                <a:cs typeface="Cambria" pitchFamily="34" charset="-120"/>
              </a:rPr>
              <a:t>9,30 h</a:t>
            </a:r>
            <a:endParaRPr lang="en-US" sz="3200" dirty="0"/>
          </a:p>
        </p:txBody>
      </p:sp>
      <p:sp>
        <p:nvSpPr>
          <p:cNvPr id="10" name="Text 8"/>
          <p:cNvSpPr/>
          <p:nvPr/>
        </p:nvSpPr>
        <p:spPr>
          <a:xfrm>
            <a:off x="3493008" y="2240280"/>
            <a:ext cx="2240280" cy="731520"/>
          </a:xfrm>
          <a:prstGeom prst="rect">
            <a:avLst/>
          </a:prstGeom>
          <a:noFill/>
          <a:ln/>
        </p:spPr>
        <p:txBody>
          <a:bodyPr wrap="square" lIns="0" tIns="0" rIns="0" bIns="0" rtlCol="0" anchor="ctr"/>
          <a:lstStyle/>
          <a:p>
            <a:pPr indent="0" marL="0">
              <a:lnSpc>
                <a:spcPct val="105000"/>
              </a:lnSpc>
              <a:buNone/>
            </a:pPr>
            <a:r>
              <a:rPr lang="en-US" sz="1100" dirty="0">
                <a:solidFill>
                  <a:srgbClr val="FFFFFF"/>
                </a:solidFill>
                <a:latin typeface="Calibri" pitchFamily="34" charset="0"/>
                <a:ea typeface="Calibri" pitchFamily="34" charset="-122"/>
                <a:cs typeface="Calibri" pitchFamily="34" charset="-120"/>
              </a:rPr>
              <a:t>sem energia por consumidor no ano (DEC médio)</a:t>
            </a:r>
            <a:endParaRPr lang="en-US" sz="1100" dirty="0"/>
          </a:p>
        </p:txBody>
      </p:sp>
      <p:sp>
        <p:nvSpPr>
          <p:cNvPr id="11" name="Shape 9"/>
          <p:cNvSpPr/>
          <p:nvPr/>
        </p:nvSpPr>
        <p:spPr>
          <a:xfrm>
            <a:off x="6080760" y="1481328"/>
            <a:ext cx="2606040" cy="1572768"/>
          </a:xfrm>
          <a:prstGeom prst="roundRect">
            <a:avLst>
              <a:gd name="adj" fmla="val 4070"/>
            </a:avLst>
          </a:prstGeom>
          <a:solidFill>
            <a:srgbClr val="1C3550"/>
          </a:solidFill>
          <a:ln w="9525">
            <a:solidFill>
              <a:srgbClr val="1C3550"/>
            </a:solidFill>
            <a:prstDash val="solid"/>
          </a:ln>
        </p:spPr>
      </p:sp>
      <p:sp>
        <p:nvSpPr>
          <p:cNvPr id="12" name="Text 10"/>
          <p:cNvSpPr/>
          <p:nvPr/>
        </p:nvSpPr>
        <p:spPr>
          <a:xfrm>
            <a:off x="6281928" y="1627632"/>
            <a:ext cx="2286000" cy="566928"/>
          </a:xfrm>
          <a:prstGeom prst="rect">
            <a:avLst/>
          </a:prstGeom>
          <a:noFill/>
          <a:ln/>
        </p:spPr>
        <p:txBody>
          <a:bodyPr wrap="square" lIns="0" tIns="0" rIns="0" bIns="0" rtlCol="0" anchor="ctr"/>
          <a:lstStyle/>
          <a:p>
            <a:pPr indent="0" marL="0">
              <a:buNone/>
            </a:pPr>
            <a:r>
              <a:rPr lang="en-US" sz="3200" b="1" dirty="0">
                <a:solidFill>
                  <a:srgbClr val="5BB4D6"/>
                </a:solidFill>
                <a:latin typeface="Cambria" pitchFamily="34" charset="0"/>
                <a:ea typeface="Cambria" pitchFamily="34" charset="-122"/>
                <a:cs typeface="Cambria" pitchFamily="34" charset="-120"/>
              </a:rPr>
              <a:t>4,66</a:t>
            </a:r>
            <a:endParaRPr lang="en-US" sz="3200" dirty="0"/>
          </a:p>
        </p:txBody>
      </p:sp>
      <p:sp>
        <p:nvSpPr>
          <p:cNvPr id="13" name="Text 11"/>
          <p:cNvSpPr/>
          <p:nvPr/>
        </p:nvSpPr>
        <p:spPr>
          <a:xfrm>
            <a:off x="6281928" y="2240280"/>
            <a:ext cx="2240280" cy="731520"/>
          </a:xfrm>
          <a:prstGeom prst="rect">
            <a:avLst/>
          </a:prstGeom>
          <a:noFill/>
          <a:ln/>
        </p:spPr>
        <p:txBody>
          <a:bodyPr wrap="square" lIns="0" tIns="0" rIns="0" bIns="0" rtlCol="0" anchor="ctr"/>
          <a:lstStyle/>
          <a:p>
            <a:pPr indent="0" marL="0">
              <a:lnSpc>
                <a:spcPct val="105000"/>
              </a:lnSpc>
              <a:buNone/>
            </a:pPr>
            <a:r>
              <a:rPr lang="en-US" sz="1100" dirty="0">
                <a:solidFill>
                  <a:srgbClr val="FFFFFF"/>
                </a:solidFill>
                <a:latin typeface="Calibri" pitchFamily="34" charset="0"/>
                <a:ea typeface="Calibri" pitchFamily="34" charset="-122"/>
                <a:cs typeface="Calibri" pitchFamily="34" charset="-120"/>
              </a:rPr>
              <a:t>interrupções por consumidor no ano (FEC médio)</a:t>
            </a:r>
            <a:endParaRPr lang="en-US" sz="1100" dirty="0"/>
          </a:p>
        </p:txBody>
      </p:sp>
      <p:sp>
        <p:nvSpPr>
          <p:cNvPr id="14" name="Shape 12"/>
          <p:cNvSpPr/>
          <p:nvPr/>
        </p:nvSpPr>
        <p:spPr>
          <a:xfrm>
            <a:off x="502920" y="3291840"/>
            <a:ext cx="8138160" cy="1143000"/>
          </a:xfrm>
          <a:prstGeom prst="roundRect">
            <a:avLst>
              <a:gd name="adj" fmla="val 5600"/>
            </a:avLst>
          </a:prstGeom>
          <a:solidFill>
            <a:srgbClr val="12263A"/>
          </a:solidFill>
          <a:ln w="9525">
            <a:solidFill>
              <a:srgbClr val="F5A54A"/>
            </a:solidFill>
            <a:prstDash val="solid"/>
          </a:ln>
        </p:spPr>
      </p:sp>
      <p:sp>
        <p:nvSpPr>
          <p:cNvPr id="15" name="Text 13"/>
          <p:cNvSpPr/>
          <p:nvPr/>
        </p:nvSpPr>
        <p:spPr>
          <a:xfrm>
            <a:off x="777240" y="3429000"/>
            <a:ext cx="2743200" cy="256032"/>
          </a:xfrm>
          <a:prstGeom prst="rect">
            <a:avLst/>
          </a:prstGeom>
          <a:noFill/>
          <a:ln/>
        </p:spPr>
        <p:txBody>
          <a:bodyPr wrap="square" lIns="0" tIns="0" rIns="0" bIns="0" rtlCol="0" anchor="ctr"/>
          <a:lstStyle/>
          <a:p>
            <a:pPr indent="0" marL="0">
              <a:buNone/>
            </a:pPr>
            <a:r>
              <a:rPr lang="en-US" sz="1200" b="1" dirty="0">
                <a:solidFill>
                  <a:srgbClr val="F5A54A"/>
                </a:solidFill>
                <a:latin typeface="Calibri" pitchFamily="34" charset="0"/>
                <a:ea typeface="Calibri" pitchFamily="34" charset="-122"/>
                <a:cs typeface="Calibri" pitchFamily="34" charset="-120"/>
              </a:rPr>
              <a:t>Transmissão</a:t>
            </a:r>
            <a:endParaRPr lang="en-US" sz="1200" dirty="0"/>
          </a:p>
        </p:txBody>
      </p:sp>
      <p:sp>
        <p:nvSpPr>
          <p:cNvPr id="16" name="Text 14"/>
          <p:cNvSpPr/>
          <p:nvPr/>
        </p:nvSpPr>
        <p:spPr>
          <a:xfrm>
            <a:off x="777240" y="3703320"/>
            <a:ext cx="7589520" cy="594360"/>
          </a:xfrm>
          <a:prstGeom prst="rect">
            <a:avLst/>
          </a:prstGeom>
          <a:noFill/>
          <a:ln/>
        </p:spPr>
        <p:txBody>
          <a:bodyPr wrap="square" lIns="0" tIns="0" rIns="0" bIns="0" rtlCol="0" anchor="ctr"/>
          <a:lstStyle/>
          <a:p>
            <a:pPr indent="0" marL="0">
              <a:lnSpc>
                <a:spcPct val="105000"/>
              </a:lnSpc>
              <a:buNone/>
            </a:pPr>
            <a:r>
              <a:rPr lang="en-US" sz="1300" dirty="0">
                <a:solidFill>
                  <a:srgbClr val="FFFFFF"/>
                </a:solidFill>
                <a:latin typeface="Calibri" pitchFamily="34" charset="0"/>
                <a:ea typeface="Calibri" pitchFamily="34" charset="-122"/>
                <a:cs typeface="Calibri" pitchFamily="34" charset="-120"/>
              </a:rPr>
              <a:t>A Parcela Variável por Indisponibilidade desconta da receita da transmissora o tempo em que a linha fica desligada por sua responsabilidade.</a:t>
            </a:r>
            <a:endParaRPr lang="en-US" sz="1300" dirty="0"/>
          </a:p>
        </p:txBody>
      </p:sp>
      <p:sp>
        <p:nvSpPr>
          <p:cNvPr id="17" name="Text 15"/>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Contexto elétrico</a:t>
            </a:r>
            <a:endParaRPr lang="en-US" sz="900" dirty="0"/>
          </a:p>
        </p:txBody>
      </p:sp>
      <p:sp>
        <p:nvSpPr>
          <p:cNvPr id="18" name="Text 16"/>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A9BCCC"/>
                </a:solidFill>
                <a:latin typeface="Calibri" pitchFamily="34" charset="0"/>
                <a:ea typeface="Calibri" pitchFamily="34" charset="-122"/>
                <a:cs typeface="Calibri" pitchFamily="34" charset="-120"/>
              </a:rPr>
              <a:t>Fonte: ANEEL, desempenho das distribuidoras na continuidade do fornecimento em 2025</a:t>
            </a:r>
            <a:endParaRPr lang="en-US" sz="750" dirty="0"/>
          </a:p>
        </p:txBody>
      </p:sp>
      <p:sp>
        <p:nvSpPr>
          <p:cNvPr id="19" name="Text 17"/>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drone muda a economia da inspeção</a:t>
            </a:r>
            <a:endParaRPr lang="en-US" sz="2800" dirty="0"/>
          </a:p>
        </p:txBody>
      </p:sp>
      <p:pic>
        <p:nvPicPr>
          <p:cNvPr id="4" name="Image 0" descr="preencoded.png">    </p:cNvPr>
          <p:cNvPicPr>
            <a:picLocks noChangeAspect="1"/>
          </p:cNvPicPr>
          <p:nvPr/>
        </p:nvPicPr>
        <p:blipFill>
          <a:blip r:embed="rId1"/>
          <a:stretch>
            <a:fillRect/>
          </a:stretch>
        </p:blipFill>
        <p:spPr>
          <a:xfrm>
            <a:off x="502920" y="1325880"/>
            <a:ext cx="3931920" cy="2134471"/>
          </a:xfrm>
          <a:prstGeom prst="rect">
            <a:avLst/>
          </a:prstGeom>
        </p:spPr>
      </p:pic>
      <p:sp>
        <p:nvSpPr>
          <p:cNvPr id="5" name="Text 2"/>
          <p:cNvSpPr/>
          <p:nvPr/>
        </p:nvSpPr>
        <p:spPr>
          <a:xfrm>
            <a:off x="502920" y="3611880"/>
            <a:ext cx="3840480" cy="411480"/>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O drone chega a poucos metros da cadeia, sem expor a equipe à altura nem à linha energizada.</a:t>
            </a:r>
            <a:endParaRPr lang="en-US" sz="950" dirty="0"/>
          </a:p>
        </p:txBody>
      </p:sp>
      <p:sp>
        <p:nvSpPr>
          <p:cNvPr id="6" name="Text 3"/>
          <p:cNvSpPr/>
          <p:nvPr/>
        </p:nvSpPr>
        <p:spPr>
          <a:xfrm>
            <a:off x="4663440" y="1188720"/>
            <a:ext cx="3977640" cy="256032"/>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Custo médio de inspeção por torre</a:t>
            </a:r>
            <a:endParaRPr lang="en-US" sz="1200" dirty="0"/>
          </a:p>
        </p:txBody>
      </p:sp>
      <p:sp>
        <p:nvSpPr>
          <p:cNvPr id="7" name="Text 4"/>
          <p:cNvSpPr/>
          <p:nvPr/>
        </p:nvSpPr>
        <p:spPr>
          <a:xfrm>
            <a:off x="4663440" y="1499616"/>
            <a:ext cx="960120" cy="237744"/>
          </a:xfrm>
          <a:prstGeom prst="rect">
            <a:avLst/>
          </a:prstGeom>
          <a:noFill/>
          <a:ln/>
        </p:spPr>
        <p:txBody>
          <a:bodyPr wrap="square" lIns="0" tIns="0" rIns="0" bIns="0" rtlCol="0" anchor="ctr"/>
          <a:lstStyle/>
          <a:p>
            <a:pPr indent="0" marL="0">
              <a:buNone/>
            </a:pPr>
            <a:r>
              <a:rPr lang="en-US" sz="1000" dirty="0">
                <a:solidFill>
                  <a:srgbClr val="5C6F80"/>
                </a:solidFill>
                <a:latin typeface="Calibri" pitchFamily="34" charset="0"/>
                <a:ea typeface="Calibri" pitchFamily="34" charset="-122"/>
                <a:cs typeface="Calibri" pitchFamily="34" charset="-120"/>
              </a:rPr>
              <a:t>Tradicional</a:t>
            </a:r>
            <a:endParaRPr lang="en-US" sz="1000" dirty="0"/>
          </a:p>
        </p:txBody>
      </p:sp>
      <p:sp>
        <p:nvSpPr>
          <p:cNvPr id="8" name="Shape 5"/>
          <p:cNvSpPr/>
          <p:nvPr/>
        </p:nvSpPr>
        <p:spPr>
          <a:xfrm>
            <a:off x="5669280" y="1499616"/>
            <a:ext cx="1828800" cy="237744"/>
          </a:xfrm>
          <a:prstGeom prst="rect">
            <a:avLst/>
          </a:prstGeom>
          <a:solidFill>
            <a:srgbClr val="A9BCCC"/>
          </a:solidFill>
          <a:ln/>
        </p:spPr>
      </p:sp>
      <p:sp>
        <p:nvSpPr>
          <p:cNvPr id="9" name="Text 6"/>
          <p:cNvSpPr/>
          <p:nvPr/>
        </p:nvSpPr>
        <p:spPr>
          <a:xfrm>
            <a:off x="7571232" y="1499616"/>
            <a:ext cx="1097280" cy="237744"/>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R$ 750</a:t>
            </a:r>
            <a:endParaRPr lang="en-US" sz="1050" dirty="0"/>
          </a:p>
        </p:txBody>
      </p:sp>
      <p:sp>
        <p:nvSpPr>
          <p:cNvPr id="10" name="Text 7"/>
          <p:cNvSpPr/>
          <p:nvPr/>
        </p:nvSpPr>
        <p:spPr>
          <a:xfrm>
            <a:off x="4663440" y="1810512"/>
            <a:ext cx="960120"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Drone</a:t>
            </a:r>
            <a:endParaRPr lang="en-US" sz="1000" dirty="0"/>
          </a:p>
        </p:txBody>
      </p:sp>
      <p:sp>
        <p:nvSpPr>
          <p:cNvPr id="11" name="Shape 8"/>
          <p:cNvSpPr/>
          <p:nvPr/>
        </p:nvSpPr>
        <p:spPr>
          <a:xfrm>
            <a:off x="5669280" y="1810512"/>
            <a:ext cx="731520" cy="237744"/>
          </a:xfrm>
          <a:prstGeom prst="rect">
            <a:avLst/>
          </a:prstGeom>
          <a:solidFill>
            <a:srgbClr val="1C7293"/>
          </a:solidFill>
          <a:ln/>
        </p:spPr>
      </p:sp>
      <p:sp>
        <p:nvSpPr>
          <p:cNvPr id="12" name="Text 9"/>
          <p:cNvSpPr/>
          <p:nvPr/>
        </p:nvSpPr>
        <p:spPr>
          <a:xfrm>
            <a:off x="6473952" y="1810512"/>
            <a:ext cx="1097280" cy="237744"/>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R$ 300</a:t>
            </a:r>
            <a:endParaRPr lang="en-US" sz="1050" dirty="0"/>
          </a:p>
        </p:txBody>
      </p:sp>
      <p:sp>
        <p:nvSpPr>
          <p:cNvPr id="13" name="Text 10"/>
          <p:cNvSpPr/>
          <p:nvPr/>
        </p:nvSpPr>
        <p:spPr>
          <a:xfrm>
            <a:off x="4663440" y="2286000"/>
            <a:ext cx="3977640" cy="256032"/>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Torres inspecionadas por dia</a:t>
            </a:r>
            <a:endParaRPr lang="en-US" sz="1200" dirty="0"/>
          </a:p>
        </p:txBody>
      </p:sp>
      <p:sp>
        <p:nvSpPr>
          <p:cNvPr id="14" name="Text 11"/>
          <p:cNvSpPr/>
          <p:nvPr/>
        </p:nvSpPr>
        <p:spPr>
          <a:xfrm>
            <a:off x="4663440" y="2596896"/>
            <a:ext cx="960120" cy="237744"/>
          </a:xfrm>
          <a:prstGeom prst="rect">
            <a:avLst/>
          </a:prstGeom>
          <a:noFill/>
          <a:ln/>
        </p:spPr>
        <p:txBody>
          <a:bodyPr wrap="square" lIns="0" tIns="0" rIns="0" bIns="0" rtlCol="0" anchor="ctr"/>
          <a:lstStyle/>
          <a:p>
            <a:pPr indent="0" marL="0">
              <a:buNone/>
            </a:pPr>
            <a:r>
              <a:rPr lang="en-US" sz="1000" dirty="0">
                <a:solidFill>
                  <a:srgbClr val="5C6F80"/>
                </a:solidFill>
                <a:latin typeface="Calibri" pitchFamily="34" charset="0"/>
                <a:ea typeface="Calibri" pitchFamily="34" charset="-122"/>
                <a:cs typeface="Calibri" pitchFamily="34" charset="-120"/>
              </a:rPr>
              <a:t>Tradicional</a:t>
            </a:r>
            <a:endParaRPr lang="en-US" sz="1000" dirty="0"/>
          </a:p>
        </p:txBody>
      </p:sp>
      <p:sp>
        <p:nvSpPr>
          <p:cNvPr id="15" name="Shape 12"/>
          <p:cNvSpPr/>
          <p:nvPr/>
        </p:nvSpPr>
        <p:spPr>
          <a:xfrm>
            <a:off x="5669280" y="2596896"/>
            <a:ext cx="365760" cy="237744"/>
          </a:xfrm>
          <a:prstGeom prst="rect">
            <a:avLst/>
          </a:prstGeom>
          <a:solidFill>
            <a:srgbClr val="A9BCCC"/>
          </a:solidFill>
          <a:ln/>
        </p:spPr>
      </p:sp>
      <p:sp>
        <p:nvSpPr>
          <p:cNvPr id="16" name="Text 13"/>
          <p:cNvSpPr/>
          <p:nvPr/>
        </p:nvSpPr>
        <p:spPr>
          <a:xfrm>
            <a:off x="6108192" y="2596896"/>
            <a:ext cx="1097280" cy="237744"/>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5</a:t>
            </a:r>
            <a:endParaRPr lang="en-US" sz="1050" dirty="0"/>
          </a:p>
        </p:txBody>
      </p:sp>
      <p:sp>
        <p:nvSpPr>
          <p:cNvPr id="17" name="Text 14"/>
          <p:cNvSpPr/>
          <p:nvPr/>
        </p:nvSpPr>
        <p:spPr>
          <a:xfrm>
            <a:off x="4663440" y="2907792"/>
            <a:ext cx="960120"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Drone</a:t>
            </a:r>
            <a:endParaRPr lang="en-US" sz="1000" dirty="0"/>
          </a:p>
        </p:txBody>
      </p:sp>
      <p:sp>
        <p:nvSpPr>
          <p:cNvPr id="18" name="Shape 15"/>
          <p:cNvSpPr/>
          <p:nvPr/>
        </p:nvSpPr>
        <p:spPr>
          <a:xfrm>
            <a:off x="5669280" y="2907792"/>
            <a:ext cx="1828800" cy="237744"/>
          </a:xfrm>
          <a:prstGeom prst="rect">
            <a:avLst/>
          </a:prstGeom>
          <a:solidFill>
            <a:srgbClr val="1C7293"/>
          </a:solidFill>
          <a:ln/>
        </p:spPr>
      </p:sp>
      <p:sp>
        <p:nvSpPr>
          <p:cNvPr id="19" name="Text 16"/>
          <p:cNvSpPr/>
          <p:nvPr/>
        </p:nvSpPr>
        <p:spPr>
          <a:xfrm>
            <a:off x="7571232" y="2907792"/>
            <a:ext cx="1097280" cy="237744"/>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25</a:t>
            </a:r>
            <a:endParaRPr lang="en-US" sz="1050" dirty="0"/>
          </a:p>
        </p:txBody>
      </p:sp>
      <p:sp>
        <p:nvSpPr>
          <p:cNvPr id="20" name="Text 17"/>
          <p:cNvSpPr/>
          <p:nvPr/>
        </p:nvSpPr>
        <p:spPr>
          <a:xfrm>
            <a:off x="4663440" y="3383280"/>
            <a:ext cx="3977640" cy="256032"/>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Patrulha aérea, custo por km</a:t>
            </a:r>
            <a:endParaRPr lang="en-US" sz="1200" dirty="0"/>
          </a:p>
        </p:txBody>
      </p:sp>
      <p:sp>
        <p:nvSpPr>
          <p:cNvPr id="21" name="Text 18"/>
          <p:cNvSpPr/>
          <p:nvPr/>
        </p:nvSpPr>
        <p:spPr>
          <a:xfrm>
            <a:off x="4663440" y="3694176"/>
            <a:ext cx="960120" cy="237744"/>
          </a:xfrm>
          <a:prstGeom prst="rect">
            <a:avLst/>
          </a:prstGeom>
          <a:noFill/>
          <a:ln/>
        </p:spPr>
        <p:txBody>
          <a:bodyPr wrap="square" lIns="0" tIns="0" rIns="0" bIns="0" rtlCol="0" anchor="ctr"/>
          <a:lstStyle/>
          <a:p>
            <a:pPr indent="0" marL="0">
              <a:buNone/>
            </a:pPr>
            <a:r>
              <a:rPr lang="en-US" sz="1000" dirty="0">
                <a:solidFill>
                  <a:srgbClr val="5C6F80"/>
                </a:solidFill>
                <a:latin typeface="Calibri" pitchFamily="34" charset="0"/>
                <a:ea typeface="Calibri" pitchFamily="34" charset="-122"/>
                <a:cs typeface="Calibri" pitchFamily="34" charset="-120"/>
              </a:rPr>
              <a:t>Helicóptero</a:t>
            </a:r>
            <a:endParaRPr lang="en-US" sz="1000" dirty="0"/>
          </a:p>
        </p:txBody>
      </p:sp>
      <p:sp>
        <p:nvSpPr>
          <p:cNvPr id="22" name="Shape 19"/>
          <p:cNvSpPr/>
          <p:nvPr/>
        </p:nvSpPr>
        <p:spPr>
          <a:xfrm>
            <a:off x="5669280" y="3694176"/>
            <a:ext cx="1828800" cy="237744"/>
          </a:xfrm>
          <a:prstGeom prst="rect">
            <a:avLst/>
          </a:prstGeom>
          <a:solidFill>
            <a:srgbClr val="A9BCCC"/>
          </a:solidFill>
          <a:ln/>
        </p:spPr>
      </p:sp>
      <p:sp>
        <p:nvSpPr>
          <p:cNvPr id="23" name="Text 20"/>
          <p:cNvSpPr/>
          <p:nvPr/>
        </p:nvSpPr>
        <p:spPr>
          <a:xfrm>
            <a:off x="7571232" y="3694176"/>
            <a:ext cx="1097280" cy="237744"/>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US$ 120 a 200</a:t>
            </a:r>
            <a:endParaRPr lang="en-US" sz="1050" dirty="0"/>
          </a:p>
        </p:txBody>
      </p:sp>
      <p:sp>
        <p:nvSpPr>
          <p:cNvPr id="24" name="Text 21"/>
          <p:cNvSpPr/>
          <p:nvPr/>
        </p:nvSpPr>
        <p:spPr>
          <a:xfrm>
            <a:off x="4663440" y="4005072"/>
            <a:ext cx="960120"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Drone</a:t>
            </a:r>
            <a:endParaRPr lang="en-US" sz="1000" dirty="0"/>
          </a:p>
        </p:txBody>
      </p:sp>
      <p:sp>
        <p:nvSpPr>
          <p:cNvPr id="25" name="Shape 22"/>
          <p:cNvSpPr/>
          <p:nvPr/>
        </p:nvSpPr>
        <p:spPr>
          <a:xfrm>
            <a:off x="5669280" y="4005072"/>
            <a:ext cx="731520" cy="237744"/>
          </a:xfrm>
          <a:prstGeom prst="rect">
            <a:avLst/>
          </a:prstGeom>
          <a:solidFill>
            <a:srgbClr val="1C7293"/>
          </a:solidFill>
          <a:ln/>
        </p:spPr>
      </p:sp>
      <p:sp>
        <p:nvSpPr>
          <p:cNvPr id="26" name="Text 23"/>
          <p:cNvSpPr/>
          <p:nvPr/>
        </p:nvSpPr>
        <p:spPr>
          <a:xfrm>
            <a:off x="6473952" y="4005072"/>
            <a:ext cx="1097280" cy="237744"/>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US$ 40 a 80</a:t>
            </a:r>
            <a:endParaRPr lang="en-US" sz="1050" dirty="0"/>
          </a:p>
        </p:txBody>
      </p:sp>
      <p:sp>
        <p:nvSpPr>
          <p:cNvPr id="27"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28" name="Text 25"/>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Fontes: DronePower (Energy Summit 2025) e UAV Imaging (comparativo drone e helicóptero)</a:t>
            </a:r>
            <a:endParaRPr lang="en-US" sz="750" dirty="0"/>
          </a:p>
        </p:txBody>
      </p:sp>
      <p:sp>
        <p:nvSpPr>
          <p:cNvPr id="29" name="Text 26"/>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drone resolve a coleta e cria um novo gargalo</a:t>
            </a:r>
            <a:endParaRPr lang="en-US" sz="2800" dirty="0"/>
          </a:p>
        </p:txBody>
      </p:sp>
      <p:pic>
        <p:nvPicPr>
          <p:cNvPr id="4" name="Image 0" descr="preencoded.png">    </p:cNvPr>
          <p:cNvPicPr>
            <a:picLocks noChangeAspect="1"/>
          </p:cNvPicPr>
          <p:nvPr/>
        </p:nvPicPr>
        <p:blipFill>
          <a:blip r:embed="rId1"/>
          <a:stretch>
            <a:fillRect/>
          </a:stretch>
        </p:blipFill>
        <p:spPr>
          <a:xfrm>
            <a:off x="502920" y="1188720"/>
            <a:ext cx="4983480" cy="2501910"/>
          </a:xfrm>
          <a:prstGeom prst="rect">
            <a:avLst/>
          </a:prstGeom>
        </p:spPr>
      </p:pic>
      <p:sp>
        <p:nvSpPr>
          <p:cNvPr id="5" name="Text 2"/>
          <p:cNvSpPr/>
          <p:nvPr/>
        </p:nvSpPr>
        <p:spPr>
          <a:xfrm>
            <a:off x="502920" y="3749040"/>
            <a:ext cx="498348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Amostra das imagens produzidas em campanhas de inspeção por drone da CPFL</a:t>
            </a:r>
            <a:endParaRPr lang="en-US" sz="950" dirty="0"/>
          </a:p>
        </p:txBody>
      </p:sp>
      <p:sp>
        <p:nvSpPr>
          <p:cNvPr id="6" name="Shape 3"/>
          <p:cNvSpPr/>
          <p:nvPr/>
        </p:nvSpPr>
        <p:spPr>
          <a:xfrm>
            <a:off x="5760720" y="1188720"/>
            <a:ext cx="2880360" cy="1234440"/>
          </a:xfrm>
          <a:prstGeom prst="roundRect">
            <a:avLst>
              <a:gd name="adj" fmla="val 5185"/>
            </a:avLst>
          </a:prstGeom>
          <a:solidFill>
            <a:srgbClr val="F1F4F7"/>
          </a:solidFill>
          <a:ln w="9525">
            <a:solidFill>
              <a:srgbClr val="E4EAF0"/>
            </a:solidFill>
            <a:prstDash val="solid"/>
          </a:ln>
        </p:spPr>
      </p:sp>
      <p:sp>
        <p:nvSpPr>
          <p:cNvPr id="7" name="Text 4"/>
          <p:cNvSpPr/>
          <p:nvPr/>
        </p:nvSpPr>
        <p:spPr>
          <a:xfrm>
            <a:off x="5943600" y="1298448"/>
            <a:ext cx="2560320" cy="274320"/>
          </a:xfrm>
          <a:prstGeom prst="rect">
            <a:avLst/>
          </a:prstGeom>
          <a:noFill/>
          <a:ln/>
        </p:spPr>
        <p:txBody>
          <a:bodyPr wrap="square" lIns="0" tIns="0" rIns="0" bIns="0" rtlCol="0" anchor="ctr"/>
          <a:lstStyle/>
          <a:p>
            <a:pPr indent="0" marL="0">
              <a:buNone/>
            </a:pPr>
            <a:r>
              <a:rPr lang="en-US" sz="1350" b="1" dirty="0">
                <a:solidFill>
                  <a:srgbClr val="5C6F80"/>
                </a:solidFill>
                <a:latin typeface="Calibri" pitchFamily="34" charset="0"/>
                <a:ea typeface="Calibri" pitchFamily="34" charset="-122"/>
                <a:cs typeface="Calibri" pitchFamily="34" charset="-120"/>
              </a:rPr>
              <a:t>Análise manual</a:t>
            </a:r>
            <a:endParaRPr lang="en-US" sz="1350" dirty="0"/>
          </a:p>
        </p:txBody>
      </p:sp>
      <p:sp>
        <p:nvSpPr>
          <p:cNvPr id="8" name="Text 5"/>
          <p:cNvSpPr/>
          <p:nvPr/>
        </p:nvSpPr>
        <p:spPr>
          <a:xfrm>
            <a:off x="5943600" y="1609344"/>
            <a:ext cx="2560320" cy="68580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Imagem por imagem, lenta e sujeita ao cansaço</a:t>
            </a:r>
            <a:endParaRPr lang="en-US" sz="1150" dirty="0"/>
          </a:p>
        </p:txBody>
      </p:sp>
      <p:sp>
        <p:nvSpPr>
          <p:cNvPr id="9" name="Text 6"/>
          <p:cNvSpPr/>
          <p:nvPr/>
        </p:nvSpPr>
        <p:spPr>
          <a:xfrm>
            <a:off x="5760720" y="2487168"/>
            <a:ext cx="2880360" cy="274320"/>
          </a:xfrm>
          <a:prstGeom prst="rect">
            <a:avLst/>
          </a:prstGeom>
          <a:noFill/>
          <a:ln/>
        </p:spPr>
        <p:txBody>
          <a:bodyPr wrap="square" lIns="0" tIns="0" rIns="0" bIns="0" rtlCol="0" anchor="ctr"/>
          <a:lstStyle/>
          <a:p>
            <a:pPr algn="ctr" indent="0" marL="0">
              <a:buNone/>
            </a:pPr>
            <a:r>
              <a:rPr lang="en-US" sz="1400" dirty="0">
                <a:solidFill>
                  <a:srgbClr val="F5A54A"/>
                </a:solidFill>
                <a:latin typeface="Calibri" pitchFamily="34" charset="0"/>
                <a:ea typeface="Calibri" pitchFamily="34" charset="-122"/>
                <a:cs typeface="Calibri" pitchFamily="34" charset="-120"/>
              </a:rPr>
              <a:t>▼</a:t>
            </a:r>
            <a:endParaRPr lang="en-US" sz="1400" dirty="0"/>
          </a:p>
        </p:txBody>
      </p:sp>
      <p:sp>
        <p:nvSpPr>
          <p:cNvPr id="10" name="Shape 7"/>
          <p:cNvSpPr/>
          <p:nvPr/>
        </p:nvSpPr>
        <p:spPr>
          <a:xfrm>
            <a:off x="5760720" y="2816352"/>
            <a:ext cx="2880360" cy="1234440"/>
          </a:xfrm>
          <a:prstGeom prst="roundRect">
            <a:avLst>
              <a:gd name="adj" fmla="val 5185"/>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8"/>
          <p:cNvSpPr/>
          <p:nvPr/>
        </p:nvSpPr>
        <p:spPr>
          <a:xfrm>
            <a:off x="5943600" y="2926080"/>
            <a:ext cx="2560320" cy="274320"/>
          </a:xfrm>
          <a:prstGeom prst="rect">
            <a:avLst/>
          </a:prstGeom>
          <a:noFill/>
          <a:ln/>
        </p:spPr>
        <p:txBody>
          <a:bodyPr wrap="square" lIns="0" tIns="0" rIns="0" bIns="0" rtlCol="0" anchor="ctr"/>
          <a:lstStyle/>
          <a:p>
            <a:pPr indent="0" marL="0">
              <a:buNone/>
            </a:pPr>
            <a:r>
              <a:rPr lang="en-US" sz="1350" b="1" dirty="0">
                <a:solidFill>
                  <a:srgbClr val="F5A54A"/>
                </a:solidFill>
                <a:latin typeface="Calibri" pitchFamily="34" charset="0"/>
                <a:ea typeface="Calibri" pitchFamily="34" charset="-122"/>
                <a:cs typeface="Calibri" pitchFamily="34" charset="-120"/>
              </a:rPr>
              <a:t>Triagem por IA</a:t>
            </a:r>
            <a:endParaRPr lang="en-US" sz="1350" dirty="0"/>
          </a:p>
        </p:txBody>
      </p:sp>
      <p:sp>
        <p:nvSpPr>
          <p:cNvPr id="12" name="Text 9"/>
          <p:cNvSpPr/>
          <p:nvPr/>
        </p:nvSpPr>
        <p:spPr>
          <a:xfrm>
            <a:off x="5943600" y="3236976"/>
            <a:ext cx="2560320" cy="68580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O especialista revisa só as imagens suspeitas</a:t>
            </a:r>
            <a:endParaRPr lang="en-US" sz="1150" dirty="0"/>
          </a:p>
        </p:txBody>
      </p:sp>
      <p:sp>
        <p:nvSpPr>
          <p:cNvPr id="13" name="Text 10"/>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4" name="Text 11"/>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PROPOSTA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 IA só é tão boa quanto a imagem que recebe</a:t>
            </a:r>
            <a:endParaRPr lang="en-US" sz="2800" dirty="0"/>
          </a:p>
        </p:txBody>
      </p:sp>
      <p:pic>
        <p:nvPicPr>
          <p:cNvPr id="4" name="Image 0" descr="preencoded.png">    </p:cNvPr>
          <p:cNvPicPr>
            <a:picLocks noChangeAspect="1"/>
          </p:cNvPicPr>
          <p:nvPr/>
        </p:nvPicPr>
        <p:blipFill>
          <a:blip r:embed="rId1"/>
          <a:stretch>
            <a:fillRect/>
          </a:stretch>
        </p:blipFill>
        <p:spPr>
          <a:xfrm>
            <a:off x="502920" y="1280160"/>
            <a:ext cx="1783080" cy="1337310"/>
          </a:xfrm>
          <a:prstGeom prst="rect">
            <a:avLst/>
          </a:prstGeom>
        </p:spPr>
      </p:pic>
      <p:sp>
        <p:nvSpPr>
          <p:cNvPr id="5" name="Text 2"/>
          <p:cNvSpPr/>
          <p:nvPr/>
        </p:nvSpPr>
        <p:spPr>
          <a:xfrm>
            <a:off x="502920"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Aquisição</a:t>
            </a:r>
            <a:endParaRPr lang="en-US" sz="1300" dirty="0"/>
          </a:p>
        </p:txBody>
      </p:sp>
      <p:sp>
        <p:nvSpPr>
          <p:cNvPr id="6" name="Text 3"/>
          <p:cNvSpPr/>
          <p:nvPr/>
        </p:nvSpPr>
        <p:spPr>
          <a:xfrm>
            <a:off x="502920"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Drone em campo</a:t>
            </a:r>
            <a:endParaRPr lang="en-US" sz="1050" dirty="0"/>
          </a:p>
        </p:txBody>
      </p:sp>
      <p:sp>
        <p:nvSpPr>
          <p:cNvPr id="7" name="Text 4"/>
          <p:cNvSpPr/>
          <p:nvPr/>
        </p:nvSpPr>
        <p:spPr>
          <a:xfrm>
            <a:off x="2286000"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8" name="Image 1" descr="preencoded.png">    </p:cNvPr>
          <p:cNvPicPr>
            <a:picLocks noChangeAspect="1"/>
          </p:cNvPicPr>
          <p:nvPr/>
        </p:nvPicPr>
        <p:blipFill>
          <a:blip r:embed="rId2"/>
          <a:stretch>
            <a:fillRect/>
          </a:stretch>
        </p:blipFill>
        <p:spPr>
          <a:xfrm>
            <a:off x="2624328" y="1280160"/>
            <a:ext cx="1783080" cy="1337310"/>
          </a:xfrm>
          <a:prstGeom prst="rect">
            <a:avLst/>
          </a:prstGeom>
        </p:spPr>
      </p:pic>
      <p:sp>
        <p:nvSpPr>
          <p:cNvPr id="9" name="Shape 5"/>
          <p:cNvSpPr/>
          <p:nvPr/>
        </p:nvSpPr>
        <p:spPr>
          <a:xfrm>
            <a:off x="2624328" y="1280160"/>
            <a:ext cx="1783080" cy="1337310"/>
          </a:xfrm>
          <a:prstGeom prst="rect">
            <a:avLst/>
          </a:prstGeom>
          <a:ln w="44450">
            <a:solidFill>
              <a:srgbClr val="F5A54A"/>
            </a:solidFill>
            <a:prstDash val="solid"/>
          </a:ln>
        </p:spPr>
      </p:sp>
      <p:sp>
        <p:nvSpPr>
          <p:cNvPr id="10" name="Text 6"/>
          <p:cNvSpPr/>
          <p:nvPr/>
        </p:nvSpPr>
        <p:spPr>
          <a:xfrm>
            <a:off x="2624328" y="2743200"/>
            <a:ext cx="1783080" cy="274320"/>
          </a:xfrm>
          <a:prstGeom prst="rect">
            <a:avLst/>
          </a:prstGeom>
          <a:noFill/>
          <a:ln/>
        </p:spPr>
        <p:txBody>
          <a:bodyPr wrap="square" lIns="0" tIns="0" rIns="0" bIns="0" rtlCol="0" anchor="ctr"/>
          <a:lstStyle/>
          <a:p>
            <a:pPr algn="ctr" indent="0" marL="0">
              <a:buNone/>
            </a:pPr>
            <a:r>
              <a:rPr lang="en-US" sz="1300" b="1" dirty="0">
                <a:solidFill>
                  <a:srgbClr val="F5A54A"/>
                </a:solidFill>
                <a:latin typeface="Calibri" pitchFamily="34" charset="0"/>
                <a:ea typeface="Calibri" pitchFamily="34" charset="-122"/>
                <a:cs typeface="Calibri" pitchFamily="34" charset="-120"/>
              </a:rPr>
              <a:t>Pré-processamento</a:t>
            </a:r>
            <a:endParaRPr lang="en-US" sz="1300" dirty="0"/>
          </a:p>
        </p:txBody>
      </p:sp>
      <p:sp>
        <p:nvSpPr>
          <p:cNvPr id="11" name="Text 7"/>
          <p:cNvSpPr/>
          <p:nvPr/>
        </p:nvSpPr>
        <p:spPr>
          <a:xfrm>
            <a:off x="2624328"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Tratamento da imagem</a:t>
            </a:r>
            <a:endParaRPr lang="en-US" sz="1050" dirty="0"/>
          </a:p>
        </p:txBody>
      </p:sp>
      <p:sp>
        <p:nvSpPr>
          <p:cNvPr id="12" name="Text 8"/>
          <p:cNvSpPr/>
          <p:nvPr/>
        </p:nvSpPr>
        <p:spPr>
          <a:xfrm>
            <a:off x="4407408"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13" name="Image 2" descr="preencoded.png">    </p:cNvPr>
          <p:cNvPicPr>
            <a:picLocks noChangeAspect="1"/>
          </p:cNvPicPr>
          <p:nvPr/>
        </p:nvPicPr>
        <p:blipFill>
          <a:blip r:embed="rId3"/>
          <a:stretch>
            <a:fillRect/>
          </a:stretch>
        </p:blipFill>
        <p:spPr>
          <a:xfrm>
            <a:off x="4745736" y="1280160"/>
            <a:ext cx="1783080" cy="1337310"/>
          </a:xfrm>
          <a:prstGeom prst="rect">
            <a:avLst/>
          </a:prstGeom>
        </p:spPr>
      </p:pic>
      <p:sp>
        <p:nvSpPr>
          <p:cNvPr id="14" name="Text 9"/>
          <p:cNvSpPr/>
          <p:nvPr/>
        </p:nvSpPr>
        <p:spPr>
          <a:xfrm>
            <a:off x="4745736"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Modelo</a:t>
            </a:r>
            <a:endParaRPr lang="en-US" sz="1300" dirty="0"/>
          </a:p>
        </p:txBody>
      </p:sp>
      <p:sp>
        <p:nvSpPr>
          <p:cNvPr id="15" name="Text 10"/>
          <p:cNvSpPr/>
          <p:nvPr/>
        </p:nvSpPr>
        <p:spPr>
          <a:xfrm>
            <a:off x="4745736"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Rede neural</a:t>
            </a:r>
            <a:endParaRPr lang="en-US" sz="1050" dirty="0"/>
          </a:p>
        </p:txBody>
      </p:sp>
      <p:sp>
        <p:nvSpPr>
          <p:cNvPr id="16" name="Text 11"/>
          <p:cNvSpPr/>
          <p:nvPr/>
        </p:nvSpPr>
        <p:spPr>
          <a:xfrm>
            <a:off x="6528816"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17" name="Image 3" descr="preencoded.png">    </p:cNvPr>
          <p:cNvPicPr>
            <a:picLocks noChangeAspect="1"/>
          </p:cNvPicPr>
          <p:nvPr/>
        </p:nvPicPr>
        <p:blipFill>
          <a:blip r:embed="rId4"/>
          <a:stretch>
            <a:fillRect/>
          </a:stretch>
        </p:blipFill>
        <p:spPr>
          <a:xfrm>
            <a:off x="6867144" y="1280160"/>
            <a:ext cx="1783080" cy="1337310"/>
          </a:xfrm>
          <a:prstGeom prst="rect">
            <a:avLst/>
          </a:prstGeom>
        </p:spPr>
      </p:pic>
      <p:sp>
        <p:nvSpPr>
          <p:cNvPr id="18" name="Text 12"/>
          <p:cNvSpPr/>
          <p:nvPr/>
        </p:nvSpPr>
        <p:spPr>
          <a:xfrm>
            <a:off x="6867144"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Diagnóstico</a:t>
            </a:r>
            <a:endParaRPr lang="en-US" sz="1300" dirty="0"/>
          </a:p>
        </p:txBody>
      </p:sp>
      <p:sp>
        <p:nvSpPr>
          <p:cNvPr id="19" name="Text 13"/>
          <p:cNvSpPr/>
          <p:nvPr/>
        </p:nvSpPr>
        <p:spPr>
          <a:xfrm>
            <a:off x="6867144"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Com falha ou sem falha</a:t>
            </a:r>
            <a:endParaRPr lang="en-US" sz="1050" dirty="0"/>
          </a:p>
        </p:txBody>
      </p:sp>
      <p:sp>
        <p:nvSpPr>
          <p:cNvPr id="20" name="Shape 14"/>
          <p:cNvSpPr/>
          <p:nvPr/>
        </p:nvSpPr>
        <p:spPr>
          <a:xfrm>
            <a:off x="2807208" y="3328416"/>
            <a:ext cx="1417320" cy="292608"/>
          </a:xfrm>
          <a:prstGeom prst="roundRect">
            <a:avLst>
              <a:gd name="adj" fmla="val 25000"/>
            </a:avLst>
          </a:prstGeom>
          <a:solidFill>
            <a:srgbClr val="F5A54A"/>
          </a:solidFill>
          <a:ln/>
        </p:spPr>
      </p:sp>
      <p:sp>
        <p:nvSpPr>
          <p:cNvPr id="21" name="Text 15"/>
          <p:cNvSpPr/>
          <p:nvPr/>
        </p:nvSpPr>
        <p:spPr>
          <a:xfrm>
            <a:off x="2807208" y="3328416"/>
            <a:ext cx="1417320" cy="292608"/>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Foco deste trabalho</a:t>
            </a:r>
            <a:endParaRPr lang="en-US" sz="1000" dirty="0"/>
          </a:p>
        </p:txBody>
      </p:sp>
      <p:sp>
        <p:nvSpPr>
          <p:cNvPr id="22" name="Shape 16"/>
          <p:cNvSpPr/>
          <p:nvPr/>
        </p:nvSpPr>
        <p:spPr>
          <a:xfrm>
            <a:off x="502920" y="3840480"/>
            <a:ext cx="8138160" cy="621792"/>
          </a:xfrm>
          <a:prstGeom prst="roundRect">
            <a:avLst>
              <a:gd name="adj" fmla="val 1029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3" name="Text 17"/>
          <p:cNvSpPr/>
          <p:nvPr/>
        </p:nvSpPr>
        <p:spPr>
          <a:xfrm>
            <a:off x="777240" y="3840480"/>
            <a:ext cx="7589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Mesma foto, tratamentos diferentes, desempenhos muito diferentes.</a:t>
            </a:r>
            <a:endParaRPr lang="en-US" sz="150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ESTADO DA ARTE</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 literatura não chega a um acordo</a:t>
            </a:r>
            <a:endParaRPr lang="en-US" sz="2800" dirty="0"/>
          </a:p>
        </p:txBody>
      </p:sp>
      <p:sp>
        <p:nvSpPr>
          <p:cNvPr id="4" name="Shape 2"/>
          <p:cNvSpPr/>
          <p:nvPr/>
        </p:nvSpPr>
        <p:spPr>
          <a:xfrm>
            <a:off x="502920" y="1234440"/>
            <a:ext cx="2606040" cy="2514600"/>
          </a:xfrm>
          <a:prstGeom prst="roundRect">
            <a:avLst>
              <a:gd name="adj" fmla="val 2545"/>
            </a:avLst>
          </a:prstGeom>
          <a:solidFill>
            <a:srgbClr val="F1F4F7"/>
          </a:solidFill>
          <a:ln w="9525">
            <a:solidFill>
              <a:srgbClr val="E4EAF0"/>
            </a:solidFill>
            <a:prstDash val="solid"/>
          </a:ln>
        </p:spPr>
      </p:sp>
      <p:sp>
        <p:nvSpPr>
          <p:cNvPr id="5" name="Shape 3"/>
          <p:cNvSpPr/>
          <p:nvPr/>
        </p:nvSpPr>
        <p:spPr>
          <a:xfrm>
            <a:off x="1389888" y="1463040"/>
            <a:ext cx="822960" cy="822960"/>
          </a:xfrm>
          <a:prstGeom prst="ellipse">
            <a:avLst/>
          </a:prstGeom>
          <a:solidFill>
            <a:srgbClr val="5C6F80"/>
          </a:solidFill>
          <a:ln w="12700">
            <a:solidFill>
              <a:srgbClr val="5C6F80"/>
            </a:solidFill>
            <a:prstDash val="solid"/>
          </a:ln>
        </p:spPr>
      </p:sp>
      <p:sp>
        <p:nvSpPr>
          <p:cNvPr id="6" name="Text 4"/>
          <p:cNvSpPr/>
          <p:nvPr/>
        </p:nvSpPr>
        <p:spPr>
          <a:xfrm>
            <a:off x="1389888" y="146304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7" name="Text 5"/>
          <p:cNvSpPr/>
          <p:nvPr/>
        </p:nvSpPr>
        <p:spPr>
          <a:xfrm>
            <a:off x="640080" y="2423160"/>
            <a:ext cx="2331720" cy="292608"/>
          </a:xfrm>
          <a:prstGeom prst="rect">
            <a:avLst/>
          </a:prstGeom>
          <a:noFill/>
          <a:ln/>
        </p:spPr>
        <p:txBody>
          <a:bodyPr wrap="square" lIns="0" tIns="0" rIns="0" bIns="0" rtlCol="0" anchor="ctr"/>
          <a:lstStyle/>
          <a:p>
            <a:pPr algn="ctr" indent="0" marL="0">
              <a:buNone/>
            </a:pPr>
            <a:r>
              <a:rPr lang="en-US" sz="1400" b="1" dirty="0">
                <a:solidFill>
                  <a:srgbClr val="1B2A3A"/>
                </a:solidFill>
                <a:latin typeface="Calibri" pitchFamily="34" charset="0"/>
                <a:ea typeface="Calibri" pitchFamily="34" charset="-122"/>
                <a:cs typeface="Calibri" pitchFamily="34" charset="-120"/>
              </a:rPr>
              <a:t>Sem efeito relevante</a:t>
            </a:r>
            <a:endParaRPr lang="en-US" sz="1400" dirty="0"/>
          </a:p>
        </p:txBody>
      </p:sp>
      <p:sp>
        <p:nvSpPr>
          <p:cNvPr id="8" name="Text 6"/>
          <p:cNvSpPr/>
          <p:nvPr/>
        </p:nvSpPr>
        <p:spPr>
          <a:xfrm>
            <a:off x="64008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Liu et al. (2021)</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Wang et al. (2023)</a:t>
            </a:r>
            <a:endParaRPr lang="en-US" sz="1150" dirty="0"/>
          </a:p>
        </p:txBody>
      </p:sp>
      <p:sp>
        <p:nvSpPr>
          <p:cNvPr id="9" name="Shape 7"/>
          <p:cNvSpPr/>
          <p:nvPr/>
        </p:nvSpPr>
        <p:spPr>
          <a:xfrm>
            <a:off x="3291840" y="1234440"/>
            <a:ext cx="2606040" cy="2514600"/>
          </a:xfrm>
          <a:prstGeom prst="roundRect">
            <a:avLst>
              <a:gd name="adj" fmla="val 2545"/>
            </a:avLst>
          </a:prstGeom>
          <a:solidFill>
            <a:srgbClr val="F1F4F7"/>
          </a:solidFill>
          <a:ln w="9525">
            <a:solidFill>
              <a:srgbClr val="E4EAF0"/>
            </a:solidFill>
            <a:prstDash val="solid"/>
          </a:ln>
        </p:spPr>
      </p:sp>
      <p:sp>
        <p:nvSpPr>
          <p:cNvPr id="10" name="Shape 8"/>
          <p:cNvSpPr/>
          <p:nvPr/>
        </p:nvSpPr>
        <p:spPr>
          <a:xfrm>
            <a:off x="4178808" y="1463040"/>
            <a:ext cx="822960" cy="822960"/>
          </a:xfrm>
          <a:prstGeom prst="ellipse">
            <a:avLst/>
          </a:prstGeom>
          <a:solidFill>
            <a:srgbClr val="1C7293"/>
          </a:solidFill>
          <a:ln w="12700">
            <a:solidFill>
              <a:srgbClr val="1C7293"/>
            </a:solidFill>
            <a:prstDash val="solid"/>
          </a:ln>
        </p:spPr>
      </p:sp>
      <p:sp>
        <p:nvSpPr>
          <p:cNvPr id="11" name="Text 9"/>
          <p:cNvSpPr/>
          <p:nvPr/>
        </p:nvSpPr>
        <p:spPr>
          <a:xfrm>
            <a:off x="4178808" y="146304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12" name="Text 10"/>
          <p:cNvSpPr/>
          <p:nvPr/>
        </p:nvSpPr>
        <p:spPr>
          <a:xfrm>
            <a:off x="3429000" y="2423160"/>
            <a:ext cx="2331720" cy="292608"/>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Melhora o desempenho</a:t>
            </a:r>
            <a:endParaRPr lang="en-US" sz="1400" dirty="0"/>
          </a:p>
        </p:txBody>
      </p:sp>
      <p:sp>
        <p:nvSpPr>
          <p:cNvPr id="13" name="Text 11"/>
          <p:cNvSpPr/>
          <p:nvPr/>
        </p:nvSpPr>
        <p:spPr>
          <a:xfrm>
            <a:off x="342900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Zhang et al. (2022)</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Salvi et al. (2021)</a:t>
            </a:r>
            <a:endParaRPr lang="en-US" sz="1150" dirty="0"/>
          </a:p>
        </p:txBody>
      </p:sp>
      <p:sp>
        <p:nvSpPr>
          <p:cNvPr id="14" name="Shape 12"/>
          <p:cNvSpPr/>
          <p:nvPr/>
        </p:nvSpPr>
        <p:spPr>
          <a:xfrm>
            <a:off x="6080760" y="1234440"/>
            <a:ext cx="2606040" cy="2514600"/>
          </a:xfrm>
          <a:prstGeom prst="roundRect">
            <a:avLst>
              <a:gd name="adj" fmla="val 2545"/>
            </a:avLst>
          </a:prstGeom>
          <a:solidFill>
            <a:srgbClr val="F1F4F7"/>
          </a:solidFill>
          <a:ln w="9525">
            <a:solidFill>
              <a:srgbClr val="E4EAF0"/>
            </a:solidFill>
            <a:prstDash val="solid"/>
          </a:ln>
        </p:spPr>
      </p:sp>
      <p:sp>
        <p:nvSpPr>
          <p:cNvPr id="15" name="Shape 13"/>
          <p:cNvSpPr/>
          <p:nvPr/>
        </p:nvSpPr>
        <p:spPr>
          <a:xfrm>
            <a:off x="6967728" y="1463040"/>
            <a:ext cx="822960" cy="822960"/>
          </a:xfrm>
          <a:prstGeom prst="ellipse">
            <a:avLst/>
          </a:prstGeom>
          <a:solidFill>
            <a:srgbClr val="F5A54A"/>
          </a:solidFill>
          <a:ln w="12700">
            <a:solidFill>
              <a:srgbClr val="F5A54A"/>
            </a:solidFill>
            <a:prstDash val="solid"/>
          </a:ln>
        </p:spPr>
      </p:sp>
      <p:sp>
        <p:nvSpPr>
          <p:cNvPr id="16" name="Text 14"/>
          <p:cNvSpPr/>
          <p:nvPr/>
        </p:nvSpPr>
        <p:spPr>
          <a:xfrm>
            <a:off x="6967728" y="1463040"/>
            <a:ext cx="822960" cy="822960"/>
          </a:xfrm>
          <a:prstGeom prst="rect">
            <a:avLst/>
          </a:prstGeom>
          <a:noFill/>
          <a:ln/>
        </p:spPr>
        <p:txBody>
          <a:bodyPr wrap="square" lIns="0" tIns="0" rIns="0" bIns="0" rtlCol="0" anchor="ctr"/>
          <a:lstStyle/>
          <a:p>
            <a:pPr algn="ctr" indent="0" marL="0">
              <a:buNone/>
            </a:pPr>
            <a:r>
              <a:rPr lang="en-US" sz="2600" b="1" dirty="0">
                <a:solidFill>
                  <a:srgbClr val="12263A"/>
                </a:solidFill>
                <a:latin typeface="Calibri" pitchFamily="34" charset="0"/>
                <a:ea typeface="Calibri" pitchFamily="34" charset="-122"/>
                <a:cs typeface="Calibri" pitchFamily="34" charset="-120"/>
              </a:rPr>
              <a:t>▼</a:t>
            </a:r>
            <a:endParaRPr lang="en-US" sz="2600" dirty="0"/>
          </a:p>
        </p:txBody>
      </p:sp>
      <p:sp>
        <p:nvSpPr>
          <p:cNvPr id="17" name="Text 15"/>
          <p:cNvSpPr/>
          <p:nvPr/>
        </p:nvSpPr>
        <p:spPr>
          <a:xfrm>
            <a:off x="6217920" y="2423160"/>
            <a:ext cx="2331720" cy="292608"/>
          </a:xfrm>
          <a:prstGeom prst="rect">
            <a:avLst/>
          </a:prstGeom>
          <a:noFill/>
          <a:ln/>
        </p:spPr>
        <p:txBody>
          <a:bodyPr wrap="square" lIns="0" tIns="0" rIns="0" bIns="0" rtlCol="0" anchor="ctr"/>
          <a:lstStyle/>
          <a:p>
            <a:pPr algn="ctr" indent="0" marL="0">
              <a:buNone/>
            </a:pPr>
            <a:r>
              <a:rPr lang="en-US" sz="1400" b="1" dirty="0">
                <a:solidFill>
                  <a:srgbClr val="F5A54A"/>
                </a:solidFill>
                <a:latin typeface="Calibri" pitchFamily="34" charset="0"/>
                <a:ea typeface="Calibri" pitchFamily="34" charset="-122"/>
                <a:cs typeface="Calibri" pitchFamily="34" charset="-120"/>
              </a:rPr>
              <a:t>Pode piorar</a:t>
            </a:r>
            <a:endParaRPr lang="en-US" sz="1400" dirty="0"/>
          </a:p>
        </p:txBody>
      </p:sp>
      <p:sp>
        <p:nvSpPr>
          <p:cNvPr id="18" name="Text 16"/>
          <p:cNvSpPr/>
          <p:nvPr/>
        </p:nvSpPr>
        <p:spPr>
          <a:xfrm>
            <a:off x="621792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Öztürk e Akdemir (2018)</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Rodrigues et al. (2020)</a:t>
            </a:r>
            <a:endParaRPr lang="en-US" sz="1150" dirty="0"/>
          </a:p>
        </p:txBody>
      </p:sp>
      <p:sp>
        <p:nvSpPr>
          <p:cNvPr id="19" name="Shape 17"/>
          <p:cNvSpPr/>
          <p:nvPr/>
        </p:nvSpPr>
        <p:spPr>
          <a:xfrm>
            <a:off x="502920" y="3931920"/>
            <a:ext cx="813816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3931920"/>
            <a:ext cx="758952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Nenhum trabalho propõe como escolher o tratamento em um caso novo.</a:t>
            </a:r>
            <a:endParaRPr lang="en-US" sz="1500" dirty="0"/>
          </a:p>
        </p:txBody>
      </p:sp>
      <p:sp>
        <p:nvSpPr>
          <p:cNvPr id="21" name="Text 1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2" name="Text 2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43000"/>
            <a:ext cx="2834640" cy="2834640"/>
          </a:xfrm>
          <a:prstGeom prst="rect">
            <a:avLst/>
          </a:prstGeom>
        </p:spPr>
      </p:pic>
      <p:sp>
        <p:nvSpPr>
          <p:cNvPr id="3" name="Text 0"/>
          <p:cNvSpPr/>
          <p:nvPr/>
        </p:nvSpPr>
        <p:spPr>
          <a:xfrm>
            <a:off x="502920" y="274320"/>
            <a:ext cx="502920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OBJETIVO</a:t>
            </a:r>
            <a:endParaRPr lang="en-US" sz="1050" dirty="0"/>
          </a:p>
        </p:txBody>
      </p:sp>
      <p:sp>
        <p:nvSpPr>
          <p:cNvPr id="4" name="Text 1"/>
          <p:cNvSpPr/>
          <p:nvPr/>
        </p:nvSpPr>
        <p:spPr>
          <a:xfrm>
            <a:off x="502920" y="512064"/>
            <a:ext cx="5029200" cy="9144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O que falta não é técnica, é critério</a:t>
            </a:r>
            <a:endParaRPr lang="en-US" sz="2600" dirty="0"/>
          </a:p>
        </p:txBody>
      </p:sp>
      <p:sp>
        <p:nvSpPr>
          <p:cNvPr id="5" name="Shape 2"/>
          <p:cNvSpPr/>
          <p:nvPr/>
        </p:nvSpPr>
        <p:spPr>
          <a:xfrm>
            <a:off x="502920" y="1481328"/>
            <a:ext cx="5029200" cy="1783080"/>
          </a:xfrm>
          <a:prstGeom prst="roundRect">
            <a:avLst>
              <a:gd name="adj" fmla="val 3590"/>
            </a:avLst>
          </a:prstGeom>
          <a:solidFill>
            <a:srgbClr val="1C3550"/>
          </a:solidFill>
          <a:ln w="9525">
            <a:solidFill>
              <a:srgbClr val="145A75"/>
            </a:solidFill>
            <a:prstDash val="solid"/>
          </a:ln>
        </p:spPr>
      </p:sp>
      <p:sp>
        <p:nvSpPr>
          <p:cNvPr id="6" name="Text 3"/>
          <p:cNvSpPr/>
          <p:nvPr/>
        </p:nvSpPr>
        <p:spPr>
          <a:xfrm>
            <a:off x="758952" y="1600200"/>
            <a:ext cx="4526280" cy="1554480"/>
          </a:xfrm>
          <a:prstGeom prst="rect">
            <a:avLst/>
          </a:prstGeom>
          <a:noFill/>
          <a:ln/>
        </p:spPr>
        <p:txBody>
          <a:bodyPr wrap="square" lIns="0" tIns="0" rIns="0" bIns="0" rtlCol="0" anchor="ctr"/>
          <a:lstStyle/>
          <a:p>
            <a:pPr indent="0" marL="0">
              <a:lnSpc>
                <a:spcPct val="108000"/>
              </a:lnSpc>
              <a:buNone/>
            </a:pPr>
            <a:r>
              <a:rPr lang="en-US" sz="1500" b="1" dirty="0">
                <a:solidFill>
                  <a:srgbClr val="FFFFFF"/>
                </a:solidFill>
                <a:latin typeface="Cambria" pitchFamily="34" charset="0"/>
                <a:ea typeface="Cambria" pitchFamily="34" charset="-122"/>
                <a:cs typeface="Cambria" pitchFamily="34" charset="-120"/>
              </a:rPr>
              <a:t>Desenvolver uma metodologia para comparar, selecionar, combinar e aprimorar técnicas de processamento de imagem na detecção e classificação de falhas em cadeias de isoladores.</a:t>
            </a:r>
            <a:endParaRPr lang="en-US" sz="1500" dirty="0"/>
          </a:p>
        </p:txBody>
      </p:sp>
      <p:sp>
        <p:nvSpPr>
          <p:cNvPr id="7" name="Shape 4"/>
          <p:cNvSpPr/>
          <p:nvPr/>
        </p:nvSpPr>
        <p:spPr>
          <a:xfrm>
            <a:off x="502920" y="3520440"/>
            <a:ext cx="1170432" cy="457200"/>
          </a:xfrm>
          <a:prstGeom prst="roundRect">
            <a:avLst>
              <a:gd name="adj" fmla="val 20000"/>
            </a:avLst>
          </a:prstGeom>
          <a:solidFill>
            <a:srgbClr val="12263A"/>
          </a:solidFill>
          <a:ln w="12700">
            <a:solidFill>
              <a:srgbClr val="F5A54A"/>
            </a:solidFill>
            <a:prstDash val="solid"/>
          </a:ln>
        </p:spPr>
      </p:sp>
      <p:sp>
        <p:nvSpPr>
          <p:cNvPr id="8" name="Text 5"/>
          <p:cNvSpPr/>
          <p:nvPr/>
        </p:nvSpPr>
        <p:spPr>
          <a:xfrm>
            <a:off x="50292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Comparar</a:t>
            </a:r>
            <a:endParaRPr lang="en-US" sz="1150" dirty="0"/>
          </a:p>
        </p:txBody>
      </p:sp>
      <p:sp>
        <p:nvSpPr>
          <p:cNvPr id="9" name="Shape 6"/>
          <p:cNvSpPr/>
          <p:nvPr/>
        </p:nvSpPr>
        <p:spPr>
          <a:xfrm>
            <a:off x="1783080" y="3520440"/>
            <a:ext cx="1170432" cy="457200"/>
          </a:xfrm>
          <a:prstGeom prst="roundRect">
            <a:avLst>
              <a:gd name="adj" fmla="val 20000"/>
            </a:avLst>
          </a:prstGeom>
          <a:solidFill>
            <a:srgbClr val="12263A"/>
          </a:solidFill>
          <a:ln w="12700">
            <a:solidFill>
              <a:srgbClr val="F5A54A"/>
            </a:solidFill>
            <a:prstDash val="solid"/>
          </a:ln>
        </p:spPr>
      </p:sp>
      <p:sp>
        <p:nvSpPr>
          <p:cNvPr id="10" name="Text 7"/>
          <p:cNvSpPr/>
          <p:nvPr/>
        </p:nvSpPr>
        <p:spPr>
          <a:xfrm>
            <a:off x="178308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Selecionar</a:t>
            </a:r>
            <a:endParaRPr lang="en-US" sz="1150" dirty="0"/>
          </a:p>
        </p:txBody>
      </p:sp>
      <p:sp>
        <p:nvSpPr>
          <p:cNvPr id="11" name="Shape 8"/>
          <p:cNvSpPr/>
          <p:nvPr/>
        </p:nvSpPr>
        <p:spPr>
          <a:xfrm>
            <a:off x="3063240" y="3520440"/>
            <a:ext cx="1170432" cy="457200"/>
          </a:xfrm>
          <a:prstGeom prst="roundRect">
            <a:avLst>
              <a:gd name="adj" fmla="val 20000"/>
            </a:avLst>
          </a:prstGeom>
          <a:solidFill>
            <a:srgbClr val="12263A"/>
          </a:solidFill>
          <a:ln w="12700">
            <a:solidFill>
              <a:srgbClr val="F5A54A"/>
            </a:solidFill>
            <a:prstDash val="solid"/>
          </a:ln>
        </p:spPr>
      </p:sp>
      <p:sp>
        <p:nvSpPr>
          <p:cNvPr id="12" name="Text 9"/>
          <p:cNvSpPr/>
          <p:nvPr/>
        </p:nvSpPr>
        <p:spPr>
          <a:xfrm>
            <a:off x="306324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Combinar</a:t>
            </a:r>
            <a:endParaRPr lang="en-US" sz="1150" dirty="0"/>
          </a:p>
        </p:txBody>
      </p:sp>
      <p:sp>
        <p:nvSpPr>
          <p:cNvPr id="13" name="Shape 10"/>
          <p:cNvSpPr/>
          <p:nvPr/>
        </p:nvSpPr>
        <p:spPr>
          <a:xfrm>
            <a:off x="4343400" y="3520440"/>
            <a:ext cx="1170432" cy="457200"/>
          </a:xfrm>
          <a:prstGeom prst="roundRect">
            <a:avLst>
              <a:gd name="adj" fmla="val 20000"/>
            </a:avLst>
          </a:prstGeom>
          <a:solidFill>
            <a:srgbClr val="12263A"/>
          </a:solidFill>
          <a:ln w="12700">
            <a:solidFill>
              <a:srgbClr val="F5A54A"/>
            </a:solidFill>
            <a:prstDash val="solid"/>
          </a:ln>
        </p:spPr>
      </p:sp>
      <p:sp>
        <p:nvSpPr>
          <p:cNvPr id="14" name="Text 11"/>
          <p:cNvSpPr/>
          <p:nvPr/>
        </p:nvSpPr>
        <p:spPr>
          <a:xfrm>
            <a:off x="434340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Aprimorar</a:t>
            </a:r>
            <a:endParaRPr lang="en-US" sz="115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Proposta</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Um fluxo iterativo, do dado à decisão</a:t>
            </a:r>
            <a:endParaRPr lang="en-US" sz="28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603504"/>
          </a:xfrm>
          <a:prstGeom prst="roundRect">
            <a:avLst>
              <a:gd name="adj" fmla="val 10606"/>
            </a:avLst>
          </a:prstGeom>
          <a:solidFill>
            <a:srgbClr val="F1F4F7"/>
          </a:solidFill>
          <a:ln w="9525">
            <a:solidFill>
              <a:srgbClr val="E4EAF0"/>
            </a:solidFill>
            <a:prstDash val="solid"/>
          </a:ln>
        </p:spPr>
      </p:sp>
      <p:sp>
        <p:nvSpPr>
          <p:cNvPr id="7" name="Shape 4"/>
          <p:cNvSpPr/>
          <p:nvPr/>
        </p:nvSpPr>
        <p:spPr>
          <a:xfrm>
            <a:off x="2414016" y="1325880"/>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258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6"/>
          <p:cNvSpPr/>
          <p:nvPr/>
        </p:nvSpPr>
        <p:spPr>
          <a:xfrm>
            <a:off x="2834640" y="118872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Seleção e validação do dataset</a:t>
            </a:r>
            <a:endParaRPr lang="en-US" sz="1200" dirty="0"/>
          </a:p>
        </p:txBody>
      </p:sp>
      <p:sp>
        <p:nvSpPr>
          <p:cNvPr id="10" name="Shape 7"/>
          <p:cNvSpPr/>
          <p:nvPr/>
        </p:nvSpPr>
        <p:spPr>
          <a:xfrm>
            <a:off x="5577840" y="1188720"/>
            <a:ext cx="3108960" cy="603504"/>
          </a:xfrm>
          <a:prstGeom prst="roundRect">
            <a:avLst>
              <a:gd name="adj" fmla="val 10606"/>
            </a:avLst>
          </a:prstGeom>
          <a:solidFill>
            <a:srgbClr val="F1F4F7"/>
          </a:solidFill>
          <a:ln w="9525">
            <a:solidFill>
              <a:srgbClr val="E4EAF0"/>
            </a:solidFill>
            <a:prstDash val="solid"/>
          </a:ln>
        </p:spPr>
      </p:sp>
      <p:sp>
        <p:nvSpPr>
          <p:cNvPr id="11" name="Shape 8"/>
          <p:cNvSpPr/>
          <p:nvPr/>
        </p:nvSpPr>
        <p:spPr>
          <a:xfrm>
            <a:off x="5705856" y="1325880"/>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258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0"/>
          <p:cNvSpPr/>
          <p:nvPr/>
        </p:nvSpPr>
        <p:spPr>
          <a:xfrm>
            <a:off x="6126480" y="118872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Pré-processamento</a:t>
            </a:r>
            <a:endParaRPr lang="en-US" sz="1200" dirty="0"/>
          </a:p>
        </p:txBody>
      </p:sp>
      <p:sp>
        <p:nvSpPr>
          <p:cNvPr id="14" name="Shape 11"/>
          <p:cNvSpPr/>
          <p:nvPr/>
        </p:nvSpPr>
        <p:spPr>
          <a:xfrm>
            <a:off x="2286000" y="1920240"/>
            <a:ext cx="3108960" cy="603504"/>
          </a:xfrm>
          <a:prstGeom prst="roundRect">
            <a:avLst>
              <a:gd name="adj" fmla="val 10606"/>
            </a:avLst>
          </a:prstGeom>
          <a:solidFill>
            <a:srgbClr val="F1F4F7"/>
          </a:solidFill>
          <a:ln w="9525">
            <a:solidFill>
              <a:srgbClr val="E4EAF0"/>
            </a:solidFill>
            <a:prstDash val="solid"/>
          </a:ln>
        </p:spPr>
      </p:sp>
      <p:sp>
        <p:nvSpPr>
          <p:cNvPr id="15" name="Shape 12"/>
          <p:cNvSpPr/>
          <p:nvPr/>
        </p:nvSpPr>
        <p:spPr>
          <a:xfrm>
            <a:off x="2414016" y="205740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205740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4"/>
          <p:cNvSpPr/>
          <p:nvPr/>
        </p:nvSpPr>
        <p:spPr>
          <a:xfrm>
            <a:off x="2834640" y="192024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Ajuste de parâmetros</a:t>
            </a:r>
            <a:endParaRPr lang="en-US" sz="1200" dirty="0"/>
          </a:p>
        </p:txBody>
      </p:sp>
      <p:sp>
        <p:nvSpPr>
          <p:cNvPr id="18" name="Shape 15"/>
          <p:cNvSpPr/>
          <p:nvPr/>
        </p:nvSpPr>
        <p:spPr>
          <a:xfrm>
            <a:off x="5577840" y="1920240"/>
            <a:ext cx="3108960" cy="603504"/>
          </a:xfrm>
          <a:prstGeom prst="roundRect">
            <a:avLst>
              <a:gd name="adj" fmla="val 10606"/>
            </a:avLst>
          </a:prstGeom>
          <a:solidFill>
            <a:srgbClr val="F1F4F7"/>
          </a:solidFill>
          <a:ln w="9525">
            <a:solidFill>
              <a:srgbClr val="E4EAF0"/>
            </a:solidFill>
            <a:prstDash val="solid"/>
          </a:ln>
        </p:spPr>
      </p:sp>
      <p:sp>
        <p:nvSpPr>
          <p:cNvPr id="19" name="Shape 16"/>
          <p:cNvSpPr/>
          <p:nvPr/>
        </p:nvSpPr>
        <p:spPr>
          <a:xfrm>
            <a:off x="5705856" y="205740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205740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1" name="Text 18"/>
          <p:cNvSpPr/>
          <p:nvPr/>
        </p:nvSpPr>
        <p:spPr>
          <a:xfrm>
            <a:off x="6126480" y="192024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Escolha e construção do modelo</a:t>
            </a:r>
            <a:endParaRPr lang="en-US" sz="1200" dirty="0"/>
          </a:p>
        </p:txBody>
      </p:sp>
      <p:sp>
        <p:nvSpPr>
          <p:cNvPr id="22" name="Shape 19"/>
          <p:cNvSpPr/>
          <p:nvPr/>
        </p:nvSpPr>
        <p:spPr>
          <a:xfrm>
            <a:off x="2286000" y="2651760"/>
            <a:ext cx="3108960" cy="603504"/>
          </a:xfrm>
          <a:prstGeom prst="roundRect">
            <a:avLst>
              <a:gd name="adj" fmla="val 10606"/>
            </a:avLst>
          </a:prstGeom>
          <a:solidFill>
            <a:srgbClr val="F1F4F7"/>
          </a:solidFill>
          <a:ln w="9525">
            <a:solidFill>
              <a:srgbClr val="E4EAF0"/>
            </a:solidFill>
            <a:prstDash val="solid"/>
          </a:ln>
        </p:spPr>
      </p:sp>
      <p:sp>
        <p:nvSpPr>
          <p:cNvPr id="23" name="Shape 20"/>
          <p:cNvSpPr/>
          <p:nvPr/>
        </p:nvSpPr>
        <p:spPr>
          <a:xfrm>
            <a:off x="2414016" y="2788920"/>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78892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5" name="Text 22"/>
          <p:cNvSpPr/>
          <p:nvPr/>
        </p:nvSpPr>
        <p:spPr>
          <a:xfrm>
            <a:off x="2834640" y="265176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Treinamento</a:t>
            </a:r>
            <a:endParaRPr lang="en-US" sz="1200" dirty="0"/>
          </a:p>
        </p:txBody>
      </p:sp>
      <p:sp>
        <p:nvSpPr>
          <p:cNvPr id="26" name="Shape 23"/>
          <p:cNvSpPr/>
          <p:nvPr/>
        </p:nvSpPr>
        <p:spPr>
          <a:xfrm>
            <a:off x="5577840" y="2651760"/>
            <a:ext cx="3108960" cy="603504"/>
          </a:xfrm>
          <a:prstGeom prst="roundRect">
            <a:avLst>
              <a:gd name="adj" fmla="val 10606"/>
            </a:avLst>
          </a:prstGeom>
          <a:solidFill>
            <a:srgbClr val="F1F4F7"/>
          </a:solidFill>
          <a:ln w="9525">
            <a:solidFill>
              <a:srgbClr val="E4EAF0"/>
            </a:solidFill>
            <a:prstDash val="solid"/>
          </a:ln>
        </p:spPr>
      </p:sp>
      <p:sp>
        <p:nvSpPr>
          <p:cNvPr id="27" name="Shape 24"/>
          <p:cNvSpPr/>
          <p:nvPr/>
        </p:nvSpPr>
        <p:spPr>
          <a:xfrm>
            <a:off x="5705856" y="2788920"/>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788920"/>
            <a:ext cx="329184" cy="329184"/>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6</a:t>
            </a:r>
            <a:endParaRPr lang="en-US" sz="1000" dirty="0"/>
          </a:p>
        </p:txBody>
      </p:sp>
      <p:sp>
        <p:nvSpPr>
          <p:cNvPr id="29" name="Text 26"/>
          <p:cNvSpPr/>
          <p:nvPr/>
        </p:nvSpPr>
        <p:spPr>
          <a:xfrm>
            <a:off x="6126480" y="265176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Avaliação e ajustes</a:t>
            </a:r>
            <a:endParaRPr lang="en-US" sz="1200" dirty="0"/>
          </a:p>
        </p:txBody>
      </p:sp>
      <p:sp>
        <p:nvSpPr>
          <p:cNvPr id="30" name="Shape 27"/>
          <p:cNvSpPr/>
          <p:nvPr/>
        </p:nvSpPr>
        <p:spPr>
          <a:xfrm>
            <a:off x="2286000" y="3520440"/>
            <a:ext cx="640080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514600" y="3520440"/>
            <a:ext cx="6035040" cy="914400"/>
          </a:xfrm>
          <a:prstGeom prst="rect">
            <a:avLst/>
          </a:prstGeom>
          <a:noFill/>
          <a:ln/>
        </p:spPr>
        <p:txBody>
          <a:bodyPr wrap="square" lIns="0" tIns="0" rIns="0" bIns="0" rtlCol="0" anchor="ctr"/>
          <a:lstStyle/>
          <a:p>
            <a:pPr indent="0" marL="0">
              <a:buNone/>
            </a:pPr>
            <a:r>
              <a:rPr lang="en-US" sz="2200" b="1" dirty="0">
                <a:solidFill>
                  <a:srgbClr val="F5A54A"/>
                </a:solidFill>
                <a:latin typeface="Calibri" pitchFamily="34" charset="0"/>
                <a:ea typeface="Calibri" pitchFamily="34" charset="-122"/>
                <a:cs typeface="Calibri" pitchFamily="34" charset="-120"/>
              </a:rPr>
              <a:t>↺  </a:t>
            </a:r>
            <a:pPr indent="0" marL="0">
              <a:buNone/>
            </a:pPr>
            <a:r>
              <a:rPr lang="en-US" sz="1350" dirty="0">
                <a:solidFill>
                  <a:srgbClr val="FFFFFF"/>
                </a:solidFill>
                <a:latin typeface="Calibri" pitchFamily="34" charset="0"/>
                <a:ea typeface="Calibri" pitchFamily="34" charset="-122"/>
                <a:cs typeface="Calibri" pitchFamily="34" charset="-120"/>
              </a:rPr>
              <a:t>Se o desempenho não atende, o fluxo volta ao pré-processamento e ao modelo.</a:t>
            </a:r>
            <a:endParaRPr lang="en-US" sz="2200" dirty="0"/>
          </a:p>
        </p:txBody>
      </p:sp>
      <p:sp>
        <p:nvSpPr>
          <p:cNvPr id="32" name="Text 2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33" name="Text 3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Quatro decisões conduzem o fluxo</a:t>
            </a:r>
            <a:endParaRPr lang="en-US" sz="28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331720" y="1225296"/>
            <a:ext cx="457200" cy="457200"/>
          </a:xfrm>
          <a:prstGeom prst="diamond">
            <a:avLst/>
          </a:prstGeom>
          <a:solidFill>
            <a:srgbClr val="1C7293"/>
          </a:solidFill>
          <a:ln/>
        </p:spPr>
      </p:sp>
      <p:sp>
        <p:nvSpPr>
          <p:cNvPr id="7" name="Text 4"/>
          <p:cNvSpPr/>
          <p:nvPr/>
        </p:nvSpPr>
        <p:spPr>
          <a:xfrm>
            <a:off x="2331720" y="122529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2971800" y="1188720"/>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Dataset está balanceado?</a:t>
            </a:r>
            <a:endParaRPr lang="en-US" sz="1500" dirty="0"/>
          </a:p>
        </p:txBody>
      </p:sp>
      <p:sp>
        <p:nvSpPr>
          <p:cNvPr id="9" name="Shape 6"/>
          <p:cNvSpPr/>
          <p:nvPr/>
        </p:nvSpPr>
        <p:spPr>
          <a:xfrm>
            <a:off x="2331720" y="1883664"/>
            <a:ext cx="457200" cy="457200"/>
          </a:xfrm>
          <a:prstGeom prst="diamond">
            <a:avLst/>
          </a:prstGeom>
          <a:solidFill>
            <a:srgbClr val="1C7293"/>
          </a:solidFill>
          <a:ln/>
        </p:spPr>
      </p:sp>
      <p:sp>
        <p:nvSpPr>
          <p:cNvPr id="10" name="Text 7"/>
          <p:cNvSpPr/>
          <p:nvPr/>
        </p:nvSpPr>
        <p:spPr>
          <a:xfrm>
            <a:off x="2331720" y="1883664"/>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2971800" y="1847088"/>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Combinar técnicas?</a:t>
            </a:r>
            <a:endParaRPr lang="en-US" sz="1500" dirty="0"/>
          </a:p>
        </p:txBody>
      </p:sp>
      <p:sp>
        <p:nvSpPr>
          <p:cNvPr id="12" name="Shape 9"/>
          <p:cNvSpPr/>
          <p:nvPr/>
        </p:nvSpPr>
        <p:spPr>
          <a:xfrm>
            <a:off x="2331720" y="2542032"/>
            <a:ext cx="457200" cy="457200"/>
          </a:xfrm>
          <a:prstGeom prst="diamond">
            <a:avLst/>
          </a:prstGeom>
          <a:solidFill>
            <a:srgbClr val="1C7293"/>
          </a:solidFill>
          <a:ln/>
        </p:spPr>
      </p:sp>
      <p:sp>
        <p:nvSpPr>
          <p:cNvPr id="13" name="Text 10"/>
          <p:cNvSpPr/>
          <p:nvPr/>
        </p:nvSpPr>
        <p:spPr>
          <a:xfrm>
            <a:off x="2331720" y="2542032"/>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1"/>
          <p:cNvSpPr/>
          <p:nvPr/>
        </p:nvSpPr>
        <p:spPr>
          <a:xfrm>
            <a:off x="2971800" y="2505456"/>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Tipo de tarefa?</a:t>
            </a:r>
            <a:endParaRPr lang="en-US" sz="1500" dirty="0"/>
          </a:p>
        </p:txBody>
      </p:sp>
      <p:sp>
        <p:nvSpPr>
          <p:cNvPr id="15" name="Shape 12"/>
          <p:cNvSpPr/>
          <p:nvPr/>
        </p:nvSpPr>
        <p:spPr>
          <a:xfrm>
            <a:off x="2331720" y="3200400"/>
            <a:ext cx="457200" cy="457200"/>
          </a:xfrm>
          <a:prstGeom prst="diamond">
            <a:avLst/>
          </a:prstGeom>
          <a:solidFill>
            <a:srgbClr val="F5A54A"/>
          </a:solidFill>
          <a:ln/>
        </p:spPr>
      </p:sp>
      <p:sp>
        <p:nvSpPr>
          <p:cNvPr id="16" name="Text 13"/>
          <p:cNvSpPr/>
          <p:nvPr/>
        </p:nvSpPr>
        <p:spPr>
          <a:xfrm>
            <a:off x="2331720" y="3200400"/>
            <a:ext cx="457200" cy="457200"/>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4</a:t>
            </a:r>
            <a:endParaRPr lang="en-US" sz="1100" dirty="0"/>
          </a:p>
        </p:txBody>
      </p:sp>
      <p:sp>
        <p:nvSpPr>
          <p:cNvPr id="17" name="Text 14"/>
          <p:cNvSpPr/>
          <p:nvPr/>
        </p:nvSpPr>
        <p:spPr>
          <a:xfrm>
            <a:off x="2971800" y="3163824"/>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Desempenho satisfatório?</a:t>
            </a:r>
            <a:endParaRPr lang="en-US" sz="1500" dirty="0"/>
          </a:p>
        </p:txBody>
      </p:sp>
      <p:sp>
        <p:nvSpPr>
          <p:cNvPr id="18" name="Shape 15"/>
          <p:cNvSpPr/>
          <p:nvPr/>
        </p:nvSpPr>
        <p:spPr>
          <a:xfrm>
            <a:off x="2286000" y="3931920"/>
            <a:ext cx="6400800" cy="566928"/>
          </a:xfrm>
          <a:prstGeom prst="roundRect">
            <a:avLst>
              <a:gd name="adj" fmla="val 11290"/>
            </a:avLst>
          </a:prstGeom>
          <a:solidFill>
            <a:srgbClr val="F1F4F7"/>
          </a:solidFill>
          <a:ln w="9525">
            <a:solidFill>
              <a:srgbClr val="E4EAF0"/>
            </a:solidFill>
            <a:prstDash val="solid"/>
          </a:ln>
        </p:spPr>
      </p:sp>
      <p:sp>
        <p:nvSpPr>
          <p:cNvPr id="19" name="Text 16"/>
          <p:cNvSpPr/>
          <p:nvPr/>
        </p:nvSpPr>
        <p:spPr>
          <a:xfrm>
            <a:off x="2468880" y="3931920"/>
            <a:ext cx="6035040" cy="566928"/>
          </a:xfrm>
          <a:prstGeom prst="rect">
            <a:avLst/>
          </a:prstGeom>
          <a:noFill/>
          <a:ln/>
        </p:spPr>
        <p:txBody>
          <a:bodyPr wrap="square" lIns="0" tIns="0" rIns="0" bIns="0" rtlCol="0" anchor="ctr"/>
          <a:lstStyle/>
          <a:p>
            <a:pPr indent="0" marL="0">
              <a:buNone/>
            </a:pPr>
            <a:r>
              <a:rPr lang="en-US" sz="1150" i="1" dirty="0">
                <a:solidFill>
                  <a:srgbClr val="1B2A3A"/>
                </a:solidFill>
                <a:latin typeface="Calibri" pitchFamily="34" charset="0"/>
                <a:ea typeface="Calibri" pitchFamily="34" charset="-122"/>
                <a:cs typeface="Calibri" pitchFamily="34" charset="-120"/>
              </a:rPr>
              <a:t>Caminho deste trabalho: dados desbalanceados, técnicas isoladas e combinadas, classificação, ajuste automático.</a:t>
            </a:r>
            <a:endParaRPr lang="en-US" sz="1150" dirty="0"/>
          </a:p>
        </p:txBody>
      </p:sp>
      <p:sp>
        <p:nvSpPr>
          <p:cNvPr id="20"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1"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MATERIAIS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Dois cenários reais de inspeção de linhas</a:t>
            </a:r>
            <a:endParaRPr lang="en-US" sz="2800" dirty="0"/>
          </a:p>
        </p:txBody>
      </p:sp>
      <p:pic>
        <p:nvPicPr>
          <p:cNvPr id="4" name="Image 0" descr="preencoded.png">    </p:cNvPr>
          <p:cNvPicPr>
            <a:picLocks noChangeAspect="1"/>
          </p:cNvPicPr>
          <p:nvPr/>
        </p:nvPicPr>
        <p:blipFill>
          <a:blip r:embed="rId1"/>
          <a:stretch>
            <a:fillRect/>
          </a:stretch>
        </p:blipFill>
        <p:spPr>
          <a:xfrm>
            <a:off x="502920" y="1188720"/>
            <a:ext cx="3931920" cy="1828800"/>
          </a:xfrm>
          <a:prstGeom prst="rect">
            <a:avLst/>
          </a:prstGeom>
        </p:spPr>
      </p:pic>
      <p:sp>
        <p:nvSpPr>
          <p:cNvPr id="5" name="Text 2"/>
          <p:cNvSpPr/>
          <p:nvPr/>
        </p:nvSpPr>
        <p:spPr>
          <a:xfrm>
            <a:off x="502920" y="3127248"/>
            <a:ext cx="3931920" cy="329184"/>
          </a:xfrm>
          <a:prstGeom prst="rect">
            <a:avLst/>
          </a:prstGeom>
          <a:noFill/>
          <a:ln/>
        </p:spPr>
        <p:txBody>
          <a:bodyPr wrap="square" lIns="0" tIns="0" rIns="0" bIns="0" rtlCol="0" anchor="ctr"/>
          <a:lstStyle/>
          <a:p>
            <a:pPr indent="0" marL="0">
              <a:buNone/>
            </a:pPr>
            <a:r>
              <a:rPr lang="en-US" sz="1800" b="1" dirty="0">
                <a:solidFill>
                  <a:srgbClr val="1C7293"/>
                </a:solidFill>
                <a:latin typeface="Cambria" pitchFamily="34" charset="0"/>
                <a:ea typeface="Cambria" pitchFamily="34" charset="-122"/>
                <a:cs typeface="Cambria" pitchFamily="34" charset="-120"/>
              </a:rPr>
              <a:t>CPLID</a:t>
            </a:r>
            <a:endParaRPr lang="en-US" sz="1800" dirty="0"/>
          </a:p>
        </p:txBody>
      </p:sp>
      <p:sp>
        <p:nvSpPr>
          <p:cNvPr id="6" name="Text 3"/>
          <p:cNvSpPr/>
          <p:nvPr/>
        </p:nvSpPr>
        <p:spPr>
          <a:xfrm>
            <a:off x="521208" y="3493008"/>
            <a:ext cx="3886200" cy="9601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Linhas de transmissão com isoladores cerâmicos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Defeito estrutural: disco ausente ou fraturado</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721 imagens, fundo homogêneo</a:t>
            </a:r>
            <a:endParaRPr lang="en-US" sz="1150" dirty="0"/>
          </a:p>
        </p:txBody>
      </p:sp>
      <p:pic>
        <p:nvPicPr>
          <p:cNvPr id="7" name="Image 1" descr="preencoded.png">    </p:cNvPr>
          <p:cNvPicPr>
            <a:picLocks noChangeAspect="1"/>
          </p:cNvPicPr>
          <p:nvPr/>
        </p:nvPicPr>
        <p:blipFill>
          <a:blip r:embed="rId2"/>
          <a:stretch>
            <a:fillRect/>
          </a:stretch>
        </p:blipFill>
        <p:spPr>
          <a:xfrm>
            <a:off x="4709160" y="1188720"/>
            <a:ext cx="3931920" cy="1828800"/>
          </a:xfrm>
          <a:prstGeom prst="rect">
            <a:avLst/>
          </a:prstGeom>
        </p:spPr>
      </p:pic>
      <p:sp>
        <p:nvSpPr>
          <p:cNvPr id="8" name="Text 4"/>
          <p:cNvSpPr/>
          <p:nvPr/>
        </p:nvSpPr>
        <p:spPr>
          <a:xfrm>
            <a:off x="4709160" y="3127248"/>
            <a:ext cx="3931920" cy="329184"/>
          </a:xfrm>
          <a:prstGeom prst="rect">
            <a:avLst/>
          </a:prstGeom>
          <a:noFill/>
          <a:ln/>
        </p:spPr>
        <p:txBody>
          <a:bodyPr wrap="square" lIns="0" tIns="0" rIns="0" bIns="0" rtlCol="0" anchor="ctr"/>
          <a:lstStyle/>
          <a:p>
            <a:pPr indent="0" marL="0">
              <a:buNone/>
            </a:pPr>
            <a:r>
              <a:rPr lang="en-US" sz="1800" b="1" dirty="0">
                <a:solidFill>
                  <a:srgbClr val="F5A54A"/>
                </a:solidFill>
                <a:latin typeface="Cambria" pitchFamily="34" charset="0"/>
                <a:ea typeface="Cambria" pitchFamily="34" charset="-122"/>
                <a:cs typeface="Cambria" pitchFamily="34" charset="-120"/>
              </a:rPr>
              <a:t>DRNPW</a:t>
            </a:r>
            <a:endParaRPr lang="en-US" sz="1800" dirty="0"/>
          </a:p>
        </p:txBody>
      </p:sp>
      <p:sp>
        <p:nvSpPr>
          <p:cNvPr id="9" name="Text 5"/>
          <p:cNvSpPr/>
          <p:nvPr/>
        </p:nvSpPr>
        <p:spPr>
          <a:xfrm>
            <a:off x="4727448" y="3493008"/>
            <a:ext cx="3886200" cy="9601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Inspeção por drone da CPFL em operação real</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Fundo com vegetação, estradas e construções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585 imagens, fortemente desbalanceado</a:t>
            </a:r>
            <a:endParaRPr lang="en-US" sz="11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Foto à direita: inspeção por drone da CPFL, ilustrativa do cenário DRNPW</a:t>
            </a:r>
            <a:endParaRPr lang="en-US"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PRÉ-PROCESSAMENTO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que cada tratamento faz com a imagem</a:t>
            </a:r>
            <a:endParaRPr lang="en-US" sz="2800" dirty="0"/>
          </a:p>
        </p:txBody>
      </p:sp>
      <p:pic>
        <p:nvPicPr>
          <p:cNvPr id="4" name="Image 0" descr="preencoded.png">    </p:cNvPr>
          <p:cNvPicPr>
            <a:picLocks noChangeAspect="1"/>
          </p:cNvPicPr>
          <p:nvPr/>
        </p:nvPicPr>
        <p:blipFill>
          <a:blip r:embed="rId1"/>
          <a:stretch>
            <a:fillRect/>
          </a:stretch>
        </p:blipFill>
        <p:spPr>
          <a:xfrm>
            <a:off x="502920" y="1115568"/>
            <a:ext cx="1920240" cy="1440180"/>
          </a:xfrm>
          <a:prstGeom prst="rect">
            <a:avLst/>
          </a:prstGeom>
        </p:spPr>
      </p:pic>
      <p:sp>
        <p:nvSpPr>
          <p:cNvPr id="5" name="Text 2"/>
          <p:cNvSpPr/>
          <p:nvPr/>
        </p:nvSpPr>
        <p:spPr>
          <a:xfrm>
            <a:off x="502920" y="258318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Imagem original</a:t>
            </a:r>
            <a:endParaRPr lang="en-US" sz="1050" dirty="0"/>
          </a:p>
        </p:txBody>
      </p:sp>
      <p:pic>
        <p:nvPicPr>
          <p:cNvPr id="6" name="Image 1" descr="preencoded.png">    </p:cNvPr>
          <p:cNvPicPr>
            <a:picLocks noChangeAspect="1"/>
          </p:cNvPicPr>
          <p:nvPr/>
        </p:nvPicPr>
        <p:blipFill>
          <a:blip r:embed="rId2"/>
          <a:stretch>
            <a:fillRect/>
          </a:stretch>
        </p:blipFill>
        <p:spPr>
          <a:xfrm>
            <a:off x="2606040" y="1115568"/>
            <a:ext cx="1920240" cy="1440180"/>
          </a:xfrm>
          <a:prstGeom prst="rect">
            <a:avLst/>
          </a:prstGeom>
        </p:spPr>
      </p:pic>
      <p:sp>
        <p:nvSpPr>
          <p:cNvPr id="7" name="Shape 3"/>
          <p:cNvSpPr/>
          <p:nvPr/>
        </p:nvSpPr>
        <p:spPr>
          <a:xfrm>
            <a:off x="2606040" y="1115568"/>
            <a:ext cx="1920240" cy="1440180"/>
          </a:xfrm>
          <a:prstGeom prst="rect">
            <a:avLst/>
          </a:prstGeom>
          <a:ln w="38100">
            <a:solidFill>
              <a:srgbClr val="F5A54A"/>
            </a:solidFill>
            <a:prstDash val="solid"/>
          </a:ln>
        </p:spPr>
      </p:sp>
      <p:sp>
        <p:nvSpPr>
          <p:cNvPr id="8" name="Text 4"/>
          <p:cNvSpPr/>
          <p:nvPr/>
        </p:nvSpPr>
        <p:spPr>
          <a:xfrm>
            <a:off x="2606040" y="2583180"/>
            <a:ext cx="192024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Realce de contraste</a:t>
            </a:r>
            <a:endParaRPr lang="en-US" sz="1050" dirty="0"/>
          </a:p>
        </p:txBody>
      </p:sp>
      <p:pic>
        <p:nvPicPr>
          <p:cNvPr id="9" name="Image 2" descr="preencoded.png">    </p:cNvPr>
          <p:cNvPicPr>
            <a:picLocks noChangeAspect="1"/>
          </p:cNvPicPr>
          <p:nvPr/>
        </p:nvPicPr>
        <p:blipFill>
          <a:blip r:embed="rId3"/>
          <a:stretch>
            <a:fillRect/>
          </a:stretch>
        </p:blipFill>
        <p:spPr>
          <a:xfrm>
            <a:off x="4709160" y="1115568"/>
            <a:ext cx="1920240" cy="1440180"/>
          </a:xfrm>
          <a:prstGeom prst="rect">
            <a:avLst/>
          </a:prstGeom>
        </p:spPr>
      </p:pic>
      <p:sp>
        <p:nvSpPr>
          <p:cNvPr id="10" name="Text 5"/>
          <p:cNvSpPr/>
          <p:nvPr/>
        </p:nvSpPr>
        <p:spPr>
          <a:xfrm>
            <a:off x="4709160" y="258318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Equalização de histograma</a:t>
            </a:r>
            <a:endParaRPr lang="en-US" sz="1050" dirty="0"/>
          </a:p>
        </p:txBody>
      </p:sp>
      <p:pic>
        <p:nvPicPr>
          <p:cNvPr id="11" name="Image 3" descr="preencoded.png">    </p:cNvPr>
          <p:cNvPicPr>
            <a:picLocks noChangeAspect="1"/>
          </p:cNvPicPr>
          <p:nvPr/>
        </p:nvPicPr>
        <p:blipFill>
          <a:blip r:embed="rId4"/>
          <a:stretch>
            <a:fillRect/>
          </a:stretch>
        </p:blipFill>
        <p:spPr>
          <a:xfrm>
            <a:off x="502920" y="2921508"/>
            <a:ext cx="1920240" cy="1440180"/>
          </a:xfrm>
          <a:prstGeom prst="rect">
            <a:avLst/>
          </a:prstGeom>
        </p:spPr>
      </p:pic>
      <p:sp>
        <p:nvSpPr>
          <p:cNvPr id="12" name="Text 6"/>
          <p:cNvSpPr/>
          <p:nvPr/>
        </p:nvSpPr>
        <p:spPr>
          <a:xfrm>
            <a:off x="50292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Tons de cinza</a:t>
            </a:r>
            <a:endParaRPr lang="en-US" sz="1050" dirty="0"/>
          </a:p>
        </p:txBody>
      </p:sp>
      <p:pic>
        <p:nvPicPr>
          <p:cNvPr id="13" name="Image 4" descr="preencoded.png">    </p:cNvPr>
          <p:cNvPicPr>
            <a:picLocks noChangeAspect="1"/>
          </p:cNvPicPr>
          <p:nvPr/>
        </p:nvPicPr>
        <p:blipFill>
          <a:blip r:embed="rId5"/>
          <a:stretch>
            <a:fillRect/>
          </a:stretch>
        </p:blipFill>
        <p:spPr>
          <a:xfrm>
            <a:off x="2606040" y="2921508"/>
            <a:ext cx="1920240" cy="1440180"/>
          </a:xfrm>
          <a:prstGeom prst="rect">
            <a:avLst/>
          </a:prstGeom>
        </p:spPr>
      </p:pic>
      <p:sp>
        <p:nvSpPr>
          <p:cNvPr id="14" name="Text 7"/>
          <p:cNvSpPr/>
          <p:nvPr/>
        </p:nvSpPr>
        <p:spPr>
          <a:xfrm>
            <a:off x="260604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Desfoque gaussiano</a:t>
            </a:r>
            <a:endParaRPr lang="en-US" sz="1050" dirty="0"/>
          </a:p>
        </p:txBody>
      </p:sp>
      <p:pic>
        <p:nvPicPr>
          <p:cNvPr id="15" name="Image 5" descr="preencoded.png">    </p:cNvPr>
          <p:cNvPicPr>
            <a:picLocks noChangeAspect="1"/>
          </p:cNvPicPr>
          <p:nvPr/>
        </p:nvPicPr>
        <p:blipFill>
          <a:blip r:embed="rId6"/>
          <a:stretch>
            <a:fillRect/>
          </a:stretch>
        </p:blipFill>
        <p:spPr>
          <a:xfrm>
            <a:off x="4709160" y="2921508"/>
            <a:ext cx="1920240" cy="1440180"/>
          </a:xfrm>
          <a:prstGeom prst="rect">
            <a:avLst/>
          </a:prstGeom>
        </p:spPr>
      </p:pic>
      <p:sp>
        <p:nvSpPr>
          <p:cNvPr id="16" name="Text 8"/>
          <p:cNvSpPr/>
          <p:nvPr/>
        </p:nvSpPr>
        <p:spPr>
          <a:xfrm>
            <a:off x="470916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Detecção de bordas</a:t>
            </a:r>
            <a:endParaRPr lang="en-US" sz="1050" dirty="0"/>
          </a:p>
        </p:txBody>
      </p:sp>
      <p:sp>
        <p:nvSpPr>
          <p:cNvPr id="17" name="Shape 9"/>
          <p:cNvSpPr/>
          <p:nvPr/>
        </p:nvSpPr>
        <p:spPr>
          <a:xfrm>
            <a:off x="6812280" y="1115568"/>
            <a:ext cx="1828800" cy="3474720"/>
          </a:xfrm>
          <a:prstGeom prst="roundRect">
            <a:avLst>
              <a:gd name="adj" fmla="val 35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8" name="Text 10"/>
          <p:cNvSpPr/>
          <p:nvPr/>
        </p:nvSpPr>
        <p:spPr>
          <a:xfrm>
            <a:off x="6812280" y="1325880"/>
            <a:ext cx="1828800" cy="731520"/>
          </a:xfrm>
          <a:prstGeom prst="rect">
            <a:avLst/>
          </a:prstGeom>
          <a:noFill/>
          <a:ln/>
        </p:spPr>
        <p:txBody>
          <a:bodyPr wrap="square" lIns="0" tIns="0" rIns="0" bIns="0" rtlCol="0" anchor="ctr"/>
          <a:lstStyle/>
          <a:p>
            <a:pPr algn="ctr" indent="0" marL="0">
              <a:buNone/>
            </a:pPr>
            <a:r>
              <a:rPr lang="en-US" sz="4400" b="1" dirty="0">
                <a:solidFill>
                  <a:srgbClr val="F5A54A"/>
                </a:solidFill>
                <a:latin typeface="Cambria" pitchFamily="34" charset="0"/>
                <a:ea typeface="Cambria" pitchFamily="34" charset="-122"/>
                <a:cs typeface="Cambria" pitchFamily="34" charset="-120"/>
              </a:rPr>
              <a:t>14</a:t>
            </a:r>
            <a:endParaRPr lang="en-US" sz="4400" dirty="0"/>
          </a:p>
        </p:txBody>
      </p:sp>
      <p:sp>
        <p:nvSpPr>
          <p:cNvPr id="19" name="Text 11"/>
          <p:cNvSpPr/>
          <p:nvPr/>
        </p:nvSpPr>
        <p:spPr>
          <a:xfrm>
            <a:off x="6949440" y="2057400"/>
            <a:ext cx="155448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variantes avaliadas</a:t>
            </a:r>
            <a:endParaRPr lang="en-US" sz="1150" dirty="0"/>
          </a:p>
        </p:txBody>
      </p:sp>
      <p:sp>
        <p:nvSpPr>
          <p:cNvPr id="20" name="Text 12"/>
          <p:cNvSpPr/>
          <p:nvPr/>
        </p:nvSpPr>
        <p:spPr>
          <a:xfrm>
            <a:off x="6949440" y="2514600"/>
            <a:ext cx="1554480" cy="1828800"/>
          </a:xfrm>
          <a:prstGeom prst="rect">
            <a:avLst/>
          </a:prstGeom>
          <a:noFill/>
          <a:ln/>
        </p:spPr>
        <p:txBody>
          <a:bodyPr wrap="square" lIns="0" tIns="0" rIns="0" bIns="0" rtlCol="0" anchor="ctr"/>
          <a:lstStyle/>
          <a:p>
            <a:pPr algn="ctr" indent="0" marL="0">
              <a:buNone/>
            </a:pPr>
            <a:r>
              <a:rPr lang="en-US" sz="2200" b="1" dirty="0">
                <a:solidFill>
                  <a:srgbClr val="5BB4D6"/>
                </a:solidFill>
                <a:latin typeface="Calibri" pitchFamily="34" charset="0"/>
                <a:ea typeface="Calibri" pitchFamily="34" charset="-122"/>
                <a:cs typeface="Calibri" pitchFamily="34" charset="-120"/>
              </a:rPr>
              <a:t>10</a:t>
            </a:r>
            <a:endParaRPr lang="en-US" sz="2200" dirty="0"/>
          </a:p>
          <a:p>
            <a:pPr algn="ctr" indent="0" marL="0">
              <a:buNone/>
            </a:pPr>
            <a:r>
              <a:rPr lang="en-US" sz="1050" dirty="0">
                <a:solidFill>
                  <a:srgbClr val="FFFFFF"/>
                </a:solidFill>
                <a:latin typeface="Calibri" pitchFamily="34" charset="0"/>
                <a:ea typeface="Calibri" pitchFamily="34" charset="-122"/>
                <a:cs typeface="Calibri" pitchFamily="34" charset="-120"/>
              </a:rPr>
              <a:t>técnicas simples</a:t>
            </a:r>
            <a:endParaRPr lang="en-US" sz="2200" dirty="0"/>
          </a:p>
          <a:p>
            <a:pPr algn="ctr" indent="0" marL="0">
              <a:buNone/>
            </a:pPr>
            <a:r>
              <a:rPr lang="en-US" sz="600" dirty="0">
                <a:solidFill>
                  <a:srgbClr val="000000"/>
                </a:solidFill>
                <a:latin typeface="Calibri" pitchFamily="34" charset="0"/>
                <a:ea typeface="Calibri" pitchFamily="34" charset="-122"/>
                <a:cs typeface="Calibri" pitchFamily="34" charset="-120"/>
              </a:rPr>
              <a:t> </a:t>
            </a:r>
            <a:endParaRPr lang="en-US" sz="2200" dirty="0"/>
          </a:p>
          <a:p>
            <a:pPr algn="ctr" indent="0" marL="0">
              <a:buNone/>
            </a:pPr>
            <a:r>
              <a:rPr lang="en-US" sz="2200" b="1" dirty="0">
                <a:solidFill>
                  <a:srgbClr val="5BB4D6"/>
                </a:solidFill>
                <a:latin typeface="Calibri" pitchFamily="34" charset="0"/>
                <a:ea typeface="Calibri" pitchFamily="34" charset="-122"/>
                <a:cs typeface="Calibri" pitchFamily="34" charset="-120"/>
              </a:rPr>
              <a:t>4</a:t>
            </a:r>
            <a:endParaRPr lang="en-US" sz="2200" dirty="0"/>
          </a:p>
          <a:p>
            <a:pPr algn="ctr" indent="0" marL="0">
              <a:buNone/>
            </a:pPr>
            <a:r>
              <a:rPr lang="en-US" sz="1050" dirty="0">
                <a:solidFill>
                  <a:srgbClr val="FFFFFF"/>
                </a:solidFill>
                <a:latin typeface="Calibri" pitchFamily="34" charset="0"/>
                <a:ea typeface="Calibri" pitchFamily="34" charset="-122"/>
                <a:cs typeface="Calibri" pitchFamily="34" charset="-120"/>
              </a:rPr>
              <a:t>combinações</a:t>
            </a:r>
            <a:endParaRPr lang="en-US" sz="2200" dirty="0"/>
          </a:p>
        </p:txBody>
      </p:sp>
      <p:sp>
        <p:nvSpPr>
          <p:cNvPr id="21"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22" name="Text 14"/>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Tratamentos aplicados para ilustração sobre foto de inspeção por drone da CPFL</a:t>
            </a:r>
            <a:endParaRPr lang="en-US" sz="750" dirty="0"/>
          </a:p>
        </p:txBody>
      </p:sp>
      <p:sp>
        <p:nvSpPr>
          <p:cNvPr id="23"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PROTOCOLO EXPERIMENTAL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Uma variável por vez e uma régua de leitura</a:t>
            </a:r>
            <a:endParaRPr lang="en-US" sz="2800" dirty="0"/>
          </a:p>
        </p:txBody>
      </p:sp>
      <p:sp>
        <p:nvSpPr>
          <p:cNvPr id="4" name="Shape 2"/>
          <p:cNvSpPr/>
          <p:nvPr/>
        </p:nvSpPr>
        <p:spPr>
          <a:xfrm>
            <a:off x="502920" y="1188720"/>
            <a:ext cx="1600200" cy="1143000"/>
          </a:xfrm>
          <a:prstGeom prst="roundRect">
            <a:avLst>
              <a:gd name="adj" fmla="val 5600"/>
            </a:avLst>
          </a:prstGeom>
          <a:solidFill>
            <a:srgbClr val="F1F4F7"/>
          </a:solidFill>
          <a:ln w="9525">
            <a:solidFill>
              <a:srgbClr val="E4EAF0"/>
            </a:solidFill>
            <a:prstDash val="solid"/>
          </a:ln>
        </p:spPr>
      </p:sp>
      <p:sp>
        <p:nvSpPr>
          <p:cNvPr id="5" name="Text 3"/>
          <p:cNvSpPr/>
          <p:nvPr/>
        </p:nvSpPr>
        <p:spPr>
          <a:xfrm>
            <a:off x="502920"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14</a:t>
            </a:r>
            <a:endParaRPr lang="en-US" sz="3400" dirty="0"/>
          </a:p>
        </p:txBody>
      </p:sp>
      <p:sp>
        <p:nvSpPr>
          <p:cNvPr id="6" name="Text 4"/>
          <p:cNvSpPr/>
          <p:nvPr/>
        </p:nvSpPr>
        <p:spPr>
          <a:xfrm>
            <a:off x="594360" y="1874520"/>
            <a:ext cx="1417320" cy="36576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tratamentos</a:t>
            </a:r>
            <a:endParaRPr lang="en-US" sz="1100" dirty="0"/>
          </a:p>
        </p:txBody>
      </p:sp>
      <p:sp>
        <p:nvSpPr>
          <p:cNvPr id="7" name="Text 5"/>
          <p:cNvSpPr/>
          <p:nvPr/>
        </p:nvSpPr>
        <p:spPr>
          <a:xfrm>
            <a:off x="2103120"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8" name="Shape 6"/>
          <p:cNvSpPr/>
          <p:nvPr/>
        </p:nvSpPr>
        <p:spPr>
          <a:xfrm>
            <a:off x="2679192" y="1188720"/>
            <a:ext cx="1600200" cy="1143000"/>
          </a:xfrm>
          <a:prstGeom prst="roundRect">
            <a:avLst>
              <a:gd name="adj" fmla="val 5600"/>
            </a:avLst>
          </a:prstGeom>
          <a:solidFill>
            <a:srgbClr val="F1F4F7"/>
          </a:solidFill>
          <a:ln w="9525">
            <a:solidFill>
              <a:srgbClr val="E4EAF0"/>
            </a:solidFill>
            <a:prstDash val="solid"/>
          </a:ln>
        </p:spPr>
      </p:sp>
      <p:sp>
        <p:nvSpPr>
          <p:cNvPr id="9" name="Text 7"/>
          <p:cNvSpPr/>
          <p:nvPr/>
        </p:nvSpPr>
        <p:spPr>
          <a:xfrm>
            <a:off x="2679192"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2</a:t>
            </a:r>
            <a:endParaRPr lang="en-US" sz="3400" dirty="0"/>
          </a:p>
        </p:txBody>
      </p:sp>
      <p:sp>
        <p:nvSpPr>
          <p:cNvPr id="10" name="Text 8"/>
          <p:cNvSpPr/>
          <p:nvPr/>
        </p:nvSpPr>
        <p:spPr>
          <a:xfrm>
            <a:off x="2770632" y="1874520"/>
            <a:ext cx="1417320" cy="36576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cenários</a:t>
            </a:r>
            <a:endParaRPr lang="en-US" sz="1100" dirty="0"/>
          </a:p>
        </p:txBody>
      </p:sp>
      <p:sp>
        <p:nvSpPr>
          <p:cNvPr id="11" name="Text 9"/>
          <p:cNvSpPr/>
          <p:nvPr/>
        </p:nvSpPr>
        <p:spPr>
          <a:xfrm>
            <a:off x="4279392"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12" name="Shape 10"/>
          <p:cNvSpPr/>
          <p:nvPr/>
        </p:nvSpPr>
        <p:spPr>
          <a:xfrm>
            <a:off x="4855464" y="1188720"/>
            <a:ext cx="1600200" cy="1143000"/>
          </a:xfrm>
          <a:prstGeom prst="roundRect">
            <a:avLst>
              <a:gd name="adj" fmla="val 5600"/>
            </a:avLst>
          </a:prstGeom>
          <a:solidFill>
            <a:srgbClr val="F1F4F7"/>
          </a:solidFill>
          <a:ln w="9525">
            <a:solidFill>
              <a:srgbClr val="E4EAF0"/>
            </a:solidFill>
            <a:prstDash val="solid"/>
          </a:ln>
        </p:spPr>
      </p:sp>
      <p:sp>
        <p:nvSpPr>
          <p:cNvPr id="13" name="Text 11"/>
          <p:cNvSpPr/>
          <p:nvPr/>
        </p:nvSpPr>
        <p:spPr>
          <a:xfrm>
            <a:off x="4855464"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2</a:t>
            </a:r>
            <a:endParaRPr lang="en-US" sz="3400" dirty="0"/>
          </a:p>
        </p:txBody>
      </p:sp>
      <p:sp>
        <p:nvSpPr>
          <p:cNvPr id="14" name="Text 12"/>
          <p:cNvSpPr/>
          <p:nvPr/>
        </p:nvSpPr>
        <p:spPr>
          <a:xfrm>
            <a:off x="4946904" y="1874520"/>
            <a:ext cx="1417320" cy="36576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modelos</a:t>
            </a:r>
            <a:endParaRPr lang="en-US" sz="1100" dirty="0"/>
          </a:p>
        </p:txBody>
      </p:sp>
      <p:sp>
        <p:nvSpPr>
          <p:cNvPr id="15" name="Text 13"/>
          <p:cNvSpPr/>
          <p:nvPr/>
        </p:nvSpPr>
        <p:spPr>
          <a:xfrm>
            <a:off x="6455664"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16" name="Shape 14"/>
          <p:cNvSpPr/>
          <p:nvPr/>
        </p:nvSpPr>
        <p:spPr>
          <a:xfrm>
            <a:off x="7031736" y="1188720"/>
            <a:ext cx="1600200" cy="1143000"/>
          </a:xfrm>
          <a:prstGeom prst="roundRect">
            <a:avLst>
              <a:gd name="adj" fmla="val 56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7031736" y="1243584"/>
            <a:ext cx="1600200" cy="640080"/>
          </a:xfrm>
          <a:prstGeom prst="rect">
            <a:avLst/>
          </a:prstGeom>
          <a:noFill/>
          <a:ln/>
        </p:spPr>
        <p:txBody>
          <a:bodyPr wrap="square" lIns="0" tIns="0" rIns="0" bIns="0" rtlCol="0" anchor="ctr"/>
          <a:lstStyle/>
          <a:p>
            <a:pPr algn="ctr" indent="0" marL="0">
              <a:buNone/>
            </a:pPr>
            <a:r>
              <a:rPr lang="en-US" sz="3400" b="1" dirty="0">
                <a:solidFill>
                  <a:srgbClr val="F5A54A"/>
                </a:solidFill>
                <a:latin typeface="Cambria" pitchFamily="34" charset="0"/>
                <a:ea typeface="Cambria" pitchFamily="34" charset="-122"/>
                <a:cs typeface="Cambria" pitchFamily="34" charset="-120"/>
              </a:rPr>
              <a:t>56</a:t>
            </a:r>
            <a:endParaRPr lang="en-US" sz="3400" dirty="0"/>
          </a:p>
        </p:txBody>
      </p:sp>
      <p:sp>
        <p:nvSpPr>
          <p:cNvPr id="18" name="Text 16"/>
          <p:cNvSpPr/>
          <p:nvPr/>
        </p:nvSpPr>
        <p:spPr>
          <a:xfrm>
            <a:off x="7123176" y="1874520"/>
            <a:ext cx="141732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treinamentos completos</a:t>
            </a:r>
            <a:endParaRPr lang="en-US" sz="1100" dirty="0"/>
          </a:p>
        </p:txBody>
      </p:sp>
      <p:sp>
        <p:nvSpPr>
          <p:cNvPr id="19" name="Shape 17"/>
          <p:cNvSpPr/>
          <p:nvPr/>
        </p:nvSpPr>
        <p:spPr>
          <a:xfrm>
            <a:off x="502920" y="2606040"/>
            <a:ext cx="8138160" cy="1828800"/>
          </a:xfrm>
          <a:prstGeom prst="roundRect">
            <a:avLst>
              <a:gd name="adj" fmla="val 3500"/>
            </a:avLst>
          </a:prstGeom>
          <a:solidFill>
            <a:srgbClr val="F1F4F7"/>
          </a:solidFill>
          <a:ln w="9525">
            <a:solidFill>
              <a:srgbClr val="E4EAF0"/>
            </a:solidFill>
            <a:prstDash val="solid"/>
          </a:ln>
        </p:spPr>
      </p:sp>
      <p:sp>
        <p:nvSpPr>
          <p:cNvPr id="20" name="Text 18"/>
          <p:cNvSpPr/>
          <p:nvPr/>
        </p:nvSpPr>
        <p:spPr>
          <a:xfrm>
            <a:off x="777240" y="2743200"/>
            <a:ext cx="402336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Piso majoritário</a:t>
            </a:r>
            <a:endParaRPr lang="en-US" sz="1400" dirty="0"/>
          </a:p>
        </p:txBody>
      </p:sp>
      <p:sp>
        <p:nvSpPr>
          <p:cNvPr id="21" name="Text 19"/>
          <p:cNvSpPr/>
          <p:nvPr/>
        </p:nvSpPr>
        <p:spPr>
          <a:xfrm>
            <a:off x="777240" y="3063240"/>
            <a:ext cx="4023360" cy="1188720"/>
          </a:xfrm>
          <a:prstGeom prst="rect">
            <a:avLst/>
          </a:prstGeom>
          <a:noFill/>
          <a:ln/>
        </p:spPr>
        <p:txBody>
          <a:bodyPr wrap="square" lIns="0" tIns="0" rIns="0" bIns="0" rtlCol="0" anchor="ctr"/>
          <a:lstStyle/>
          <a:p>
            <a:pPr indent="0" marL="0">
              <a:lnSpc>
                <a:spcPct val="110000"/>
              </a:lnSpc>
              <a:buNone/>
            </a:pPr>
            <a:r>
              <a:rPr lang="en-US" sz="1250" dirty="0">
                <a:solidFill>
                  <a:srgbClr val="1B2A3A"/>
                </a:solidFill>
                <a:latin typeface="Calibri" pitchFamily="34" charset="0"/>
                <a:ea typeface="Calibri" pitchFamily="34" charset="-122"/>
                <a:cs typeface="Calibri" pitchFamily="34" charset="-120"/>
              </a:rPr>
              <a:t>Acerto de quem responde sempre a classe mais comum, sem olhar a imagem. Abaixo dele, o modelo não aprendeu a reconhecer a falha.</a:t>
            </a:r>
            <a:endParaRPr lang="en-US" sz="1250" dirty="0"/>
          </a:p>
        </p:txBody>
      </p:sp>
      <p:sp>
        <p:nvSpPr>
          <p:cNvPr id="22" name="Text 20"/>
          <p:cNvSpPr/>
          <p:nvPr/>
        </p:nvSpPr>
        <p:spPr>
          <a:xfrm>
            <a:off x="5074920" y="2926080"/>
            <a:ext cx="1691640" cy="640080"/>
          </a:xfrm>
          <a:prstGeom prst="rect">
            <a:avLst/>
          </a:prstGeom>
          <a:noFill/>
          <a:ln/>
        </p:spPr>
        <p:txBody>
          <a:bodyPr wrap="square" lIns="0" tIns="0" rIns="0" bIns="0" rtlCol="0" anchor="ctr"/>
          <a:lstStyle/>
          <a:p>
            <a:pPr algn="ctr" indent="0" marL="0">
              <a:buNone/>
            </a:pPr>
            <a:r>
              <a:rPr lang="en-US" sz="2800" b="1" dirty="0">
                <a:solidFill>
                  <a:srgbClr val="1C7293"/>
                </a:solidFill>
                <a:latin typeface="Cambria" pitchFamily="34" charset="0"/>
                <a:ea typeface="Cambria" pitchFamily="34" charset="-122"/>
                <a:cs typeface="Cambria" pitchFamily="34" charset="-120"/>
              </a:rPr>
              <a:t>74,42%</a:t>
            </a:r>
            <a:endParaRPr lang="en-US" sz="2800" dirty="0"/>
          </a:p>
        </p:txBody>
      </p:sp>
      <p:sp>
        <p:nvSpPr>
          <p:cNvPr id="23" name="Text 21"/>
          <p:cNvSpPr/>
          <p:nvPr/>
        </p:nvSpPr>
        <p:spPr>
          <a:xfrm>
            <a:off x="5074920" y="3566160"/>
            <a:ext cx="1691640" cy="27432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piso do CPLID</a:t>
            </a:r>
            <a:endParaRPr lang="en-US" sz="1100" dirty="0"/>
          </a:p>
        </p:txBody>
      </p:sp>
      <p:sp>
        <p:nvSpPr>
          <p:cNvPr id="24" name="Text 22"/>
          <p:cNvSpPr/>
          <p:nvPr/>
        </p:nvSpPr>
        <p:spPr>
          <a:xfrm>
            <a:off x="6858000" y="2926080"/>
            <a:ext cx="1691640" cy="640080"/>
          </a:xfrm>
          <a:prstGeom prst="rect">
            <a:avLst/>
          </a:prstGeom>
          <a:noFill/>
          <a:ln/>
        </p:spPr>
        <p:txBody>
          <a:bodyPr wrap="square" lIns="0" tIns="0" rIns="0" bIns="0" rtlCol="0" anchor="ctr"/>
          <a:lstStyle/>
          <a:p>
            <a:pPr algn="ctr" indent="0" marL="0">
              <a:buNone/>
            </a:pPr>
            <a:r>
              <a:rPr lang="en-US" sz="2800" b="1" dirty="0">
                <a:solidFill>
                  <a:srgbClr val="F5A54A"/>
                </a:solidFill>
                <a:latin typeface="Cambria" pitchFamily="34" charset="0"/>
                <a:ea typeface="Cambria" pitchFamily="34" charset="-122"/>
                <a:cs typeface="Cambria" pitchFamily="34" charset="-120"/>
              </a:rPr>
              <a:t>73,33%</a:t>
            </a:r>
            <a:endParaRPr lang="en-US" sz="2800" dirty="0"/>
          </a:p>
        </p:txBody>
      </p:sp>
      <p:sp>
        <p:nvSpPr>
          <p:cNvPr id="25" name="Text 23"/>
          <p:cNvSpPr/>
          <p:nvPr/>
        </p:nvSpPr>
        <p:spPr>
          <a:xfrm>
            <a:off x="6858000" y="3566160"/>
            <a:ext cx="1691640" cy="27432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piso do DRNPW</a:t>
            </a:r>
            <a:endParaRPr lang="en-US" sz="1100" dirty="0"/>
          </a:p>
        </p:txBody>
      </p:sp>
      <p:sp>
        <p:nvSpPr>
          <p:cNvPr id="26"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27" name="Text 2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LINHAS DE TRANSMISSÃO COM ISOLADORES CERÂMICOS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500" b="1" dirty="0">
                <a:solidFill>
                  <a:srgbClr val="1B2A3A"/>
                </a:solidFill>
                <a:latin typeface="Cambria" pitchFamily="34" charset="0"/>
                <a:ea typeface="Cambria" pitchFamily="34" charset="-122"/>
                <a:cs typeface="Cambria" pitchFamily="34" charset="-120"/>
              </a:rPr>
              <a:t>Realçar o contraste evidencia o defeito estrutural</a:t>
            </a:r>
            <a:endParaRPr lang="en-US"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da rede por tratamento, em ordem crescente, com a imagem tratada acima de cada barra (CPLID)</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95,35%</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Realce de contraste, com F1-score de 96,55%, o maior do cenário.</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67,44%</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Desfoque, abaixo da imagem original (93,02%) e do piso (74,42%).</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−25,6 pp</a:t>
            </a:r>
            <a:pPr indent="0" marL="0">
              <a:buNone/>
            </a:pPr>
            <a:r>
              <a:rPr lang="en-US" sz="900" b="1" dirty="0">
                <a:solidFill>
                  <a:srgbClr val="5C6F80"/>
                </a:solidFill>
                <a:latin typeface="Cambria" pitchFamily="34" charset="0"/>
                <a:ea typeface="Cambria" pitchFamily="34" charset="-122"/>
                <a:cs typeface="Cambria" pitchFamily="34" charset="-120"/>
              </a:rPr>
              <a:t>   TRATAMENTO ERRADO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Perda de acurácia em relação à imagem sem tratamento.</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INSPEÇÃO POR DRONE EM CAMPO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500" b="1" dirty="0">
                <a:solidFill>
                  <a:srgbClr val="1B2A3A"/>
                </a:solidFill>
                <a:latin typeface="Cambria" pitchFamily="34" charset="0"/>
                <a:ea typeface="Cambria" pitchFamily="34" charset="-122"/>
                <a:cs typeface="Cambria" pitchFamily="34" charset="-120"/>
              </a:rPr>
              <a:t>Combinar técnicas separa o isolador do fundo</a:t>
            </a:r>
            <a:endParaRPr lang="en-US"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da rede por tratamento, em ordem crescente, nas imagens de inspeção por drone da CPFL (DRNPW)</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83,33%</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Realce de contraste seguido de equalização, com F1-score de 75,76%.</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49,12%</a:t>
            </a:r>
            <a:pPr indent="0" marL="0">
              <a:buNone/>
            </a:pPr>
            <a:r>
              <a:rPr lang="en-US" sz="900" b="1" dirty="0">
                <a:solidFill>
                  <a:srgbClr val="A9BCCC"/>
                </a:solidFill>
                <a:latin typeface="Cambria" pitchFamily="34" charset="0"/>
                <a:ea typeface="Cambria" pitchFamily="34" charset="-122"/>
                <a:cs typeface="Cambria" pitchFamily="34" charset="-120"/>
              </a:rPr>
              <a:t>   F1 ORIGINAL</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Imagem sem tratamento, com 63,33% de acurácia.</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+26,6 pp</a:t>
            </a:r>
            <a:pPr indent="0" marL="0">
              <a:buNone/>
            </a:pPr>
            <a:r>
              <a:rPr lang="en-US" sz="900" b="1" dirty="0">
                <a:solidFill>
                  <a:srgbClr val="5C6F80"/>
                </a:solidFill>
                <a:latin typeface="Cambria" pitchFamily="34" charset="0"/>
                <a:ea typeface="Cambria" pitchFamily="34" charset="-122"/>
                <a:cs typeface="Cambria" pitchFamily="34" charset="-120"/>
              </a:rPr>
              <a:t>   GANHO EM F1</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Mesma rede e mesmas imagens, apenas com o tratamento certo.</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Combinar técnicas compensa nos dois cenários</a:t>
            </a:r>
            <a:endParaRPr lang="en-US" sz="2800" dirty="0"/>
          </a:p>
        </p:txBody>
      </p:sp>
      <p:graphicFrame>
        <p:nvGraphicFramePr>
          <p:cNvPr id="4" name="Chart 0" descr=""/>
          <p:cNvGraphicFramePr/>
          <p:nvPr/>
        </p:nvGraphicFramePr>
        <p:xfrm>
          <a:off x="274320" y="1280160"/>
          <a:ext cx="493776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60704"/>
            <a:ext cx="493776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média por grupo de técnicas</a:t>
            </a:r>
            <a:endParaRPr lang="en-US" sz="950" dirty="0"/>
          </a:p>
        </p:txBody>
      </p:sp>
      <p:sp>
        <p:nvSpPr>
          <p:cNvPr id="6" name="Text 3"/>
          <p:cNvSpPr/>
          <p:nvPr/>
        </p:nvSpPr>
        <p:spPr>
          <a:xfrm>
            <a:off x="5486400" y="1371600"/>
            <a:ext cx="1554480" cy="594360"/>
          </a:xfrm>
          <a:prstGeom prst="rect">
            <a:avLst/>
          </a:prstGeom>
          <a:noFill/>
          <a:ln/>
        </p:spPr>
        <p:txBody>
          <a:bodyPr wrap="square" lIns="0" tIns="0" rIns="0" bIns="0" rtlCol="0" anchor="ctr"/>
          <a:lstStyle/>
          <a:p>
            <a:pPr indent="0" marL="0">
              <a:buNone/>
            </a:pPr>
            <a:r>
              <a:rPr lang="en-US" sz="3200" b="1" dirty="0">
                <a:solidFill>
                  <a:srgbClr val="1C7293"/>
                </a:solidFill>
                <a:latin typeface="Cambria" pitchFamily="34" charset="0"/>
                <a:ea typeface="Cambria" pitchFamily="34" charset="-122"/>
                <a:cs typeface="Cambria" pitchFamily="34" charset="-120"/>
              </a:rPr>
              <a:t>+13,49</a:t>
            </a:r>
            <a:endParaRPr lang="en-US" sz="3200" dirty="0"/>
          </a:p>
        </p:txBody>
      </p:sp>
      <p:sp>
        <p:nvSpPr>
          <p:cNvPr id="7" name="Text 4"/>
          <p:cNvSpPr/>
          <p:nvPr/>
        </p:nvSpPr>
        <p:spPr>
          <a:xfrm>
            <a:off x="5486400" y="1965960"/>
            <a:ext cx="155448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pontos percentuais</a:t>
            </a:r>
            <a:endParaRPr lang="en-US" sz="1100" dirty="0"/>
          </a:p>
          <a:p>
            <a:pPr indent="0" marL="0">
              <a:buNone/>
            </a:pPr>
            <a:r>
              <a:rPr lang="en-US" sz="1100" dirty="0">
                <a:solidFill>
                  <a:srgbClr val="5C6F80"/>
                </a:solidFill>
                <a:latin typeface="Calibri" pitchFamily="34" charset="0"/>
                <a:ea typeface="Calibri" pitchFamily="34" charset="-122"/>
                <a:cs typeface="Calibri" pitchFamily="34" charset="-120"/>
              </a:rPr>
              <a:t>no CPLID</a:t>
            </a:r>
            <a:endParaRPr lang="en-US" sz="1100" dirty="0"/>
          </a:p>
        </p:txBody>
      </p:sp>
      <p:sp>
        <p:nvSpPr>
          <p:cNvPr id="8" name="Text 5"/>
          <p:cNvSpPr/>
          <p:nvPr/>
        </p:nvSpPr>
        <p:spPr>
          <a:xfrm>
            <a:off x="7132320" y="1371600"/>
            <a:ext cx="1554480" cy="594360"/>
          </a:xfrm>
          <a:prstGeom prst="rect">
            <a:avLst/>
          </a:prstGeom>
          <a:noFill/>
          <a:ln/>
        </p:spPr>
        <p:txBody>
          <a:bodyPr wrap="square" lIns="0" tIns="0" rIns="0" bIns="0" rtlCol="0" anchor="ctr"/>
          <a:lstStyle/>
          <a:p>
            <a:pPr indent="0" marL="0">
              <a:buNone/>
            </a:pPr>
            <a:r>
              <a:rPr lang="en-US" sz="3200" b="1" dirty="0">
                <a:solidFill>
                  <a:srgbClr val="F5A54A"/>
                </a:solidFill>
                <a:latin typeface="Cambria" pitchFamily="34" charset="0"/>
                <a:ea typeface="Cambria" pitchFamily="34" charset="-122"/>
                <a:cs typeface="Cambria" pitchFamily="34" charset="-120"/>
              </a:rPr>
              <a:t>+5,17</a:t>
            </a:r>
            <a:endParaRPr lang="en-US" sz="3200" dirty="0"/>
          </a:p>
        </p:txBody>
      </p:sp>
      <p:sp>
        <p:nvSpPr>
          <p:cNvPr id="9" name="Text 6"/>
          <p:cNvSpPr/>
          <p:nvPr/>
        </p:nvSpPr>
        <p:spPr>
          <a:xfrm>
            <a:off x="7132320" y="1965960"/>
            <a:ext cx="155448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pontos percentuais</a:t>
            </a:r>
            <a:endParaRPr lang="en-US" sz="1100" dirty="0"/>
          </a:p>
          <a:p>
            <a:pPr indent="0" marL="0">
              <a:buNone/>
            </a:pPr>
            <a:r>
              <a:rPr lang="en-US" sz="1100" dirty="0">
                <a:solidFill>
                  <a:srgbClr val="5C6F80"/>
                </a:solidFill>
                <a:latin typeface="Calibri" pitchFamily="34" charset="0"/>
                <a:ea typeface="Calibri" pitchFamily="34" charset="-122"/>
                <a:cs typeface="Calibri" pitchFamily="34" charset="-120"/>
              </a:rPr>
              <a:t>no DRNPW</a:t>
            </a:r>
            <a:endParaRPr lang="en-US" sz="1100" dirty="0"/>
          </a:p>
        </p:txBody>
      </p:sp>
      <p:sp>
        <p:nvSpPr>
          <p:cNvPr id="10" name="Shape 7"/>
          <p:cNvSpPr/>
          <p:nvPr/>
        </p:nvSpPr>
        <p:spPr>
          <a:xfrm>
            <a:off x="5486400" y="2788920"/>
            <a:ext cx="3154680" cy="1645920"/>
          </a:xfrm>
          <a:prstGeom prst="roundRect">
            <a:avLst>
              <a:gd name="adj" fmla="val 3889"/>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8"/>
          <p:cNvSpPr/>
          <p:nvPr/>
        </p:nvSpPr>
        <p:spPr>
          <a:xfrm>
            <a:off x="5687568" y="2926080"/>
            <a:ext cx="2743200" cy="274320"/>
          </a:xfrm>
          <a:prstGeom prst="rect">
            <a:avLst/>
          </a:prstGeom>
          <a:noFill/>
          <a:ln/>
        </p:spPr>
        <p:txBody>
          <a:bodyPr wrap="square" lIns="0" tIns="0" rIns="0" bIns="0" rtlCol="0" anchor="ctr"/>
          <a:lstStyle/>
          <a:p>
            <a:pPr indent="0" marL="0">
              <a:buNone/>
            </a:pPr>
            <a:r>
              <a:rPr lang="en-US" sz="1300" b="1" dirty="0">
                <a:solidFill>
                  <a:srgbClr val="F5A54A"/>
                </a:solidFill>
                <a:latin typeface="Calibri" pitchFamily="34" charset="0"/>
                <a:ea typeface="Calibri" pitchFamily="34" charset="-122"/>
                <a:cs typeface="Calibri" pitchFamily="34" charset="-120"/>
              </a:rPr>
              <a:t>A ordem importa</a:t>
            </a:r>
            <a:endParaRPr lang="en-US" sz="1300" dirty="0"/>
          </a:p>
        </p:txBody>
      </p:sp>
      <p:sp>
        <p:nvSpPr>
          <p:cNvPr id="12" name="Text 9"/>
          <p:cNvSpPr/>
          <p:nvPr/>
        </p:nvSpPr>
        <p:spPr>
          <a:xfrm>
            <a:off x="5687568" y="3246120"/>
            <a:ext cx="2743200" cy="1005840"/>
          </a:xfrm>
          <a:prstGeom prst="rect">
            <a:avLst/>
          </a:prstGeom>
          <a:noFill/>
          <a:ln/>
        </p:spPr>
        <p:txBody>
          <a:bodyPr wrap="square" lIns="0" tIns="0" rIns="0" bIns="0" rtlCol="0" anchor="ctr"/>
          <a:lstStyle/>
          <a:p>
            <a:pPr indent="0" marL="0">
              <a:lnSpc>
                <a:spcPct val="108000"/>
              </a:lnSpc>
              <a:buNone/>
            </a:pPr>
            <a:r>
              <a:rPr lang="en-US" sz="1250" dirty="0">
                <a:solidFill>
                  <a:srgbClr val="FFFFFF"/>
                </a:solidFill>
                <a:latin typeface="Calibri" pitchFamily="34" charset="0"/>
                <a:ea typeface="Calibri" pitchFamily="34" charset="-122"/>
                <a:cs typeface="Calibri" pitchFamily="34" charset="-120"/>
              </a:rPr>
              <a:t>Realce seguido de CLAHE não é o mesmo que CLAHE seguido de realce.</a:t>
            </a:r>
            <a:endParaRPr lang="en-US" sz="1250" dirty="0"/>
          </a:p>
        </p:txBody>
      </p:sp>
      <p:sp>
        <p:nvSpPr>
          <p:cNvPr id="13" name="Text 10"/>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4" name="Text 11"/>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OTIMIZAÇÃO DE PARÂMETROS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ajuste do tratamento passa a ser automático</a:t>
            </a:r>
            <a:endParaRPr lang="en-US"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Busca em grade: acurácia por fator de realce de contraste (DRNPW)</a:t>
            </a:r>
            <a:endParaRPr lang="en-US" sz="950" dirty="0"/>
          </a:p>
        </p:txBody>
      </p:sp>
      <p:sp>
        <p:nvSpPr>
          <p:cNvPr id="6" name="Shape 3"/>
          <p:cNvSpPr/>
          <p:nvPr/>
        </p:nvSpPr>
        <p:spPr>
          <a:xfrm>
            <a:off x="5486400" y="1234440"/>
            <a:ext cx="3154680" cy="960120"/>
          </a:xfrm>
          <a:prstGeom prst="roundRect">
            <a:avLst>
              <a:gd name="adj" fmla="val 6667"/>
            </a:avLst>
          </a:prstGeom>
          <a:solidFill>
            <a:srgbClr val="F1F4F7"/>
          </a:solidFill>
          <a:ln w="9525">
            <a:solidFill>
              <a:srgbClr val="E4EAF0"/>
            </a:solidFill>
            <a:prstDash val="solid"/>
          </a:ln>
        </p:spPr>
      </p:sp>
      <p:sp>
        <p:nvSpPr>
          <p:cNvPr id="7" name="Text 4"/>
          <p:cNvSpPr/>
          <p:nvPr/>
        </p:nvSpPr>
        <p:spPr>
          <a:xfrm>
            <a:off x="5669280" y="1325880"/>
            <a:ext cx="1371600" cy="54864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1,333</a:t>
            </a:r>
            <a:endParaRPr lang="en-US" sz="2400" dirty="0"/>
          </a:p>
        </p:txBody>
      </p:sp>
      <p:sp>
        <p:nvSpPr>
          <p:cNvPr id="8" name="Text 5"/>
          <p:cNvSpPr/>
          <p:nvPr/>
        </p:nvSpPr>
        <p:spPr>
          <a:xfrm>
            <a:off x="6995160" y="1344168"/>
            <a:ext cx="1600200" cy="731520"/>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Busca em grade</a:t>
            </a:r>
            <a:endParaRPr lang="en-US" sz="1050" dirty="0"/>
          </a:p>
          <a:p>
            <a:pPr indent="0" marL="0">
              <a:buNone/>
            </a:pPr>
            <a:r>
              <a:rPr lang="en-US" sz="1050" dirty="0">
                <a:solidFill>
                  <a:srgbClr val="5C6F80"/>
                </a:solidFill>
                <a:latin typeface="Calibri" pitchFamily="34" charset="0"/>
                <a:ea typeface="Calibri" pitchFamily="34" charset="-122"/>
                <a:cs typeface="Calibri" pitchFamily="34" charset="-120"/>
              </a:rPr>
              <a:t>90,0% de acurácia no teste</a:t>
            </a:r>
            <a:endParaRPr lang="en-US" sz="1050" dirty="0"/>
          </a:p>
        </p:txBody>
      </p:sp>
      <p:sp>
        <p:nvSpPr>
          <p:cNvPr id="9" name="Shape 6"/>
          <p:cNvSpPr/>
          <p:nvPr/>
        </p:nvSpPr>
        <p:spPr>
          <a:xfrm>
            <a:off x="5486400" y="2331720"/>
            <a:ext cx="3154680" cy="960120"/>
          </a:xfrm>
          <a:prstGeom prst="roundRect">
            <a:avLst>
              <a:gd name="adj" fmla="val 6667"/>
            </a:avLst>
          </a:prstGeom>
          <a:solidFill>
            <a:srgbClr val="F1F4F7"/>
          </a:solidFill>
          <a:ln w="9525">
            <a:solidFill>
              <a:srgbClr val="E4EAF0"/>
            </a:solidFill>
            <a:prstDash val="solid"/>
          </a:ln>
        </p:spPr>
      </p:sp>
      <p:sp>
        <p:nvSpPr>
          <p:cNvPr id="10" name="Text 7"/>
          <p:cNvSpPr/>
          <p:nvPr/>
        </p:nvSpPr>
        <p:spPr>
          <a:xfrm>
            <a:off x="5669280" y="2423160"/>
            <a:ext cx="1371600" cy="54864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1,4364</a:t>
            </a:r>
            <a:endParaRPr lang="en-US" sz="2400" dirty="0"/>
          </a:p>
        </p:txBody>
      </p:sp>
      <p:sp>
        <p:nvSpPr>
          <p:cNvPr id="11" name="Text 8"/>
          <p:cNvSpPr/>
          <p:nvPr/>
        </p:nvSpPr>
        <p:spPr>
          <a:xfrm>
            <a:off x="6995160" y="2441448"/>
            <a:ext cx="1600200" cy="731520"/>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Busca aleatória</a:t>
            </a:r>
            <a:endParaRPr lang="en-US" sz="1050" dirty="0"/>
          </a:p>
          <a:p>
            <a:pPr indent="0" marL="0">
              <a:buNone/>
            </a:pPr>
            <a:r>
              <a:rPr lang="en-US" sz="1050" dirty="0">
                <a:solidFill>
                  <a:srgbClr val="5C6F80"/>
                </a:solidFill>
                <a:latin typeface="Calibri" pitchFamily="34" charset="0"/>
                <a:ea typeface="Calibri" pitchFamily="34" charset="-122"/>
                <a:cs typeface="Calibri" pitchFamily="34" charset="-120"/>
              </a:rPr>
              <a:t>85,06% de acurácia na validação</a:t>
            </a:r>
            <a:endParaRPr lang="en-US" sz="1050" dirty="0"/>
          </a:p>
        </p:txBody>
      </p:sp>
      <p:sp>
        <p:nvSpPr>
          <p:cNvPr id="12" name="Shape 9"/>
          <p:cNvSpPr/>
          <p:nvPr/>
        </p:nvSpPr>
        <p:spPr>
          <a:xfrm>
            <a:off x="5486400" y="3520440"/>
            <a:ext cx="315468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3" name="Text 10"/>
          <p:cNvSpPr/>
          <p:nvPr/>
        </p:nvSpPr>
        <p:spPr>
          <a:xfrm>
            <a:off x="5669280" y="3520440"/>
            <a:ext cx="2788920" cy="9144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Os dois métodos apontam para um realce moderado, pouco acima de 1,0.</a:t>
            </a:r>
            <a:endParaRPr lang="en-US" sz="12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Trocar o modelo inverte a melhor técnica</a:t>
            </a:r>
            <a:endParaRPr lang="en-US" sz="2800" dirty="0"/>
          </a:p>
        </p:txBody>
      </p:sp>
      <p:graphicFrame>
        <p:nvGraphicFramePr>
          <p:cNvPr id="4" name="Chart 0" descr=""/>
          <p:cNvGraphicFramePr/>
          <p:nvPr/>
        </p:nvGraphicFramePr>
        <p:xfrm>
          <a:off x="274320" y="1298448"/>
          <a:ext cx="4754880" cy="3154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75488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média nos 14 tratamentos</a:t>
            </a:r>
            <a:endParaRPr lang="en-US" sz="950" dirty="0"/>
          </a:p>
        </p:txBody>
      </p:sp>
      <p:sp>
        <p:nvSpPr>
          <p:cNvPr id="6" name="Text 3"/>
          <p:cNvSpPr/>
          <p:nvPr/>
        </p:nvSpPr>
        <p:spPr>
          <a:xfrm>
            <a:off x="5303520" y="1234440"/>
            <a:ext cx="3337560" cy="256032"/>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A mesma técnica nos dois modelos</a:t>
            </a:r>
            <a:endParaRPr lang="en-US" sz="1150" dirty="0"/>
          </a:p>
        </p:txBody>
      </p:sp>
      <p:sp>
        <p:nvSpPr>
          <p:cNvPr id="7" name="Shape 4"/>
          <p:cNvSpPr/>
          <p:nvPr/>
        </p:nvSpPr>
        <p:spPr>
          <a:xfrm>
            <a:off x="5303520" y="1572768"/>
            <a:ext cx="3337560" cy="841248"/>
          </a:xfrm>
          <a:prstGeom prst="roundRect">
            <a:avLst>
              <a:gd name="adj" fmla="val 7609"/>
            </a:avLst>
          </a:prstGeom>
          <a:solidFill>
            <a:srgbClr val="F1F4F7"/>
          </a:solidFill>
          <a:ln w="9525">
            <a:solidFill>
              <a:srgbClr val="E4EAF0"/>
            </a:solidFill>
            <a:prstDash val="solid"/>
          </a:ln>
        </p:spPr>
      </p:sp>
      <p:sp>
        <p:nvSpPr>
          <p:cNvPr id="8" name="Text 5"/>
          <p:cNvSpPr/>
          <p:nvPr/>
        </p:nvSpPr>
        <p:spPr>
          <a:xfrm>
            <a:off x="5468112" y="166420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CLAHE + realce</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CPLID</a:t>
            </a:r>
            <a:endParaRPr lang="en-US" sz="1100" dirty="0"/>
          </a:p>
        </p:txBody>
      </p:sp>
      <p:sp>
        <p:nvSpPr>
          <p:cNvPr id="9" name="Text 6"/>
          <p:cNvSpPr/>
          <p:nvPr/>
        </p:nvSpPr>
        <p:spPr>
          <a:xfrm>
            <a:off x="6858000" y="166420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95,35%</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F5A54A"/>
                </a:solidFill>
                <a:latin typeface="Cambria" pitchFamily="34" charset="0"/>
                <a:ea typeface="Cambria" pitchFamily="34" charset="-122"/>
                <a:cs typeface="Cambria" pitchFamily="34" charset="-120"/>
              </a:rPr>
              <a:t>51,16%</a:t>
            </a:r>
            <a:endParaRPr lang="en-US" sz="1350" dirty="0"/>
          </a:p>
        </p:txBody>
      </p:sp>
      <p:sp>
        <p:nvSpPr>
          <p:cNvPr id="10" name="Shape 7"/>
          <p:cNvSpPr/>
          <p:nvPr/>
        </p:nvSpPr>
        <p:spPr>
          <a:xfrm>
            <a:off x="5303520" y="2532888"/>
            <a:ext cx="3337560" cy="841248"/>
          </a:xfrm>
          <a:prstGeom prst="roundRect">
            <a:avLst>
              <a:gd name="adj" fmla="val 7609"/>
            </a:avLst>
          </a:prstGeom>
          <a:solidFill>
            <a:srgbClr val="F1F4F7"/>
          </a:solidFill>
          <a:ln w="9525">
            <a:solidFill>
              <a:srgbClr val="E4EAF0"/>
            </a:solidFill>
            <a:prstDash val="solid"/>
          </a:ln>
        </p:spPr>
      </p:sp>
      <p:sp>
        <p:nvSpPr>
          <p:cNvPr id="11" name="Text 8"/>
          <p:cNvSpPr/>
          <p:nvPr/>
        </p:nvSpPr>
        <p:spPr>
          <a:xfrm>
            <a:off x="5468112" y="262432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Realce + equalização</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DRNPW</a:t>
            </a:r>
            <a:endParaRPr lang="en-US" sz="1100" dirty="0"/>
          </a:p>
        </p:txBody>
      </p:sp>
      <p:sp>
        <p:nvSpPr>
          <p:cNvPr id="12" name="Text 9"/>
          <p:cNvSpPr/>
          <p:nvPr/>
        </p:nvSpPr>
        <p:spPr>
          <a:xfrm>
            <a:off x="6858000" y="262432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83,33%</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F5A54A"/>
                </a:solidFill>
                <a:latin typeface="Cambria" pitchFamily="34" charset="0"/>
                <a:ea typeface="Cambria" pitchFamily="34" charset="-122"/>
                <a:cs typeface="Cambria" pitchFamily="34" charset="-120"/>
              </a:rPr>
              <a:t>53,33%</a:t>
            </a:r>
            <a:endParaRPr lang="en-US" sz="1350" dirty="0"/>
          </a:p>
        </p:txBody>
      </p:sp>
      <p:sp>
        <p:nvSpPr>
          <p:cNvPr id="13" name="Shape 10"/>
          <p:cNvSpPr/>
          <p:nvPr/>
        </p:nvSpPr>
        <p:spPr>
          <a:xfrm>
            <a:off x="5303520" y="3493008"/>
            <a:ext cx="3337560" cy="841248"/>
          </a:xfrm>
          <a:prstGeom prst="roundRect">
            <a:avLst>
              <a:gd name="adj" fmla="val 7609"/>
            </a:avLst>
          </a:prstGeom>
          <a:solidFill>
            <a:srgbClr val="F1F4F7"/>
          </a:solidFill>
          <a:ln w="9525">
            <a:solidFill>
              <a:srgbClr val="E4EAF0"/>
            </a:solidFill>
            <a:prstDash val="solid"/>
          </a:ln>
        </p:spPr>
      </p:sp>
      <p:sp>
        <p:nvSpPr>
          <p:cNvPr id="14" name="Text 11"/>
          <p:cNvSpPr/>
          <p:nvPr/>
        </p:nvSpPr>
        <p:spPr>
          <a:xfrm>
            <a:off x="5468112" y="358444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Tons de cinza</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CPLID</a:t>
            </a:r>
            <a:endParaRPr lang="en-US" sz="1100" dirty="0"/>
          </a:p>
        </p:txBody>
      </p:sp>
      <p:sp>
        <p:nvSpPr>
          <p:cNvPr id="15" name="Text 12"/>
          <p:cNvSpPr/>
          <p:nvPr/>
        </p:nvSpPr>
        <p:spPr>
          <a:xfrm>
            <a:off x="6858000" y="358444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76,74%</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1C7293"/>
                </a:solidFill>
                <a:latin typeface="Cambria" pitchFamily="34" charset="0"/>
                <a:ea typeface="Cambria" pitchFamily="34" charset="-122"/>
                <a:cs typeface="Cambria" pitchFamily="34" charset="-120"/>
              </a:rPr>
              <a:t>81,40%</a:t>
            </a:r>
            <a:endParaRPr lang="en-US" sz="1350" dirty="0"/>
          </a:p>
        </p:txBody>
      </p:sp>
      <p:sp>
        <p:nvSpPr>
          <p:cNvPr id="16"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7" name="Text 14"/>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IMPACTO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 que o método entrega à concessionária</a:t>
            </a:r>
            <a:endParaRPr lang="en-US" sz="2800" dirty="0"/>
          </a:p>
        </p:txBody>
      </p:sp>
      <p:sp>
        <p:nvSpPr>
          <p:cNvPr id="4" name="Shape 2"/>
          <p:cNvSpPr/>
          <p:nvPr/>
        </p:nvSpPr>
        <p:spPr>
          <a:xfrm>
            <a:off x="502920" y="1234440"/>
            <a:ext cx="3977640" cy="1481328"/>
          </a:xfrm>
          <a:prstGeom prst="roundRect">
            <a:avLst>
              <a:gd name="adj" fmla="val 4321"/>
            </a:avLst>
          </a:prstGeom>
          <a:solidFill>
            <a:srgbClr val="1C3550"/>
          </a:solidFill>
          <a:ln w="9525">
            <a:solidFill>
              <a:srgbClr val="1C3550"/>
            </a:solidFill>
            <a:prstDash val="solid"/>
          </a:ln>
        </p:spPr>
      </p:sp>
      <p:sp>
        <p:nvSpPr>
          <p:cNvPr id="5" name="Text 3"/>
          <p:cNvSpPr/>
          <p:nvPr/>
        </p:nvSpPr>
        <p:spPr>
          <a:xfrm>
            <a:off x="731520" y="1371600"/>
            <a:ext cx="3566160" cy="594360"/>
          </a:xfrm>
          <a:prstGeom prst="rect">
            <a:avLst/>
          </a:prstGeom>
          <a:noFill/>
          <a:ln/>
        </p:spPr>
        <p:txBody>
          <a:bodyPr wrap="square" lIns="0" tIns="0" rIns="0" bIns="0" rtlCol="0" anchor="ctr"/>
          <a:lstStyle/>
          <a:p>
            <a:pPr indent="0" marL="0">
              <a:buNone/>
            </a:pPr>
            <a:r>
              <a:rPr lang="en-US" sz="2800" b="1" dirty="0">
                <a:solidFill>
                  <a:srgbClr val="F5A54A"/>
                </a:solidFill>
                <a:latin typeface="Cambria" pitchFamily="34" charset="0"/>
                <a:ea typeface="Cambria" pitchFamily="34" charset="-122"/>
                <a:cs typeface="Cambria" pitchFamily="34" charset="-120"/>
              </a:rPr>
              <a:t>+26,6 pp</a:t>
            </a:r>
            <a:endParaRPr lang="en-US" sz="2800" dirty="0"/>
          </a:p>
        </p:txBody>
      </p:sp>
      <p:sp>
        <p:nvSpPr>
          <p:cNvPr id="6" name="Text 4"/>
          <p:cNvSpPr/>
          <p:nvPr/>
        </p:nvSpPr>
        <p:spPr>
          <a:xfrm>
            <a:off x="731520" y="19659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Mais detecção</a:t>
            </a:r>
            <a:endParaRPr lang="en-US" sz="1300" dirty="0"/>
          </a:p>
        </p:txBody>
      </p:sp>
      <p:sp>
        <p:nvSpPr>
          <p:cNvPr id="7" name="Text 5"/>
          <p:cNvSpPr/>
          <p:nvPr/>
        </p:nvSpPr>
        <p:spPr>
          <a:xfrm>
            <a:off x="731520" y="224028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de F1-score em imagens reais de campo, só com o tratamento certo</a:t>
            </a:r>
            <a:endParaRPr lang="en-US" sz="1100" dirty="0"/>
          </a:p>
        </p:txBody>
      </p:sp>
      <p:sp>
        <p:nvSpPr>
          <p:cNvPr id="8" name="Shape 6"/>
          <p:cNvSpPr/>
          <p:nvPr/>
        </p:nvSpPr>
        <p:spPr>
          <a:xfrm>
            <a:off x="4617720" y="1234440"/>
            <a:ext cx="3977640" cy="1481328"/>
          </a:xfrm>
          <a:prstGeom prst="roundRect">
            <a:avLst>
              <a:gd name="adj" fmla="val 4321"/>
            </a:avLst>
          </a:prstGeom>
          <a:solidFill>
            <a:srgbClr val="1C3550"/>
          </a:solidFill>
          <a:ln w="9525">
            <a:solidFill>
              <a:srgbClr val="1C3550"/>
            </a:solidFill>
            <a:prstDash val="solid"/>
          </a:ln>
        </p:spPr>
      </p:sp>
      <p:sp>
        <p:nvSpPr>
          <p:cNvPr id="9" name="Text 7"/>
          <p:cNvSpPr/>
          <p:nvPr/>
        </p:nvSpPr>
        <p:spPr>
          <a:xfrm>
            <a:off x="4846320" y="1371600"/>
            <a:ext cx="3566160" cy="594360"/>
          </a:xfrm>
          <a:prstGeom prst="rect">
            <a:avLst/>
          </a:prstGeom>
          <a:noFill/>
          <a:ln/>
        </p:spPr>
        <p:txBody>
          <a:bodyPr wrap="square" lIns="0" tIns="0" rIns="0" bIns="0" rtlCol="0" anchor="ctr"/>
          <a:lstStyle/>
          <a:p>
            <a:pPr indent="0" marL="0">
              <a:buNone/>
            </a:pPr>
            <a:r>
              <a:rPr lang="en-US" sz="2800" b="1" dirty="0">
                <a:solidFill>
                  <a:srgbClr val="5BB4D6"/>
                </a:solidFill>
                <a:latin typeface="Cambria" pitchFamily="34" charset="0"/>
                <a:ea typeface="Cambria" pitchFamily="34" charset="-122"/>
                <a:cs typeface="Cambria" pitchFamily="34" charset="-120"/>
              </a:rPr>
              <a:t>−25,6 pp</a:t>
            </a:r>
            <a:endParaRPr lang="en-US" sz="2800" dirty="0"/>
          </a:p>
        </p:txBody>
      </p:sp>
      <p:sp>
        <p:nvSpPr>
          <p:cNvPr id="10" name="Text 8"/>
          <p:cNvSpPr/>
          <p:nvPr/>
        </p:nvSpPr>
        <p:spPr>
          <a:xfrm>
            <a:off x="4846320" y="19659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Proteção contra o erro</a:t>
            </a:r>
            <a:endParaRPr lang="en-US" sz="1300" dirty="0"/>
          </a:p>
        </p:txBody>
      </p:sp>
      <p:sp>
        <p:nvSpPr>
          <p:cNvPr id="11" name="Text 9"/>
          <p:cNvSpPr/>
          <p:nvPr/>
        </p:nvSpPr>
        <p:spPr>
          <a:xfrm>
            <a:off x="4846320" y="224028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de acurácia perdidos quando o tratamento é mal escolhido</a:t>
            </a:r>
            <a:endParaRPr lang="en-US" sz="1100" dirty="0"/>
          </a:p>
        </p:txBody>
      </p:sp>
      <p:sp>
        <p:nvSpPr>
          <p:cNvPr id="12" name="Shape 10"/>
          <p:cNvSpPr/>
          <p:nvPr/>
        </p:nvSpPr>
        <p:spPr>
          <a:xfrm>
            <a:off x="502920" y="2880360"/>
            <a:ext cx="3977640" cy="1481328"/>
          </a:xfrm>
          <a:prstGeom prst="roundRect">
            <a:avLst>
              <a:gd name="adj" fmla="val 4321"/>
            </a:avLst>
          </a:prstGeom>
          <a:solidFill>
            <a:srgbClr val="1C3550"/>
          </a:solidFill>
          <a:ln w="9525">
            <a:solidFill>
              <a:srgbClr val="1C3550"/>
            </a:solidFill>
            <a:prstDash val="solid"/>
          </a:ln>
        </p:spPr>
      </p:sp>
      <p:sp>
        <p:nvSpPr>
          <p:cNvPr id="13" name="Text 11"/>
          <p:cNvSpPr/>
          <p:nvPr/>
        </p:nvSpPr>
        <p:spPr>
          <a:xfrm>
            <a:off x="731520" y="3017520"/>
            <a:ext cx="3566160" cy="594360"/>
          </a:xfrm>
          <a:prstGeom prst="rect">
            <a:avLst/>
          </a:prstGeom>
          <a:noFill/>
          <a:ln/>
        </p:spPr>
        <p:txBody>
          <a:bodyPr wrap="square" lIns="0" tIns="0" rIns="0" bIns="0" rtlCol="0" anchor="ctr"/>
          <a:lstStyle/>
          <a:p>
            <a:pPr indent="0" marL="0">
              <a:buNone/>
            </a:pPr>
            <a:r>
              <a:rPr lang="en-US" sz="2800" b="1" dirty="0">
                <a:solidFill>
                  <a:srgbClr val="5BB4D6"/>
                </a:solidFill>
                <a:latin typeface="Cambria" pitchFamily="34" charset="0"/>
                <a:ea typeface="Cambria" pitchFamily="34" charset="-122"/>
                <a:cs typeface="Cambria" pitchFamily="34" charset="-120"/>
              </a:rPr>
              <a:t>Só software</a:t>
            </a:r>
            <a:endParaRPr lang="en-US" sz="2800" dirty="0"/>
          </a:p>
        </p:txBody>
      </p:sp>
      <p:sp>
        <p:nvSpPr>
          <p:cNvPr id="14" name="Text 12"/>
          <p:cNvSpPr/>
          <p:nvPr/>
        </p:nvSpPr>
        <p:spPr>
          <a:xfrm>
            <a:off x="731520" y="361188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Sem hardware novo</a:t>
            </a:r>
            <a:endParaRPr lang="en-US" sz="1300" dirty="0"/>
          </a:p>
        </p:txBody>
      </p:sp>
      <p:sp>
        <p:nvSpPr>
          <p:cNvPr id="15" name="Text 13"/>
          <p:cNvSpPr/>
          <p:nvPr/>
        </p:nvSpPr>
        <p:spPr>
          <a:xfrm>
            <a:off x="731520" y="388620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mesmo drone, mesma câmera, mesmo modelo de IA</a:t>
            </a:r>
            <a:endParaRPr lang="en-US" sz="1100" dirty="0"/>
          </a:p>
        </p:txBody>
      </p:sp>
      <p:sp>
        <p:nvSpPr>
          <p:cNvPr id="16" name="Shape 14"/>
          <p:cNvSpPr/>
          <p:nvPr/>
        </p:nvSpPr>
        <p:spPr>
          <a:xfrm>
            <a:off x="4617720" y="2880360"/>
            <a:ext cx="3977640" cy="1481328"/>
          </a:xfrm>
          <a:prstGeom prst="roundRect">
            <a:avLst>
              <a:gd name="adj" fmla="val 4321"/>
            </a:avLst>
          </a:prstGeom>
          <a:solidFill>
            <a:srgbClr val="1C3550"/>
          </a:solidFill>
          <a:ln w="9525">
            <a:solidFill>
              <a:srgbClr val="1C3550"/>
            </a:solidFill>
            <a:prstDash val="solid"/>
          </a:ln>
        </p:spPr>
      </p:sp>
      <p:sp>
        <p:nvSpPr>
          <p:cNvPr id="17" name="Text 15"/>
          <p:cNvSpPr/>
          <p:nvPr/>
        </p:nvSpPr>
        <p:spPr>
          <a:xfrm>
            <a:off x="4846320" y="3017520"/>
            <a:ext cx="3566160" cy="594360"/>
          </a:xfrm>
          <a:prstGeom prst="rect">
            <a:avLst/>
          </a:prstGeom>
          <a:noFill/>
          <a:ln/>
        </p:spPr>
        <p:txBody>
          <a:bodyPr wrap="square" lIns="0" tIns="0" rIns="0" bIns="0" rtlCol="0" anchor="ctr"/>
          <a:lstStyle/>
          <a:p>
            <a:pPr indent="0" marL="0">
              <a:buNone/>
            </a:pPr>
            <a:r>
              <a:rPr lang="en-US" sz="2800" b="1" dirty="0">
                <a:solidFill>
                  <a:srgbClr val="F5A54A"/>
                </a:solidFill>
                <a:latin typeface="Cambria" pitchFamily="34" charset="0"/>
                <a:ea typeface="Cambria" pitchFamily="34" charset="-122"/>
                <a:cs typeface="Cambria" pitchFamily="34" charset="-120"/>
              </a:rPr>
              <a:t>↺</a:t>
            </a:r>
            <a:endParaRPr lang="en-US" sz="2800" dirty="0"/>
          </a:p>
        </p:txBody>
      </p:sp>
      <p:sp>
        <p:nvSpPr>
          <p:cNvPr id="18" name="Text 16"/>
          <p:cNvSpPr/>
          <p:nvPr/>
        </p:nvSpPr>
        <p:spPr>
          <a:xfrm>
            <a:off x="4846320" y="361188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Continuidade</a:t>
            </a:r>
            <a:endParaRPr lang="en-US" sz="1300" dirty="0"/>
          </a:p>
        </p:txBody>
      </p:sp>
      <p:sp>
        <p:nvSpPr>
          <p:cNvPr id="19" name="Text 17"/>
          <p:cNvSpPr/>
          <p:nvPr/>
        </p:nvSpPr>
        <p:spPr>
          <a:xfrm>
            <a:off x="4846320" y="388620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procedimento repetível a cada troca de drone, câmera, linha ou modelo</a:t>
            </a:r>
            <a:endParaRPr lang="en-US" sz="1100" dirty="0"/>
          </a:p>
        </p:txBody>
      </p:sp>
      <p:sp>
        <p:nvSpPr>
          <p:cNvPr id="20"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Impacto</a:t>
            </a:r>
            <a:endParaRPr lang="en-US" sz="900" dirty="0"/>
          </a:p>
        </p:txBody>
      </p:sp>
      <p:sp>
        <p:nvSpPr>
          <p:cNvPr id="21"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IMPACTO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Quanto vale inspecionar melhor</a:t>
            </a:r>
            <a:endParaRPr lang="en-US" sz="2800" dirty="0"/>
          </a:p>
        </p:txBody>
      </p:sp>
      <p:sp>
        <p:nvSpPr>
          <p:cNvPr id="4" name="Shape 2"/>
          <p:cNvSpPr/>
          <p:nvPr/>
        </p:nvSpPr>
        <p:spPr>
          <a:xfrm>
            <a:off x="502920" y="1234440"/>
            <a:ext cx="1417320" cy="1325880"/>
          </a:xfrm>
          <a:prstGeom prst="roundRect">
            <a:avLst>
              <a:gd name="adj" fmla="val 4828"/>
            </a:avLst>
          </a:prstGeom>
          <a:solidFill>
            <a:srgbClr val="F1F4F7"/>
          </a:solidFill>
          <a:ln w="9525">
            <a:solidFill>
              <a:srgbClr val="E4EAF0"/>
            </a:solidFill>
            <a:prstDash val="solid"/>
          </a:ln>
        </p:spPr>
      </p:sp>
      <p:sp>
        <p:nvSpPr>
          <p:cNvPr id="5" name="Text 3"/>
          <p:cNvSpPr/>
          <p:nvPr/>
        </p:nvSpPr>
        <p:spPr>
          <a:xfrm>
            <a:off x="548640" y="1371600"/>
            <a:ext cx="1325880" cy="502920"/>
          </a:xfrm>
          <a:prstGeom prst="rect">
            <a:avLst/>
          </a:prstGeom>
          <a:noFill/>
          <a:ln/>
        </p:spPr>
        <p:txBody>
          <a:bodyPr wrap="square" lIns="0" tIns="0" rIns="0" bIns="0" rtlCol="0" anchor="ctr"/>
          <a:lstStyle/>
          <a:p>
            <a:pPr algn="ctr" indent="0" marL="0">
              <a:buNone/>
            </a:pPr>
            <a:r>
              <a:rPr lang="en-US" sz="1600" b="1" dirty="0">
                <a:solidFill>
                  <a:srgbClr val="1C7293"/>
                </a:solidFill>
                <a:latin typeface="Cambria" pitchFamily="34" charset="0"/>
                <a:ea typeface="Cambria" pitchFamily="34" charset="-122"/>
                <a:cs typeface="Cambria" pitchFamily="34" charset="-120"/>
              </a:rPr>
              <a:t>≈ 177 mil km</a:t>
            </a:r>
            <a:endParaRPr lang="en-US" sz="1600" dirty="0"/>
          </a:p>
        </p:txBody>
      </p:sp>
      <p:sp>
        <p:nvSpPr>
          <p:cNvPr id="6" name="Text 4"/>
          <p:cNvSpPr/>
          <p:nvPr/>
        </p:nvSpPr>
        <p:spPr>
          <a:xfrm>
            <a:off x="594360" y="1901952"/>
            <a:ext cx="1234440" cy="548640"/>
          </a:xfrm>
          <a:prstGeom prst="rect">
            <a:avLst/>
          </a:prstGeom>
          <a:noFill/>
          <a:ln/>
        </p:spPr>
        <p:txBody>
          <a:bodyPr wrap="square" lIns="0" tIns="0" rIns="0" bIns="0" rtlCol="0" anchor="ctr"/>
          <a:lstStyle/>
          <a:p>
            <a:pPr algn="ctr" indent="0" marL="0">
              <a:buNone/>
            </a:pPr>
            <a:r>
              <a:rPr lang="en-US" sz="1000" dirty="0">
                <a:solidFill>
                  <a:srgbClr val="5C6F80"/>
                </a:solidFill>
                <a:latin typeface="Calibri" pitchFamily="34" charset="0"/>
                <a:ea typeface="Calibri" pitchFamily="34" charset="-122"/>
                <a:cs typeface="Calibri" pitchFamily="34" charset="-120"/>
              </a:rPr>
              <a:t>de linhas na Rede Básica</a:t>
            </a:r>
            <a:endParaRPr lang="en-US" sz="1000" dirty="0"/>
          </a:p>
        </p:txBody>
      </p:sp>
      <p:sp>
        <p:nvSpPr>
          <p:cNvPr id="7" name="Text 5"/>
          <p:cNvSpPr/>
          <p:nvPr/>
        </p:nvSpPr>
        <p:spPr>
          <a:xfrm>
            <a:off x="1920240" y="1645920"/>
            <a:ext cx="265176" cy="457200"/>
          </a:xfrm>
          <a:prstGeom prst="rect">
            <a:avLst/>
          </a:prstGeom>
          <a:noFill/>
          <a:ln/>
        </p:spPr>
        <p:txBody>
          <a:bodyPr wrap="square" lIns="0" tIns="0" rIns="0" bIns="0" rtlCol="0" anchor="ctr"/>
          <a:lstStyle/>
          <a:p>
            <a:pPr algn="ctr" indent="0" marL="0">
              <a:buNone/>
            </a:pPr>
            <a:r>
              <a:rPr lang="en-US" sz="2000" b="1" dirty="0">
                <a:solidFill>
                  <a:srgbClr val="A9BCCC"/>
                </a:solidFill>
                <a:latin typeface="Cambria" pitchFamily="34" charset="0"/>
                <a:ea typeface="Cambria" pitchFamily="34" charset="-122"/>
                <a:cs typeface="Cambria" pitchFamily="34" charset="-120"/>
              </a:rPr>
              <a:t>×</a:t>
            </a:r>
            <a:endParaRPr lang="en-US" sz="2000" dirty="0"/>
          </a:p>
        </p:txBody>
      </p:sp>
      <p:sp>
        <p:nvSpPr>
          <p:cNvPr id="8" name="Shape 6"/>
          <p:cNvSpPr/>
          <p:nvPr/>
        </p:nvSpPr>
        <p:spPr>
          <a:xfrm>
            <a:off x="2185416" y="1234440"/>
            <a:ext cx="1417320" cy="1325880"/>
          </a:xfrm>
          <a:prstGeom prst="roundRect">
            <a:avLst>
              <a:gd name="adj" fmla="val 4828"/>
            </a:avLst>
          </a:prstGeom>
          <a:solidFill>
            <a:srgbClr val="F1F4F7"/>
          </a:solidFill>
          <a:ln w="9525">
            <a:solidFill>
              <a:srgbClr val="E4EAF0"/>
            </a:solidFill>
            <a:prstDash val="solid"/>
          </a:ln>
        </p:spPr>
      </p:sp>
      <p:sp>
        <p:nvSpPr>
          <p:cNvPr id="9" name="Text 7"/>
          <p:cNvSpPr/>
          <p:nvPr/>
        </p:nvSpPr>
        <p:spPr>
          <a:xfrm>
            <a:off x="2231136" y="1371600"/>
            <a:ext cx="1325880" cy="502920"/>
          </a:xfrm>
          <a:prstGeom prst="rect">
            <a:avLst/>
          </a:prstGeom>
          <a:noFill/>
          <a:ln/>
        </p:spPr>
        <p:txBody>
          <a:bodyPr wrap="square" lIns="0" tIns="0" rIns="0" bIns="0" rtlCol="0" anchor="ctr"/>
          <a:lstStyle/>
          <a:p>
            <a:pPr algn="ctr" indent="0" marL="0">
              <a:buNone/>
            </a:pPr>
            <a:r>
              <a:rPr lang="en-US" sz="1600" b="1" dirty="0">
                <a:solidFill>
                  <a:srgbClr val="1C7293"/>
                </a:solidFill>
                <a:latin typeface="Cambria" pitchFamily="34" charset="0"/>
                <a:ea typeface="Cambria" pitchFamily="34" charset="-122"/>
                <a:cs typeface="Cambria" pitchFamily="34" charset="-120"/>
              </a:rPr>
              <a:t>≈ 2 torres</a:t>
            </a:r>
            <a:endParaRPr lang="en-US" sz="1600" dirty="0"/>
          </a:p>
        </p:txBody>
      </p:sp>
      <p:sp>
        <p:nvSpPr>
          <p:cNvPr id="10" name="Text 8"/>
          <p:cNvSpPr/>
          <p:nvPr/>
        </p:nvSpPr>
        <p:spPr>
          <a:xfrm>
            <a:off x="2276856" y="1901952"/>
            <a:ext cx="1234440" cy="548640"/>
          </a:xfrm>
          <a:prstGeom prst="rect">
            <a:avLst/>
          </a:prstGeom>
          <a:noFill/>
          <a:ln/>
        </p:spPr>
        <p:txBody>
          <a:bodyPr wrap="square" lIns="0" tIns="0" rIns="0" bIns="0" rtlCol="0" anchor="ctr"/>
          <a:lstStyle/>
          <a:p>
            <a:pPr algn="ctr" indent="0" marL="0">
              <a:buNone/>
            </a:pPr>
            <a:r>
              <a:rPr lang="en-US" sz="1000" dirty="0">
                <a:solidFill>
                  <a:srgbClr val="5C6F80"/>
                </a:solidFill>
                <a:latin typeface="Calibri" pitchFamily="34" charset="0"/>
                <a:ea typeface="Calibri" pitchFamily="34" charset="-122"/>
                <a:cs typeface="Calibri" pitchFamily="34" charset="-120"/>
              </a:rPr>
              <a:t>por km, vão médio de 500 m</a:t>
            </a:r>
            <a:endParaRPr lang="en-US" sz="1000" dirty="0"/>
          </a:p>
        </p:txBody>
      </p:sp>
      <p:sp>
        <p:nvSpPr>
          <p:cNvPr id="11" name="Text 9"/>
          <p:cNvSpPr/>
          <p:nvPr/>
        </p:nvSpPr>
        <p:spPr>
          <a:xfrm>
            <a:off x="3602736" y="1645920"/>
            <a:ext cx="265176" cy="457200"/>
          </a:xfrm>
          <a:prstGeom prst="rect">
            <a:avLst/>
          </a:prstGeom>
          <a:noFill/>
          <a:ln/>
        </p:spPr>
        <p:txBody>
          <a:bodyPr wrap="square" lIns="0" tIns="0" rIns="0" bIns="0" rtlCol="0" anchor="ctr"/>
          <a:lstStyle/>
          <a:p>
            <a:pPr algn="ctr" indent="0" marL="0">
              <a:buNone/>
            </a:pPr>
            <a:r>
              <a:rPr lang="en-US" sz="2000" b="1" dirty="0">
                <a:solidFill>
                  <a:srgbClr val="A9BCCC"/>
                </a:solidFill>
                <a:latin typeface="Cambria" pitchFamily="34" charset="0"/>
                <a:ea typeface="Cambria" pitchFamily="34" charset="-122"/>
                <a:cs typeface="Cambria" pitchFamily="34" charset="-120"/>
              </a:rPr>
              <a:t>=</a:t>
            </a:r>
            <a:endParaRPr lang="en-US" sz="2000" dirty="0"/>
          </a:p>
        </p:txBody>
      </p:sp>
      <p:sp>
        <p:nvSpPr>
          <p:cNvPr id="12" name="Shape 10"/>
          <p:cNvSpPr/>
          <p:nvPr/>
        </p:nvSpPr>
        <p:spPr>
          <a:xfrm>
            <a:off x="3867912" y="1234440"/>
            <a:ext cx="1417320" cy="1325880"/>
          </a:xfrm>
          <a:prstGeom prst="roundRect">
            <a:avLst>
              <a:gd name="adj" fmla="val 4828"/>
            </a:avLst>
          </a:prstGeom>
          <a:solidFill>
            <a:srgbClr val="F1F4F7"/>
          </a:solidFill>
          <a:ln w="9525">
            <a:solidFill>
              <a:srgbClr val="E4EAF0"/>
            </a:solidFill>
            <a:prstDash val="solid"/>
          </a:ln>
        </p:spPr>
      </p:sp>
      <p:sp>
        <p:nvSpPr>
          <p:cNvPr id="13" name="Text 11"/>
          <p:cNvSpPr/>
          <p:nvPr/>
        </p:nvSpPr>
        <p:spPr>
          <a:xfrm>
            <a:off x="3913632" y="1371600"/>
            <a:ext cx="1325880" cy="502920"/>
          </a:xfrm>
          <a:prstGeom prst="rect">
            <a:avLst/>
          </a:prstGeom>
          <a:noFill/>
          <a:ln/>
        </p:spPr>
        <p:txBody>
          <a:bodyPr wrap="square" lIns="0" tIns="0" rIns="0" bIns="0" rtlCol="0" anchor="ctr"/>
          <a:lstStyle/>
          <a:p>
            <a:pPr algn="ctr" indent="0" marL="0">
              <a:buNone/>
            </a:pPr>
            <a:r>
              <a:rPr lang="en-US" sz="1600" b="1" dirty="0">
                <a:solidFill>
                  <a:srgbClr val="1C7293"/>
                </a:solidFill>
                <a:latin typeface="Cambria" pitchFamily="34" charset="0"/>
                <a:ea typeface="Cambria" pitchFamily="34" charset="-122"/>
                <a:cs typeface="Cambria" pitchFamily="34" charset="-120"/>
              </a:rPr>
              <a:t>≈ 350 mil</a:t>
            </a:r>
            <a:endParaRPr lang="en-US" sz="1600" dirty="0"/>
          </a:p>
        </p:txBody>
      </p:sp>
      <p:sp>
        <p:nvSpPr>
          <p:cNvPr id="14" name="Text 12"/>
          <p:cNvSpPr/>
          <p:nvPr/>
        </p:nvSpPr>
        <p:spPr>
          <a:xfrm>
            <a:off x="3959352" y="1901952"/>
            <a:ext cx="1234440" cy="548640"/>
          </a:xfrm>
          <a:prstGeom prst="rect">
            <a:avLst/>
          </a:prstGeom>
          <a:noFill/>
          <a:ln/>
        </p:spPr>
        <p:txBody>
          <a:bodyPr wrap="square" lIns="0" tIns="0" rIns="0" bIns="0" rtlCol="0" anchor="ctr"/>
          <a:lstStyle/>
          <a:p>
            <a:pPr algn="ctr" indent="0" marL="0">
              <a:buNone/>
            </a:pPr>
            <a:r>
              <a:rPr lang="en-US" sz="1000" dirty="0">
                <a:solidFill>
                  <a:srgbClr val="5C6F80"/>
                </a:solidFill>
                <a:latin typeface="Calibri" pitchFamily="34" charset="0"/>
                <a:ea typeface="Calibri" pitchFamily="34" charset="-122"/>
                <a:cs typeface="Calibri" pitchFamily="34" charset="-120"/>
              </a:rPr>
              <a:t>estruturas</a:t>
            </a:r>
            <a:endParaRPr lang="en-US" sz="1000" dirty="0"/>
          </a:p>
        </p:txBody>
      </p:sp>
      <p:sp>
        <p:nvSpPr>
          <p:cNvPr id="15" name="Text 13"/>
          <p:cNvSpPr/>
          <p:nvPr/>
        </p:nvSpPr>
        <p:spPr>
          <a:xfrm>
            <a:off x="5285232" y="1645920"/>
            <a:ext cx="265176" cy="457200"/>
          </a:xfrm>
          <a:prstGeom prst="rect">
            <a:avLst/>
          </a:prstGeom>
          <a:noFill/>
          <a:ln/>
        </p:spPr>
        <p:txBody>
          <a:bodyPr wrap="square" lIns="0" tIns="0" rIns="0" bIns="0" rtlCol="0" anchor="ctr"/>
          <a:lstStyle/>
          <a:p>
            <a:pPr algn="ctr" indent="0" marL="0">
              <a:buNone/>
            </a:pPr>
            <a:r>
              <a:rPr lang="en-US" sz="2000" b="1" dirty="0">
                <a:solidFill>
                  <a:srgbClr val="A9BCCC"/>
                </a:solidFill>
                <a:latin typeface="Cambria" pitchFamily="34" charset="0"/>
                <a:ea typeface="Cambria" pitchFamily="34" charset="-122"/>
                <a:cs typeface="Cambria" pitchFamily="34" charset="-120"/>
              </a:rPr>
              <a:t>×</a:t>
            </a:r>
            <a:endParaRPr lang="en-US" sz="2000" dirty="0"/>
          </a:p>
        </p:txBody>
      </p:sp>
      <p:sp>
        <p:nvSpPr>
          <p:cNvPr id="16" name="Shape 14"/>
          <p:cNvSpPr/>
          <p:nvPr/>
        </p:nvSpPr>
        <p:spPr>
          <a:xfrm>
            <a:off x="5550408" y="1234440"/>
            <a:ext cx="1417320" cy="1325880"/>
          </a:xfrm>
          <a:prstGeom prst="roundRect">
            <a:avLst>
              <a:gd name="adj" fmla="val 4828"/>
            </a:avLst>
          </a:prstGeom>
          <a:solidFill>
            <a:srgbClr val="F1F4F7"/>
          </a:solidFill>
          <a:ln w="9525">
            <a:solidFill>
              <a:srgbClr val="E4EAF0"/>
            </a:solidFill>
            <a:prstDash val="solid"/>
          </a:ln>
        </p:spPr>
      </p:sp>
      <p:sp>
        <p:nvSpPr>
          <p:cNvPr id="17" name="Text 15"/>
          <p:cNvSpPr/>
          <p:nvPr/>
        </p:nvSpPr>
        <p:spPr>
          <a:xfrm>
            <a:off x="5596128" y="1371600"/>
            <a:ext cx="1325880" cy="502920"/>
          </a:xfrm>
          <a:prstGeom prst="rect">
            <a:avLst/>
          </a:prstGeom>
          <a:noFill/>
          <a:ln/>
        </p:spPr>
        <p:txBody>
          <a:bodyPr wrap="square" lIns="0" tIns="0" rIns="0" bIns="0" rtlCol="0" anchor="ctr"/>
          <a:lstStyle/>
          <a:p>
            <a:pPr algn="ctr" indent="0" marL="0">
              <a:buNone/>
            </a:pPr>
            <a:r>
              <a:rPr lang="en-US" sz="1600" b="1" dirty="0">
                <a:solidFill>
                  <a:srgbClr val="1C7293"/>
                </a:solidFill>
                <a:latin typeface="Cambria" pitchFamily="34" charset="0"/>
                <a:ea typeface="Cambria" pitchFamily="34" charset="-122"/>
                <a:cs typeface="Cambria" pitchFamily="34" charset="-120"/>
              </a:rPr>
              <a:t>R$ 450</a:t>
            </a:r>
            <a:endParaRPr lang="en-US" sz="1600" dirty="0"/>
          </a:p>
        </p:txBody>
      </p:sp>
      <p:sp>
        <p:nvSpPr>
          <p:cNvPr id="18" name="Text 16"/>
          <p:cNvSpPr/>
          <p:nvPr/>
        </p:nvSpPr>
        <p:spPr>
          <a:xfrm>
            <a:off x="5641848" y="1901952"/>
            <a:ext cx="1234440" cy="548640"/>
          </a:xfrm>
          <a:prstGeom prst="rect">
            <a:avLst/>
          </a:prstGeom>
          <a:noFill/>
          <a:ln/>
        </p:spPr>
        <p:txBody>
          <a:bodyPr wrap="square" lIns="0" tIns="0" rIns="0" bIns="0" rtlCol="0" anchor="ctr"/>
          <a:lstStyle/>
          <a:p>
            <a:pPr algn="ctr" indent="0" marL="0">
              <a:buNone/>
            </a:pPr>
            <a:r>
              <a:rPr lang="en-US" sz="1000" dirty="0">
                <a:solidFill>
                  <a:srgbClr val="5C6F80"/>
                </a:solidFill>
                <a:latin typeface="Calibri" pitchFamily="34" charset="0"/>
                <a:ea typeface="Calibri" pitchFamily="34" charset="-122"/>
                <a:cs typeface="Calibri" pitchFamily="34" charset="-120"/>
              </a:rPr>
              <a:t>de economia por torre com drone</a:t>
            </a:r>
            <a:endParaRPr lang="en-US" sz="1000" dirty="0"/>
          </a:p>
        </p:txBody>
      </p:sp>
      <p:sp>
        <p:nvSpPr>
          <p:cNvPr id="19" name="Text 17"/>
          <p:cNvSpPr/>
          <p:nvPr/>
        </p:nvSpPr>
        <p:spPr>
          <a:xfrm>
            <a:off x="6967728" y="1645920"/>
            <a:ext cx="265176" cy="457200"/>
          </a:xfrm>
          <a:prstGeom prst="rect">
            <a:avLst/>
          </a:prstGeom>
          <a:noFill/>
          <a:ln/>
        </p:spPr>
        <p:txBody>
          <a:bodyPr wrap="square" lIns="0" tIns="0" rIns="0" bIns="0" rtlCol="0" anchor="ctr"/>
          <a:lstStyle/>
          <a:p>
            <a:pPr algn="ctr" indent="0" marL="0">
              <a:buNone/>
            </a:pPr>
            <a:r>
              <a:rPr lang="en-US" sz="2000" b="1" dirty="0">
                <a:solidFill>
                  <a:srgbClr val="A9BCCC"/>
                </a:solidFill>
                <a:latin typeface="Cambria" pitchFamily="34" charset="0"/>
                <a:ea typeface="Cambria" pitchFamily="34" charset="-122"/>
                <a:cs typeface="Cambria" pitchFamily="34" charset="-120"/>
              </a:rPr>
              <a:t>=</a:t>
            </a:r>
            <a:endParaRPr lang="en-US" sz="2000" dirty="0"/>
          </a:p>
        </p:txBody>
      </p:sp>
      <p:sp>
        <p:nvSpPr>
          <p:cNvPr id="20" name="Shape 18"/>
          <p:cNvSpPr/>
          <p:nvPr/>
        </p:nvSpPr>
        <p:spPr>
          <a:xfrm>
            <a:off x="7232904" y="1234440"/>
            <a:ext cx="1417320" cy="1325880"/>
          </a:xfrm>
          <a:prstGeom prst="roundRect">
            <a:avLst>
              <a:gd name="adj" fmla="val 4828"/>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1" name="Text 19"/>
          <p:cNvSpPr/>
          <p:nvPr/>
        </p:nvSpPr>
        <p:spPr>
          <a:xfrm>
            <a:off x="7278624" y="1371600"/>
            <a:ext cx="1325880" cy="502920"/>
          </a:xfrm>
          <a:prstGeom prst="rect">
            <a:avLst/>
          </a:prstGeom>
          <a:noFill/>
          <a:ln/>
        </p:spPr>
        <p:txBody>
          <a:bodyPr wrap="square" lIns="0" tIns="0" rIns="0" bIns="0" rtlCol="0" anchor="ctr"/>
          <a:lstStyle/>
          <a:p>
            <a:pPr algn="ctr" indent="0" marL="0">
              <a:buNone/>
            </a:pPr>
            <a:r>
              <a:rPr lang="en-US" sz="1700" b="1" dirty="0">
                <a:solidFill>
                  <a:srgbClr val="F5A54A"/>
                </a:solidFill>
                <a:latin typeface="Cambria" pitchFamily="34" charset="0"/>
                <a:ea typeface="Cambria" pitchFamily="34" charset="-122"/>
                <a:cs typeface="Cambria" pitchFamily="34" charset="-120"/>
              </a:rPr>
              <a:t>≈ R$ 157 mi</a:t>
            </a:r>
            <a:endParaRPr lang="en-US" sz="1700" dirty="0"/>
          </a:p>
        </p:txBody>
      </p:sp>
      <p:sp>
        <p:nvSpPr>
          <p:cNvPr id="22" name="Text 20"/>
          <p:cNvSpPr/>
          <p:nvPr/>
        </p:nvSpPr>
        <p:spPr>
          <a:xfrm>
            <a:off x="7324344" y="1901952"/>
            <a:ext cx="1234440" cy="54864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por ciclo de inspeção</a:t>
            </a:r>
            <a:endParaRPr lang="en-US" sz="1000" dirty="0"/>
          </a:p>
        </p:txBody>
      </p:sp>
      <p:sp>
        <p:nvSpPr>
          <p:cNvPr id="23" name="Text 21"/>
          <p:cNvSpPr/>
          <p:nvPr/>
        </p:nvSpPr>
        <p:spPr>
          <a:xfrm>
            <a:off x="502920" y="2651760"/>
            <a:ext cx="813816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Estimativa de ordem de grandeza. Economia por torre: R$ 750 no método tradicional contra R$ 300 com drone.</a:t>
            </a:r>
            <a:endParaRPr lang="en-US" sz="950" dirty="0"/>
          </a:p>
        </p:txBody>
      </p:sp>
      <p:sp>
        <p:nvSpPr>
          <p:cNvPr id="24" name="Shape 22"/>
          <p:cNvSpPr/>
          <p:nvPr/>
        </p:nvSpPr>
        <p:spPr>
          <a:xfrm>
            <a:off x="502920" y="3063240"/>
            <a:ext cx="2606040" cy="1389888"/>
          </a:xfrm>
          <a:prstGeom prst="roundRect">
            <a:avLst>
              <a:gd name="adj" fmla="val 4605"/>
            </a:avLst>
          </a:prstGeom>
          <a:solidFill>
            <a:srgbClr val="F1F4F7"/>
          </a:solidFill>
          <a:ln w="9525">
            <a:solidFill>
              <a:srgbClr val="E4EAF0"/>
            </a:solidFill>
            <a:prstDash val="solid"/>
          </a:ln>
        </p:spPr>
      </p:sp>
      <p:sp>
        <p:nvSpPr>
          <p:cNvPr id="25" name="Text 23"/>
          <p:cNvSpPr/>
          <p:nvPr/>
        </p:nvSpPr>
        <p:spPr>
          <a:xfrm>
            <a:off x="685800" y="3172968"/>
            <a:ext cx="2286000" cy="274320"/>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Continuidade</a:t>
            </a:r>
            <a:endParaRPr lang="en-US" sz="1250" dirty="0"/>
          </a:p>
        </p:txBody>
      </p:sp>
      <p:sp>
        <p:nvSpPr>
          <p:cNvPr id="26" name="Text 24"/>
          <p:cNvSpPr/>
          <p:nvPr/>
        </p:nvSpPr>
        <p:spPr>
          <a:xfrm>
            <a:off x="685800" y="3474720"/>
            <a:ext cx="2286000" cy="8686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Cada falha evitada reduz DEC, FEC e o R$ 1 bi anual em compensações ao consumidor</a:t>
            </a:r>
            <a:endParaRPr lang="en-US" sz="1050" dirty="0"/>
          </a:p>
        </p:txBody>
      </p:sp>
      <p:sp>
        <p:nvSpPr>
          <p:cNvPr id="27" name="Shape 25"/>
          <p:cNvSpPr/>
          <p:nvPr/>
        </p:nvSpPr>
        <p:spPr>
          <a:xfrm>
            <a:off x="3291840" y="3063240"/>
            <a:ext cx="2606040" cy="1389888"/>
          </a:xfrm>
          <a:prstGeom prst="roundRect">
            <a:avLst>
              <a:gd name="adj" fmla="val 4605"/>
            </a:avLst>
          </a:prstGeom>
          <a:solidFill>
            <a:srgbClr val="F1F4F7"/>
          </a:solidFill>
          <a:ln w="9525">
            <a:solidFill>
              <a:srgbClr val="E4EAF0"/>
            </a:solidFill>
            <a:prstDash val="solid"/>
          </a:ln>
        </p:spPr>
      </p:sp>
      <p:sp>
        <p:nvSpPr>
          <p:cNvPr id="28" name="Text 26"/>
          <p:cNvSpPr/>
          <p:nvPr/>
        </p:nvSpPr>
        <p:spPr>
          <a:xfrm>
            <a:off x="3474720" y="3172968"/>
            <a:ext cx="2286000" cy="274320"/>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Receita</a:t>
            </a:r>
            <a:endParaRPr lang="en-US" sz="1250" dirty="0"/>
          </a:p>
        </p:txBody>
      </p:sp>
      <p:sp>
        <p:nvSpPr>
          <p:cNvPr id="29" name="Text 27"/>
          <p:cNvSpPr/>
          <p:nvPr/>
        </p:nvSpPr>
        <p:spPr>
          <a:xfrm>
            <a:off x="3474720" y="3474720"/>
            <a:ext cx="2286000" cy="8686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Menos horas de indisponibilidade descontadas na Parcela Variável da transmissora</a:t>
            </a:r>
            <a:endParaRPr lang="en-US" sz="1050" dirty="0"/>
          </a:p>
        </p:txBody>
      </p:sp>
      <p:sp>
        <p:nvSpPr>
          <p:cNvPr id="30" name="Shape 28"/>
          <p:cNvSpPr/>
          <p:nvPr/>
        </p:nvSpPr>
        <p:spPr>
          <a:xfrm>
            <a:off x="6080760" y="3063240"/>
            <a:ext cx="2606040" cy="1389888"/>
          </a:xfrm>
          <a:prstGeom prst="roundRect">
            <a:avLst>
              <a:gd name="adj" fmla="val 4605"/>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9"/>
          <p:cNvSpPr/>
          <p:nvPr/>
        </p:nvSpPr>
        <p:spPr>
          <a:xfrm>
            <a:off x="6263640" y="3172968"/>
            <a:ext cx="2286000" cy="274320"/>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Condição para escala</a:t>
            </a:r>
            <a:endParaRPr lang="en-US" sz="1250" dirty="0"/>
          </a:p>
        </p:txBody>
      </p:sp>
      <p:sp>
        <p:nvSpPr>
          <p:cNvPr id="32" name="Text 30"/>
          <p:cNvSpPr/>
          <p:nvPr/>
        </p:nvSpPr>
        <p:spPr>
          <a:xfrm>
            <a:off x="6263640" y="3474720"/>
            <a:ext cx="2286000" cy="868680"/>
          </a:xfrm>
          <a:prstGeom prst="rect">
            <a:avLst/>
          </a:prstGeom>
          <a:noFill/>
          <a:ln/>
        </p:spPr>
        <p:txBody>
          <a:bodyPr wrap="square" lIns="0" tIns="0" rIns="0" bIns="0" rtlCol="0" anchor="ctr"/>
          <a:lstStyle/>
          <a:p>
            <a:pPr indent="0" marL="0">
              <a:lnSpc>
                <a:spcPct val="105000"/>
              </a:lnSpc>
              <a:buNone/>
            </a:pPr>
            <a:r>
              <a:rPr lang="en-US" sz="1050" dirty="0">
                <a:solidFill>
                  <a:srgbClr val="FFFFFF"/>
                </a:solidFill>
                <a:latin typeface="Calibri" pitchFamily="34" charset="0"/>
                <a:ea typeface="Calibri" pitchFamily="34" charset="-122"/>
                <a:cs typeface="Calibri" pitchFamily="34" charset="-120"/>
              </a:rPr>
              <a:t>Milhares de imagens por campanha só viram economia com triagem automática confiável</a:t>
            </a:r>
            <a:endParaRPr lang="en-US" sz="1050" dirty="0"/>
          </a:p>
        </p:txBody>
      </p:sp>
      <p:sp>
        <p:nvSpPr>
          <p:cNvPr id="33" name="Text 31"/>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Impacto</a:t>
            </a:r>
            <a:endParaRPr lang="en-US" sz="900" dirty="0"/>
          </a:p>
        </p:txBody>
      </p:sp>
      <p:sp>
        <p:nvSpPr>
          <p:cNvPr id="34" name="Text 32"/>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Bases: ONS (PAR/PEL 2025), DronePower (Energy Summit 2025) e ANEEL (2025)</a:t>
            </a:r>
            <a:endParaRPr lang="en-US" sz="750" dirty="0"/>
          </a:p>
        </p:txBody>
      </p:sp>
      <p:sp>
        <p:nvSpPr>
          <p:cNvPr id="35" name="Text 3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IMPACTO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Além do custo: segurança, escala e padronização</a:t>
            </a:r>
            <a:endParaRPr lang="en-US" sz="2800" dirty="0"/>
          </a:p>
        </p:txBody>
      </p:sp>
      <p:sp>
        <p:nvSpPr>
          <p:cNvPr id="4" name="Shape 2"/>
          <p:cNvSpPr/>
          <p:nvPr/>
        </p:nvSpPr>
        <p:spPr>
          <a:xfrm>
            <a:off x="502920" y="1234440"/>
            <a:ext cx="2606040" cy="1463040"/>
          </a:xfrm>
          <a:prstGeom prst="roundRect">
            <a:avLst>
              <a:gd name="adj" fmla="val 4375"/>
            </a:avLst>
          </a:prstGeom>
          <a:solidFill>
            <a:srgbClr val="F1F4F7"/>
          </a:solidFill>
          <a:ln w="9525">
            <a:solidFill>
              <a:srgbClr val="E4EAF0"/>
            </a:solidFill>
            <a:prstDash val="solid"/>
          </a:ln>
        </p:spPr>
      </p:sp>
      <p:sp>
        <p:nvSpPr>
          <p:cNvPr id="5" name="Shape 3"/>
          <p:cNvSpPr/>
          <p:nvPr/>
        </p:nvSpPr>
        <p:spPr>
          <a:xfrm>
            <a:off x="502920" y="1234440"/>
            <a:ext cx="2606040" cy="73152"/>
          </a:xfrm>
          <a:prstGeom prst="rect">
            <a:avLst/>
          </a:prstGeom>
          <a:solidFill>
            <a:srgbClr val="1C7293"/>
          </a:solidFill>
          <a:ln/>
        </p:spPr>
      </p:sp>
      <p:sp>
        <p:nvSpPr>
          <p:cNvPr id="6" name="Shape 4"/>
          <p:cNvSpPr/>
          <p:nvPr/>
        </p:nvSpPr>
        <p:spPr>
          <a:xfrm>
            <a:off x="685800" y="1508760"/>
            <a:ext cx="420624" cy="420624"/>
          </a:xfrm>
          <a:prstGeom prst="ellipse">
            <a:avLst/>
          </a:prstGeom>
          <a:solidFill>
            <a:srgbClr val="1C7293"/>
          </a:solidFill>
          <a:ln w="12700">
            <a:solidFill>
              <a:srgbClr val="1C7293"/>
            </a:solidFill>
            <a:prstDash val="solid"/>
          </a:ln>
        </p:spPr>
      </p:sp>
      <p:sp>
        <p:nvSpPr>
          <p:cNvPr id="7" name="Text 5"/>
          <p:cNvSpPr/>
          <p:nvPr/>
        </p:nvSpPr>
        <p:spPr>
          <a:xfrm>
            <a:off x="68580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234440" y="1508760"/>
            <a:ext cx="1783080" cy="42062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Segurança</a:t>
            </a:r>
            <a:endParaRPr lang="en-US" sz="1400" dirty="0"/>
          </a:p>
        </p:txBody>
      </p:sp>
      <p:sp>
        <p:nvSpPr>
          <p:cNvPr id="9" name="Text 7"/>
          <p:cNvSpPr/>
          <p:nvPr/>
        </p:nvSpPr>
        <p:spPr>
          <a:xfrm>
            <a:off x="68580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Menos equipe em altura e perto de condutores energizados</a:t>
            </a:r>
            <a:endParaRPr lang="en-US" sz="1050" dirty="0"/>
          </a:p>
        </p:txBody>
      </p:sp>
      <p:sp>
        <p:nvSpPr>
          <p:cNvPr id="10" name="Shape 8"/>
          <p:cNvSpPr/>
          <p:nvPr/>
        </p:nvSpPr>
        <p:spPr>
          <a:xfrm>
            <a:off x="3291840" y="1234440"/>
            <a:ext cx="2606040" cy="1463040"/>
          </a:xfrm>
          <a:prstGeom prst="roundRect">
            <a:avLst>
              <a:gd name="adj" fmla="val 4375"/>
            </a:avLst>
          </a:prstGeom>
          <a:solidFill>
            <a:srgbClr val="F1F4F7"/>
          </a:solidFill>
          <a:ln w="9525">
            <a:solidFill>
              <a:srgbClr val="E4EAF0"/>
            </a:solidFill>
            <a:prstDash val="solid"/>
          </a:ln>
        </p:spPr>
      </p:sp>
      <p:sp>
        <p:nvSpPr>
          <p:cNvPr id="11" name="Shape 9"/>
          <p:cNvSpPr/>
          <p:nvPr/>
        </p:nvSpPr>
        <p:spPr>
          <a:xfrm>
            <a:off x="3291840" y="1234440"/>
            <a:ext cx="2606040" cy="73152"/>
          </a:xfrm>
          <a:prstGeom prst="rect">
            <a:avLst/>
          </a:prstGeom>
          <a:solidFill>
            <a:srgbClr val="1C7293"/>
          </a:solidFill>
          <a:ln/>
        </p:spPr>
      </p:sp>
      <p:sp>
        <p:nvSpPr>
          <p:cNvPr id="12" name="Shape 10"/>
          <p:cNvSpPr/>
          <p:nvPr/>
        </p:nvSpPr>
        <p:spPr>
          <a:xfrm>
            <a:off x="3474720" y="1508760"/>
            <a:ext cx="420624" cy="420624"/>
          </a:xfrm>
          <a:prstGeom prst="ellipse">
            <a:avLst/>
          </a:prstGeom>
          <a:solidFill>
            <a:srgbClr val="1C7293"/>
          </a:solidFill>
          <a:ln w="12700">
            <a:solidFill>
              <a:srgbClr val="1C7293"/>
            </a:solidFill>
            <a:prstDash val="solid"/>
          </a:ln>
        </p:spPr>
      </p:sp>
      <p:sp>
        <p:nvSpPr>
          <p:cNvPr id="13" name="Text 11"/>
          <p:cNvSpPr/>
          <p:nvPr/>
        </p:nvSpPr>
        <p:spPr>
          <a:xfrm>
            <a:off x="347472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4023360" y="1508760"/>
            <a:ext cx="1783080" cy="42062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Escala</a:t>
            </a:r>
            <a:endParaRPr lang="en-US" sz="1400" dirty="0"/>
          </a:p>
        </p:txBody>
      </p:sp>
      <p:sp>
        <p:nvSpPr>
          <p:cNvPr id="15" name="Text 13"/>
          <p:cNvSpPr/>
          <p:nvPr/>
        </p:nvSpPr>
        <p:spPr>
          <a:xfrm>
            <a:off x="347472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De 5 para 25 torres por dia, com todas as imagens analisadas</a:t>
            </a:r>
            <a:endParaRPr lang="en-US" sz="1050" dirty="0"/>
          </a:p>
        </p:txBody>
      </p:sp>
      <p:sp>
        <p:nvSpPr>
          <p:cNvPr id="16" name="Shape 14"/>
          <p:cNvSpPr/>
          <p:nvPr/>
        </p:nvSpPr>
        <p:spPr>
          <a:xfrm>
            <a:off x="6080760" y="1234440"/>
            <a:ext cx="2606040" cy="1463040"/>
          </a:xfrm>
          <a:prstGeom prst="roundRect">
            <a:avLst>
              <a:gd name="adj" fmla="val 4375"/>
            </a:avLst>
          </a:prstGeom>
          <a:solidFill>
            <a:srgbClr val="F1F4F7"/>
          </a:solidFill>
          <a:ln w="9525">
            <a:solidFill>
              <a:srgbClr val="E4EAF0"/>
            </a:solidFill>
            <a:prstDash val="solid"/>
          </a:ln>
        </p:spPr>
      </p:sp>
      <p:sp>
        <p:nvSpPr>
          <p:cNvPr id="17" name="Shape 15"/>
          <p:cNvSpPr/>
          <p:nvPr/>
        </p:nvSpPr>
        <p:spPr>
          <a:xfrm>
            <a:off x="6080760" y="1234440"/>
            <a:ext cx="2606040" cy="73152"/>
          </a:xfrm>
          <a:prstGeom prst="rect">
            <a:avLst/>
          </a:prstGeom>
          <a:solidFill>
            <a:srgbClr val="1C7293"/>
          </a:solidFill>
          <a:ln/>
        </p:spPr>
      </p:sp>
      <p:sp>
        <p:nvSpPr>
          <p:cNvPr id="18" name="Shape 16"/>
          <p:cNvSpPr/>
          <p:nvPr/>
        </p:nvSpPr>
        <p:spPr>
          <a:xfrm>
            <a:off x="6263640" y="1508760"/>
            <a:ext cx="420624" cy="420624"/>
          </a:xfrm>
          <a:prstGeom prst="ellipse">
            <a:avLst/>
          </a:prstGeom>
          <a:solidFill>
            <a:srgbClr val="1C7293"/>
          </a:solidFill>
          <a:ln w="12700">
            <a:solidFill>
              <a:srgbClr val="1C7293"/>
            </a:solidFill>
            <a:prstDash val="solid"/>
          </a:ln>
        </p:spPr>
      </p:sp>
      <p:sp>
        <p:nvSpPr>
          <p:cNvPr id="19" name="Text 17"/>
          <p:cNvSpPr/>
          <p:nvPr/>
        </p:nvSpPr>
        <p:spPr>
          <a:xfrm>
            <a:off x="626364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6812280" y="1508760"/>
            <a:ext cx="1783080" cy="42062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Padronização</a:t>
            </a:r>
            <a:endParaRPr lang="en-US" sz="1400" dirty="0"/>
          </a:p>
        </p:txBody>
      </p:sp>
      <p:sp>
        <p:nvSpPr>
          <p:cNvPr id="21" name="Text 19"/>
          <p:cNvSpPr/>
          <p:nvPr/>
        </p:nvSpPr>
        <p:spPr>
          <a:xfrm>
            <a:off x="626364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O mesmo critério da primeira à milésima imagem, sem cansaço</a:t>
            </a:r>
            <a:endParaRPr lang="en-US" sz="1050" dirty="0"/>
          </a:p>
        </p:txBody>
      </p:sp>
      <p:sp>
        <p:nvSpPr>
          <p:cNvPr id="22" name="Shape 20"/>
          <p:cNvSpPr/>
          <p:nvPr/>
        </p:nvSpPr>
        <p:spPr>
          <a:xfrm>
            <a:off x="502920" y="2880360"/>
            <a:ext cx="2606040" cy="1463040"/>
          </a:xfrm>
          <a:prstGeom prst="roundRect">
            <a:avLst>
              <a:gd name="adj" fmla="val 4375"/>
            </a:avLst>
          </a:prstGeom>
          <a:solidFill>
            <a:srgbClr val="F1F4F7"/>
          </a:solidFill>
          <a:ln w="9525">
            <a:solidFill>
              <a:srgbClr val="E4EAF0"/>
            </a:solidFill>
            <a:prstDash val="solid"/>
          </a:ln>
        </p:spPr>
      </p:sp>
      <p:sp>
        <p:nvSpPr>
          <p:cNvPr id="23" name="Shape 21"/>
          <p:cNvSpPr/>
          <p:nvPr/>
        </p:nvSpPr>
        <p:spPr>
          <a:xfrm>
            <a:off x="502920" y="2880360"/>
            <a:ext cx="2606040" cy="73152"/>
          </a:xfrm>
          <a:prstGeom prst="rect">
            <a:avLst/>
          </a:prstGeom>
          <a:solidFill>
            <a:srgbClr val="F5A54A"/>
          </a:solidFill>
          <a:ln/>
        </p:spPr>
      </p:sp>
      <p:sp>
        <p:nvSpPr>
          <p:cNvPr id="24" name="Shape 22"/>
          <p:cNvSpPr/>
          <p:nvPr/>
        </p:nvSpPr>
        <p:spPr>
          <a:xfrm>
            <a:off x="685800" y="3154680"/>
            <a:ext cx="420624" cy="420624"/>
          </a:xfrm>
          <a:prstGeom prst="ellipse">
            <a:avLst/>
          </a:prstGeom>
          <a:solidFill>
            <a:srgbClr val="F5A54A"/>
          </a:solidFill>
          <a:ln w="12700">
            <a:solidFill>
              <a:srgbClr val="F5A54A"/>
            </a:solidFill>
            <a:prstDash val="solid"/>
          </a:ln>
        </p:spPr>
      </p:sp>
      <p:sp>
        <p:nvSpPr>
          <p:cNvPr id="25" name="Text 23"/>
          <p:cNvSpPr/>
          <p:nvPr/>
        </p:nvSpPr>
        <p:spPr>
          <a:xfrm>
            <a:off x="68580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4</a:t>
            </a:r>
            <a:endParaRPr lang="en-US" sz="1200" dirty="0"/>
          </a:p>
        </p:txBody>
      </p:sp>
      <p:sp>
        <p:nvSpPr>
          <p:cNvPr id="26" name="Text 24"/>
          <p:cNvSpPr/>
          <p:nvPr/>
        </p:nvSpPr>
        <p:spPr>
          <a:xfrm>
            <a:off x="1234440" y="3154680"/>
            <a:ext cx="1783080" cy="42062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Rastreabilidade</a:t>
            </a:r>
            <a:endParaRPr lang="en-US" sz="1400" dirty="0"/>
          </a:p>
        </p:txBody>
      </p:sp>
      <p:sp>
        <p:nvSpPr>
          <p:cNvPr id="27" name="Text 25"/>
          <p:cNvSpPr/>
          <p:nvPr/>
        </p:nvSpPr>
        <p:spPr>
          <a:xfrm>
            <a:off x="68580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Histórico de imagens por torre para acompanhar a corrosão ano a ano</a:t>
            </a:r>
            <a:endParaRPr lang="en-US" sz="1050" dirty="0"/>
          </a:p>
        </p:txBody>
      </p:sp>
      <p:sp>
        <p:nvSpPr>
          <p:cNvPr id="28" name="Shape 26"/>
          <p:cNvSpPr/>
          <p:nvPr/>
        </p:nvSpPr>
        <p:spPr>
          <a:xfrm>
            <a:off x="3291840" y="2880360"/>
            <a:ext cx="2606040" cy="1463040"/>
          </a:xfrm>
          <a:prstGeom prst="roundRect">
            <a:avLst>
              <a:gd name="adj" fmla="val 4375"/>
            </a:avLst>
          </a:prstGeom>
          <a:solidFill>
            <a:srgbClr val="F1F4F7"/>
          </a:solidFill>
          <a:ln w="9525">
            <a:solidFill>
              <a:srgbClr val="E4EAF0"/>
            </a:solidFill>
            <a:prstDash val="solid"/>
          </a:ln>
        </p:spPr>
      </p:sp>
      <p:sp>
        <p:nvSpPr>
          <p:cNvPr id="29" name="Shape 27"/>
          <p:cNvSpPr/>
          <p:nvPr/>
        </p:nvSpPr>
        <p:spPr>
          <a:xfrm>
            <a:off x="3291840" y="2880360"/>
            <a:ext cx="2606040" cy="73152"/>
          </a:xfrm>
          <a:prstGeom prst="rect">
            <a:avLst/>
          </a:prstGeom>
          <a:solidFill>
            <a:srgbClr val="F5A54A"/>
          </a:solidFill>
          <a:ln/>
        </p:spPr>
      </p:sp>
      <p:sp>
        <p:nvSpPr>
          <p:cNvPr id="30" name="Shape 28"/>
          <p:cNvSpPr/>
          <p:nvPr/>
        </p:nvSpPr>
        <p:spPr>
          <a:xfrm>
            <a:off x="3474720" y="3154680"/>
            <a:ext cx="420624" cy="420624"/>
          </a:xfrm>
          <a:prstGeom prst="ellipse">
            <a:avLst/>
          </a:prstGeom>
          <a:solidFill>
            <a:srgbClr val="F5A54A"/>
          </a:solidFill>
          <a:ln w="12700">
            <a:solidFill>
              <a:srgbClr val="F5A54A"/>
            </a:solidFill>
            <a:prstDash val="solid"/>
          </a:ln>
        </p:spPr>
      </p:sp>
      <p:sp>
        <p:nvSpPr>
          <p:cNvPr id="31" name="Text 29"/>
          <p:cNvSpPr/>
          <p:nvPr/>
        </p:nvSpPr>
        <p:spPr>
          <a:xfrm>
            <a:off x="347472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5</a:t>
            </a:r>
            <a:endParaRPr lang="en-US" sz="1200" dirty="0"/>
          </a:p>
        </p:txBody>
      </p:sp>
      <p:sp>
        <p:nvSpPr>
          <p:cNvPr id="32" name="Text 30"/>
          <p:cNvSpPr/>
          <p:nvPr/>
        </p:nvSpPr>
        <p:spPr>
          <a:xfrm>
            <a:off x="4023360" y="3154680"/>
            <a:ext cx="1783080" cy="42062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Priorização</a:t>
            </a:r>
            <a:endParaRPr lang="en-US" sz="1400" dirty="0"/>
          </a:p>
        </p:txBody>
      </p:sp>
      <p:sp>
        <p:nvSpPr>
          <p:cNvPr id="33" name="Text 31"/>
          <p:cNvSpPr/>
          <p:nvPr/>
        </p:nvSpPr>
        <p:spPr>
          <a:xfrm>
            <a:off x="347472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Manutenção guiada pela condição do isolador, e não só pelo calendário</a:t>
            </a:r>
            <a:endParaRPr lang="en-US" sz="1050" dirty="0"/>
          </a:p>
        </p:txBody>
      </p:sp>
      <p:sp>
        <p:nvSpPr>
          <p:cNvPr id="34" name="Shape 32"/>
          <p:cNvSpPr/>
          <p:nvPr/>
        </p:nvSpPr>
        <p:spPr>
          <a:xfrm>
            <a:off x="6080760" y="2880360"/>
            <a:ext cx="2606040" cy="1463040"/>
          </a:xfrm>
          <a:prstGeom prst="roundRect">
            <a:avLst>
              <a:gd name="adj" fmla="val 4375"/>
            </a:avLst>
          </a:prstGeom>
          <a:solidFill>
            <a:srgbClr val="F1F4F7"/>
          </a:solidFill>
          <a:ln w="9525">
            <a:solidFill>
              <a:srgbClr val="E4EAF0"/>
            </a:solidFill>
            <a:prstDash val="solid"/>
          </a:ln>
        </p:spPr>
      </p:sp>
      <p:sp>
        <p:nvSpPr>
          <p:cNvPr id="35" name="Shape 33"/>
          <p:cNvSpPr/>
          <p:nvPr/>
        </p:nvSpPr>
        <p:spPr>
          <a:xfrm>
            <a:off x="6080760" y="2880360"/>
            <a:ext cx="2606040" cy="73152"/>
          </a:xfrm>
          <a:prstGeom prst="rect">
            <a:avLst/>
          </a:prstGeom>
          <a:solidFill>
            <a:srgbClr val="F5A54A"/>
          </a:solidFill>
          <a:ln/>
        </p:spPr>
      </p:sp>
      <p:sp>
        <p:nvSpPr>
          <p:cNvPr id="36" name="Shape 34"/>
          <p:cNvSpPr/>
          <p:nvPr/>
        </p:nvSpPr>
        <p:spPr>
          <a:xfrm>
            <a:off x="6263640" y="3154680"/>
            <a:ext cx="420624" cy="420624"/>
          </a:xfrm>
          <a:prstGeom prst="ellipse">
            <a:avLst/>
          </a:prstGeom>
          <a:solidFill>
            <a:srgbClr val="F5A54A"/>
          </a:solidFill>
          <a:ln w="12700">
            <a:solidFill>
              <a:srgbClr val="F5A54A"/>
            </a:solidFill>
            <a:prstDash val="solid"/>
          </a:ln>
        </p:spPr>
      </p:sp>
      <p:sp>
        <p:nvSpPr>
          <p:cNvPr id="37" name="Text 35"/>
          <p:cNvSpPr/>
          <p:nvPr/>
        </p:nvSpPr>
        <p:spPr>
          <a:xfrm>
            <a:off x="626364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6</a:t>
            </a:r>
            <a:endParaRPr lang="en-US" sz="1200" dirty="0"/>
          </a:p>
        </p:txBody>
      </p:sp>
      <p:sp>
        <p:nvSpPr>
          <p:cNvPr id="38" name="Text 36"/>
          <p:cNvSpPr/>
          <p:nvPr/>
        </p:nvSpPr>
        <p:spPr>
          <a:xfrm>
            <a:off x="6812280" y="3154680"/>
            <a:ext cx="1783080" cy="420624"/>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Rapidez</a:t>
            </a:r>
            <a:endParaRPr lang="en-US" sz="1400" dirty="0"/>
          </a:p>
        </p:txBody>
      </p:sp>
      <p:sp>
        <p:nvSpPr>
          <p:cNvPr id="39" name="Text 37"/>
          <p:cNvSpPr/>
          <p:nvPr/>
        </p:nvSpPr>
        <p:spPr>
          <a:xfrm>
            <a:off x="626364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Imagem analisada logo após o voo e alerta direto para a manutenção</a:t>
            </a:r>
            <a:endParaRPr lang="en-US" sz="1050" dirty="0"/>
          </a:p>
        </p:txBody>
      </p:sp>
      <p:sp>
        <p:nvSpPr>
          <p:cNvPr id="40" name="Text 3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Impacto</a:t>
            </a:r>
            <a:endParaRPr lang="en-US" sz="900" dirty="0"/>
          </a:p>
        </p:txBody>
      </p:sp>
      <p:sp>
        <p:nvSpPr>
          <p:cNvPr id="41" name="Text 39"/>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Produtividade de 5 para 25 torres por dia: DronePower (Energy Summit 2025)</a:t>
            </a:r>
            <a:endParaRPr lang="en-US" sz="750" dirty="0"/>
          </a:p>
        </p:txBody>
      </p:sp>
      <p:sp>
        <p:nvSpPr>
          <p:cNvPr id="42" name="Text 4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que os resultados sustentam</a:t>
            </a:r>
            <a:endParaRPr lang="en-US" sz="2800" dirty="0"/>
          </a:p>
        </p:txBody>
      </p:sp>
      <p:sp>
        <p:nvSpPr>
          <p:cNvPr id="4" name="Shape 2"/>
          <p:cNvSpPr/>
          <p:nvPr/>
        </p:nvSpPr>
        <p:spPr>
          <a:xfrm>
            <a:off x="502920" y="1234440"/>
            <a:ext cx="8138160" cy="960120"/>
          </a:xfrm>
          <a:prstGeom prst="roundRect">
            <a:avLst>
              <a:gd name="adj" fmla="val 6667"/>
            </a:avLst>
          </a:prstGeom>
          <a:solidFill>
            <a:srgbClr val="F1F4F7"/>
          </a:solidFill>
          <a:ln w="9525">
            <a:solidFill>
              <a:srgbClr val="E4EAF0"/>
            </a:solidFill>
            <a:prstDash val="solid"/>
          </a:ln>
        </p:spPr>
      </p:sp>
      <p:sp>
        <p:nvSpPr>
          <p:cNvPr id="5" name="Shape 3"/>
          <p:cNvSpPr/>
          <p:nvPr/>
        </p:nvSpPr>
        <p:spPr>
          <a:xfrm>
            <a:off x="704088" y="1490472"/>
            <a:ext cx="457200" cy="457200"/>
          </a:xfrm>
          <a:prstGeom prst="ellipse">
            <a:avLst/>
          </a:prstGeom>
          <a:solidFill>
            <a:srgbClr val="1C7293"/>
          </a:solidFill>
          <a:ln w="12700">
            <a:solidFill>
              <a:srgbClr val="1C7293"/>
            </a:solidFill>
            <a:prstDash val="solid"/>
          </a:ln>
        </p:spPr>
      </p:sp>
      <p:sp>
        <p:nvSpPr>
          <p:cNvPr id="6" name="Text 4"/>
          <p:cNvSpPr/>
          <p:nvPr/>
        </p:nvSpPr>
        <p:spPr>
          <a:xfrm>
            <a:off x="704088" y="14904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325880" y="135331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O pré-processamento é determinante na detecção de falhas em isoladores</a:t>
            </a:r>
            <a:endParaRPr lang="en-US" sz="1400" dirty="0"/>
          </a:p>
        </p:txBody>
      </p:sp>
      <p:sp>
        <p:nvSpPr>
          <p:cNvPr id="8" name="Text 6"/>
          <p:cNvSpPr/>
          <p:nvPr/>
        </p:nvSpPr>
        <p:spPr>
          <a:xfrm>
            <a:off x="1325880" y="167335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No campo, o tratamento certo elevou o F1-score em 26,6 pp. No CPLID, o errado derrubou a acurácia abaixo do piso.</a:t>
            </a:r>
            <a:endParaRPr lang="en-US" sz="1150" dirty="0"/>
          </a:p>
        </p:txBody>
      </p:sp>
      <p:sp>
        <p:nvSpPr>
          <p:cNvPr id="9" name="Shape 7"/>
          <p:cNvSpPr/>
          <p:nvPr/>
        </p:nvSpPr>
        <p:spPr>
          <a:xfrm>
            <a:off x="502920" y="2331720"/>
            <a:ext cx="8138160" cy="960120"/>
          </a:xfrm>
          <a:prstGeom prst="roundRect">
            <a:avLst>
              <a:gd name="adj" fmla="val 6667"/>
            </a:avLst>
          </a:prstGeom>
          <a:solidFill>
            <a:srgbClr val="F1F4F7"/>
          </a:solidFill>
          <a:ln w="9525">
            <a:solidFill>
              <a:srgbClr val="E4EAF0"/>
            </a:solidFill>
            <a:prstDash val="solid"/>
          </a:ln>
        </p:spPr>
      </p:sp>
      <p:sp>
        <p:nvSpPr>
          <p:cNvPr id="10" name="Shape 8"/>
          <p:cNvSpPr/>
          <p:nvPr/>
        </p:nvSpPr>
        <p:spPr>
          <a:xfrm>
            <a:off x="704088" y="2587752"/>
            <a:ext cx="457200" cy="457200"/>
          </a:xfrm>
          <a:prstGeom prst="ellipse">
            <a:avLst/>
          </a:prstGeom>
          <a:solidFill>
            <a:srgbClr val="1C7293"/>
          </a:solidFill>
          <a:ln w="12700">
            <a:solidFill>
              <a:srgbClr val="1C7293"/>
            </a:solidFill>
            <a:prstDash val="solid"/>
          </a:ln>
        </p:spPr>
      </p:sp>
      <p:sp>
        <p:nvSpPr>
          <p:cNvPr id="11" name="Text 9"/>
          <p:cNvSpPr/>
          <p:nvPr/>
        </p:nvSpPr>
        <p:spPr>
          <a:xfrm>
            <a:off x="704088" y="258775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325880" y="245059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O melhor tratamento depende da linha, do defeito e do fundo da imagem</a:t>
            </a:r>
            <a:endParaRPr lang="en-US" sz="1400" dirty="0"/>
          </a:p>
        </p:txBody>
      </p:sp>
      <p:sp>
        <p:nvSpPr>
          <p:cNvPr id="13" name="Text 11"/>
          <p:cNvSpPr/>
          <p:nvPr/>
        </p:nvSpPr>
        <p:spPr>
          <a:xfrm>
            <a:off x="1325880" y="277063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Contraste para defeito estrutural em cadeias cerâmicas. Combinações para imagens de campo com fundo poluído.</a:t>
            </a:r>
            <a:endParaRPr lang="en-US" sz="1150" dirty="0"/>
          </a:p>
        </p:txBody>
      </p:sp>
      <p:sp>
        <p:nvSpPr>
          <p:cNvPr id="14" name="Shape 12"/>
          <p:cNvSpPr/>
          <p:nvPr/>
        </p:nvSpPr>
        <p:spPr>
          <a:xfrm>
            <a:off x="502920" y="3429000"/>
            <a:ext cx="8138160" cy="960120"/>
          </a:xfrm>
          <a:prstGeom prst="roundRect">
            <a:avLst>
              <a:gd name="adj" fmla="val 6667"/>
            </a:avLst>
          </a:prstGeom>
          <a:solidFill>
            <a:srgbClr val="F1F4F7"/>
          </a:solidFill>
          <a:ln w="9525">
            <a:solidFill>
              <a:srgbClr val="E4EAF0"/>
            </a:solidFill>
            <a:prstDash val="solid"/>
          </a:ln>
        </p:spPr>
      </p:sp>
      <p:sp>
        <p:nvSpPr>
          <p:cNvPr id="15" name="Shape 13"/>
          <p:cNvSpPr/>
          <p:nvPr/>
        </p:nvSpPr>
        <p:spPr>
          <a:xfrm>
            <a:off x="704088" y="3685032"/>
            <a:ext cx="457200" cy="457200"/>
          </a:xfrm>
          <a:prstGeom prst="ellipse">
            <a:avLst/>
          </a:prstGeom>
          <a:solidFill>
            <a:srgbClr val="F5A54A"/>
          </a:solidFill>
          <a:ln w="12700">
            <a:solidFill>
              <a:srgbClr val="F5A54A"/>
            </a:solidFill>
            <a:prstDash val="solid"/>
          </a:ln>
        </p:spPr>
      </p:sp>
      <p:sp>
        <p:nvSpPr>
          <p:cNvPr id="16" name="Text 14"/>
          <p:cNvSpPr/>
          <p:nvPr/>
        </p:nvSpPr>
        <p:spPr>
          <a:xfrm>
            <a:off x="704088" y="3685032"/>
            <a:ext cx="457200" cy="457200"/>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325880" y="354787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 escolha precisa ser refeita a cada troca de modelo</a:t>
            </a:r>
            <a:endParaRPr lang="en-US" sz="1400" dirty="0"/>
          </a:p>
        </p:txBody>
      </p:sp>
      <p:sp>
        <p:nvSpPr>
          <p:cNvPr id="18" name="Text 16"/>
          <p:cNvSpPr/>
          <p:nvPr/>
        </p:nvSpPr>
        <p:spPr>
          <a:xfrm>
            <a:off x="1325880" y="386791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A melhor técnica de uma rede foi a pior da outra. A metodologia torna essa reexecução sistemática.</a:t>
            </a:r>
            <a:endParaRPr lang="en-US" sz="1150" dirty="0"/>
          </a:p>
        </p:txBody>
      </p:sp>
      <p:sp>
        <p:nvSpPr>
          <p:cNvPr id="19"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20"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Limitações e próximos passos</a:t>
            </a:r>
            <a:endParaRPr lang="en-US" sz="2800" dirty="0"/>
          </a:p>
        </p:txBody>
      </p:sp>
      <p:sp>
        <p:nvSpPr>
          <p:cNvPr id="4" name="Shape 2"/>
          <p:cNvSpPr/>
          <p:nvPr/>
        </p:nvSpPr>
        <p:spPr>
          <a:xfrm>
            <a:off x="502920" y="1234440"/>
            <a:ext cx="3931920" cy="3200400"/>
          </a:xfrm>
          <a:prstGeom prst="roundRect">
            <a:avLst>
              <a:gd name="adj" fmla="val 2000"/>
            </a:avLst>
          </a:prstGeom>
          <a:solidFill>
            <a:srgbClr val="F1F4F7"/>
          </a:solidFill>
          <a:ln w="9525">
            <a:solidFill>
              <a:srgbClr val="E4EAF0"/>
            </a:solidFill>
            <a:prstDash val="solid"/>
          </a:ln>
        </p:spPr>
      </p:sp>
      <p:sp>
        <p:nvSpPr>
          <p:cNvPr id="5" name="Text 3"/>
          <p:cNvSpPr/>
          <p:nvPr/>
        </p:nvSpPr>
        <p:spPr>
          <a:xfrm>
            <a:off x="758952" y="1371600"/>
            <a:ext cx="3474720" cy="292608"/>
          </a:xfrm>
          <a:prstGeom prst="rect">
            <a:avLst/>
          </a:prstGeom>
          <a:noFill/>
          <a:ln/>
        </p:spPr>
        <p:txBody>
          <a:bodyPr wrap="square" lIns="0" tIns="0" rIns="0" bIns="0" rtlCol="0" anchor="ctr"/>
          <a:lstStyle/>
          <a:p>
            <a:pPr indent="0" marL="0">
              <a:buNone/>
            </a:pPr>
            <a:r>
              <a:rPr lang="en-US" sz="1400" b="1" dirty="0">
                <a:solidFill>
                  <a:srgbClr val="5C6F80"/>
                </a:solidFill>
                <a:latin typeface="Calibri" pitchFamily="34" charset="0"/>
                <a:ea typeface="Calibri" pitchFamily="34" charset="-122"/>
                <a:cs typeface="Calibri" pitchFamily="34" charset="-120"/>
              </a:rPr>
              <a:t>Limitações</a:t>
            </a:r>
            <a:endParaRPr lang="en-US" sz="1400" dirty="0"/>
          </a:p>
        </p:txBody>
      </p:sp>
      <p:sp>
        <p:nvSpPr>
          <p:cNvPr id="6" name="Text 4"/>
          <p:cNvSpPr/>
          <p:nvPr/>
        </p:nvSpPr>
        <p:spPr>
          <a:xfrm>
            <a:off x="777240" y="1783080"/>
            <a:ext cx="3429000" cy="24688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Poucas imagens públicas de isoladores com defeito anotado</a:t>
            </a:r>
            <a:endParaRPr lang="en-US" sz="1250" dirty="0"/>
          </a:p>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Testes pequenos: uma imagem vale até 3,3 pp</a:t>
            </a:r>
            <a:endParaRPr lang="en-US" sz="1250" dirty="0"/>
          </a:p>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Otimização restrita a um parâmetro pelo custo computacional</a:t>
            </a:r>
            <a:endParaRPr lang="en-US" sz="1250" dirty="0"/>
          </a:p>
        </p:txBody>
      </p:sp>
      <p:sp>
        <p:nvSpPr>
          <p:cNvPr id="7" name="Shape 5"/>
          <p:cNvSpPr/>
          <p:nvPr/>
        </p:nvSpPr>
        <p:spPr>
          <a:xfrm>
            <a:off x="4709160" y="1234440"/>
            <a:ext cx="3931920" cy="3200400"/>
          </a:xfrm>
          <a:prstGeom prst="roundRect">
            <a:avLst>
              <a:gd name="adj" fmla="val 2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4965192" y="1371600"/>
            <a:ext cx="3474720" cy="292608"/>
          </a:xfrm>
          <a:prstGeom prst="rect">
            <a:avLst/>
          </a:prstGeom>
          <a:noFill/>
          <a:ln/>
        </p:spPr>
        <p:txBody>
          <a:bodyPr wrap="square" lIns="0" tIns="0" rIns="0" bIns="0" rtlCol="0" anchor="ctr"/>
          <a:lstStyle/>
          <a:p>
            <a:pPr indent="0" marL="0">
              <a:buNone/>
            </a:pPr>
            <a:r>
              <a:rPr lang="en-US" sz="1400" b="1" dirty="0">
                <a:solidFill>
                  <a:srgbClr val="F5A54A"/>
                </a:solidFill>
                <a:latin typeface="Calibri" pitchFamily="34" charset="0"/>
                <a:ea typeface="Calibri" pitchFamily="34" charset="-122"/>
                <a:cs typeface="Calibri" pitchFamily="34" charset="-120"/>
              </a:rPr>
              <a:t>Próximos passos</a:t>
            </a:r>
            <a:endParaRPr lang="en-US" sz="1400" dirty="0"/>
          </a:p>
        </p:txBody>
      </p:sp>
      <p:sp>
        <p:nvSpPr>
          <p:cNvPr id="9" name="Text 7"/>
          <p:cNvSpPr/>
          <p:nvPr/>
        </p:nvSpPr>
        <p:spPr>
          <a:xfrm>
            <a:off x="4983480" y="1783080"/>
            <a:ext cx="3429000" cy="24688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Base maior com imagens de campo das concessionárias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Defeitos sintéticos gerados com GANs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Otimização bayesiana de vários parâmetros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Detecção com localização da falha na torre</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Execução embarcada, a bordo do drone</a:t>
            </a:r>
            <a:endParaRPr lang="en-US" sz="1250" dirty="0"/>
          </a:p>
        </p:txBody>
      </p:sp>
      <p:sp>
        <p:nvSpPr>
          <p:cNvPr id="10"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11"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IMPACTO</a:t>
            </a:r>
            <a:endParaRPr lang="en-US" sz="1050" dirty="0"/>
          </a:p>
        </p:txBody>
      </p:sp>
      <p:sp>
        <p:nvSpPr>
          <p:cNvPr id="4"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 impacto para a engenharia elétrica</a:t>
            </a:r>
            <a:endParaRPr lang="en-US" sz="2800" dirty="0"/>
          </a:p>
        </p:txBody>
      </p:sp>
      <p:sp>
        <p:nvSpPr>
          <p:cNvPr id="5" name="Shape 2"/>
          <p:cNvSpPr/>
          <p:nvPr/>
        </p:nvSpPr>
        <p:spPr>
          <a:xfrm>
            <a:off x="502920" y="1280160"/>
            <a:ext cx="64008" cy="713232"/>
          </a:xfrm>
          <a:prstGeom prst="rect">
            <a:avLst/>
          </a:prstGeom>
          <a:solidFill>
            <a:srgbClr val="F5A54A"/>
          </a:solidFill>
          <a:ln/>
        </p:spPr>
      </p:sp>
      <p:sp>
        <p:nvSpPr>
          <p:cNvPr id="6" name="Text 3"/>
          <p:cNvSpPr/>
          <p:nvPr/>
        </p:nvSpPr>
        <p:spPr>
          <a:xfrm>
            <a:off x="731520" y="126187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Continuidade do fornecimento</a:t>
            </a:r>
            <a:endParaRPr lang="en-US" sz="1500" dirty="0"/>
          </a:p>
        </p:txBody>
      </p:sp>
      <p:sp>
        <p:nvSpPr>
          <p:cNvPr id="7" name="Text 4"/>
          <p:cNvSpPr/>
          <p:nvPr/>
        </p:nvSpPr>
        <p:spPr>
          <a:xfrm>
            <a:off x="731520" y="155448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Falha encontrada na imagem antes do desligamento: menos DEC, FEC, compensações e Parcela Variável</a:t>
            </a:r>
            <a:endParaRPr lang="en-US" sz="1200" dirty="0"/>
          </a:p>
        </p:txBody>
      </p:sp>
      <p:sp>
        <p:nvSpPr>
          <p:cNvPr id="8" name="Shape 5"/>
          <p:cNvSpPr/>
          <p:nvPr/>
        </p:nvSpPr>
        <p:spPr>
          <a:xfrm>
            <a:off x="502920" y="2148840"/>
            <a:ext cx="64008" cy="713232"/>
          </a:xfrm>
          <a:prstGeom prst="rect">
            <a:avLst/>
          </a:prstGeom>
          <a:solidFill>
            <a:srgbClr val="F5A54A"/>
          </a:solidFill>
          <a:ln/>
        </p:spPr>
      </p:sp>
      <p:sp>
        <p:nvSpPr>
          <p:cNvPr id="9" name="Text 6"/>
          <p:cNvSpPr/>
          <p:nvPr/>
        </p:nvSpPr>
        <p:spPr>
          <a:xfrm>
            <a:off x="731520" y="213055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Manutenção de linhas</a:t>
            </a:r>
            <a:endParaRPr lang="en-US" sz="1500" dirty="0"/>
          </a:p>
        </p:txBody>
      </p:sp>
      <p:sp>
        <p:nvSpPr>
          <p:cNvPr id="10" name="Text 7"/>
          <p:cNvSpPr/>
          <p:nvPr/>
        </p:nvSpPr>
        <p:spPr>
          <a:xfrm>
            <a:off x="731520" y="242316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Inspeção mais barata, rápida e segura, com drone e IA no lugar da escalada e do helicóptero</a:t>
            </a:r>
            <a:endParaRPr lang="en-US" sz="1200" dirty="0"/>
          </a:p>
        </p:txBody>
      </p:sp>
      <p:sp>
        <p:nvSpPr>
          <p:cNvPr id="11" name="Shape 8"/>
          <p:cNvSpPr/>
          <p:nvPr/>
        </p:nvSpPr>
        <p:spPr>
          <a:xfrm>
            <a:off x="502920" y="3017520"/>
            <a:ext cx="64008" cy="713232"/>
          </a:xfrm>
          <a:prstGeom prst="rect">
            <a:avLst/>
          </a:prstGeom>
          <a:solidFill>
            <a:srgbClr val="F5A54A"/>
          </a:solidFill>
          <a:ln/>
        </p:spPr>
      </p:sp>
      <p:sp>
        <p:nvSpPr>
          <p:cNvPr id="12" name="Text 9"/>
          <p:cNvSpPr/>
          <p:nvPr/>
        </p:nvSpPr>
        <p:spPr>
          <a:xfrm>
            <a:off x="731520" y="299923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Prática de engenharia</a:t>
            </a:r>
            <a:endParaRPr lang="en-US" sz="1500" dirty="0"/>
          </a:p>
        </p:txBody>
      </p:sp>
      <p:sp>
        <p:nvSpPr>
          <p:cNvPr id="13" name="Text 10"/>
          <p:cNvSpPr/>
          <p:nvPr/>
        </p:nvSpPr>
        <p:spPr>
          <a:xfrm>
            <a:off x="731520" y="329184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Um método reprodutível para configurar a IA de inspeção a cada nova linha, drone ou modelo</a:t>
            </a:r>
            <a:endParaRPr lang="en-US" sz="1200" dirty="0"/>
          </a:p>
        </p:txBody>
      </p:sp>
      <p:sp>
        <p:nvSpPr>
          <p:cNvPr id="14" name="Text 11"/>
          <p:cNvSpPr/>
          <p:nvPr/>
        </p:nvSpPr>
        <p:spPr>
          <a:xfrm>
            <a:off x="502920" y="3977640"/>
            <a:ext cx="6858000" cy="457200"/>
          </a:xfrm>
          <a:prstGeom prst="rect">
            <a:avLst/>
          </a:prstGeom>
          <a:noFill/>
          <a:ln/>
        </p:spPr>
        <p:txBody>
          <a:bodyPr wrap="square" lIns="0" tIns="0" rIns="0" bIns="0" rtlCol="0" anchor="ctr"/>
          <a:lstStyle/>
          <a:p>
            <a:pPr indent="0" marL="0">
              <a:buNone/>
            </a:pPr>
            <a:r>
              <a:rPr lang="en-US" sz="1700" b="1" i="1" dirty="0">
                <a:solidFill>
                  <a:srgbClr val="FFFFFF"/>
                </a:solidFill>
                <a:latin typeface="Cambria" pitchFamily="34" charset="0"/>
                <a:ea typeface="Cambria" pitchFamily="34" charset="-122"/>
                <a:cs typeface="Cambria" pitchFamily="34" charset="-120"/>
              </a:rPr>
              <a:t>Tratar bem a imagem é tão importante quanto escolher a rede neural.</a:t>
            </a:r>
            <a:endParaRPr lang="en-US" sz="17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Conclusões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1600200"/>
            <a:ext cx="5486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Obrigado pela atenção</a:t>
            </a:r>
            <a:endParaRPr lang="en-US" sz="3400" dirty="0"/>
          </a:p>
        </p:txBody>
      </p:sp>
      <p:sp>
        <p:nvSpPr>
          <p:cNvPr id="4" name="Text 1"/>
          <p:cNvSpPr/>
          <p:nvPr/>
        </p:nvSpPr>
        <p:spPr>
          <a:xfrm>
            <a:off x="502920" y="2286000"/>
            <a:ext cx="5486400" cy="329184"/>
          </a:xfrm>
          <a:prstGeom prst="rect">
            <a:avLst/>
          </a:prstGeom>
          <a:noFill/>
          <a:ln/>
        </p:spPr>
        <p:txBody>
          <a:bodyPr wrap="square" lIns="0" tIns="0" rIns="0" bIns="0" rtlCol="0" anchor="ctr"/>
          <a:lstStyle/>
          <a:p>
            <a:pPr indent="0" marL="0">
              <a:buNone/>
            </a:pPr>
            <a:r>
              <a:rPr lang="en-US" sz="1400" dirty="0">
                <a:solidFill>
                  <a:srgbClr val="A9BCCC"/>
                </a:solidFill>
                <a:latin typeface="Calibri" pitchFamily="34" charset="0"/>
                <a:ea typeface="Calibri" pitchFamily="34" charset="-122"/>
                <a:cs typeface="Calibri" pitchFamily="34" charset="-120"/>
              </a:rPr>
              <a:t>Fico à disposição da banca para as arguições.</a:t>
            </a:r>
            <a:endParaRPr lang="en-US" sz="1400" dirty="0"/>
          </a:p>
        </p:txBody>
      </p:sp>
      <p:sp>
        <p:nvSpPr>
          <p:cNvPr id="5" name="Text 2"/>
          <p:cNvSpPr/>
          <p:nvPr/>
        </p:nvSpPr>
        <p:spPr>
          <a:xfrm>
            <a:off x="502920" y="3017520"/>
            <a:ext cx="5486400" cy="914400"/>
          </a:xfrm>
          <a:prstGeom prst="rect">
            <a:avLst/>
          </a:prstGeom>
          <a:noFill/>
          <a:ln/>
        </p:spPr>
        <p:txBody>
          <a:bodyPr wrap="square" lIns="0" tIns="0" rIns="0" bIns="0" rtlCol="0" anchor="ctr"/>
          <a:lstStyle/>
          <a:p>
            <a:pPr indent="0" marL="0">
              <a:lnSpc>
                <a:spcPct val="120000"/>
              </a:lnSpc>
              <a:buNone/>
            </a:pPr>
            <a:r>
              <a:rPr lang="en-US" sz="1300" b="1" dirty="0">
                <a:solidFill>
                  <a:srgbClr val="FFFFFF"/>
                </a:solidFill>
                <a:latin typeface="Calibri" pitchFamily="34" charset="0"/>
                <a:ea typeface="Calibri" pitchFamily="34" charset="-122"/>
                <a:cs typeface="Calibri" pitchFamily="34" charset="-120"/>
              </a:rPr>
              <a:t>Luan Willig Silveira</a:t>
            </a:r>
            <a:endParaRPr lang="en-US" sz="1300" dirty="0"/>
          </a:p>
          <a:p>
            <a:pPr indent="0" marL="0">
              <a:lnSpc>
                <a:spcPct val="120000"/>
              </a:lnSpc>
              <a:buNone/>
            </a:pPr>
            <a:r>
              <a:rPr lang="en-US" sz="1200" dirty="0">
                <a:solidFill>
                  <a:srgbClr val="F5A54A"/>
                </a:solidFill>
                <a:latin typeface="Calibri" pitchFamily="34" charset="0"/>
                <a:ea typeface="Calibri" pitchFamily="34" charset="-122"/>
                <a:cs typeface="Calibri" pitchFamily="34" charset="-120"/>
              </a:rPr>
              <a:t>luan.w.silveira@gmail.com</a:t>
            </a:r>
            <a:endParaRPr lang="en-US" sz="1300" dirty="0"/>
          </a:p>
          <a:p>
            <a:pPr indent="0" marL="0">
              <a:lnSpc>
                <a:spcPct val="120000"/>
              </a:lnSpc>
              <a:buNone/>
            </a:pPr>
            <a:r>
              <a:rPr lang="en-US" sz="1100" dirty="0">
                <a:solidFill>
                  <a:srgbClr val="A9BCCC"/>
                </a:solidFill>
                <a:latin typeface="Calibri" pitchFamily="34" charset="0"/>
                <a:ea typeface="Calibri" pitchFamily="34" charset="-122"/>
                <a:cs typeface="Calibri" pitchFamily="34" charset="-120"/>
              </a:rPr>
              <a:t>PPGEE, Universidade Federal de Santa Maria</a:t>
            </a:r>
            <a:endParaRPr lang="en-US" sz="1300" dirty="0"/>
          </a:p>
        </p:txBody>
      </p:sp>
      <p:sp>
        <p:nvSpPr>
          <p:cNvPr id="6" name="Text 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Encerramento</a:t>
            </a:r>
            <a:endParaRPr lang="en-US" sz="900" dirty="0"/>
          </a:p>
        </p:txBody>
      </p:sp>
      <p:sp>
        <p:nvSpPr>
          <p:cNvPr id="7" name="Text 4"/>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APÊNDICE</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Objetivos específicos</a:t>
            </a:r>
            <a:endParaRPr lang="en-US" sz="2800" dirty="0"/>
          </a:p>
        </p:txBody>
      </p:sp>
      <p:sp>
        <p:nvSpPr>
          <p:cNvPr id="4" name="Shape 2"/>
          <p:cNvSpPr/>
          <p:nvPr/>
        </p:nvSpPr>
        <p:spPr>
          <a:xfrm>
            <a:off x="502920" y="1207008"/>
            <a:ext cx="3977640" cy="731520"/>
          </a:xfrm>
          <a:prstGeom prst="roundRect">
            <a:avLst>
              <a:gd name="adj" fmla="val 8750"/>
            </a:avLst>
          </a:prstGeom>
          <a:solidFill>
            <a:srgbClr val="F1F4F7"/>
          </a:solidFill>
          <a:ln w="9525">
            <a:solidFill>
              <a:srgbClr val="E4EAF0"/>
            </a:solidFill>
            <a:prstDash val="solid"/>
          </a:ln>
        </p:spPr>
      </p:sp>
      <p:sp>
        <p:nvSpPr>
          <p:cNvPr id="5" name="Shape 3"/>
          <p:cNvSpPr/>
          <p:nvPr/>
        </p:nvSpPr>
        <p:spPr>
          <a:xfrm>
            <a:off x="685800" y="1371600"/>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716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1197864" y="12801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Métricas</a:t>
            </a:r>
            <a:endParaRPr lang="en-US" sz="1250" dirty="0"/>
          </a:p>
        </p:txBody>
      </p:sp>
      <p:sp>
        <p:nvSpPr>
          <p:cNvPr id="8" name="Text 6"/>
          <p:cNvSpPr/>
          <p:nvPr/>
        </p:nvSpPr>
        <p:spPr>
          <a:xfrm>
            <a:off x="1197864" y="153619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Estabelecer critérios objetivos para avaliar a eficácia dos processamentos</a:t>
            </a:r>
            <a:endParaRPr lang="en-US" sz="1050" dirty="0"/>
          </a:p>
        </p:txBody>
      </p:sp>
      <p:sp>
        <p:nvSpPr>
          <p:cNvPr id="9" name="Shape 7"/>
          <p:cNvSpPr/>
          <p:nvPr/>
        </p:nvSpPr>
        <p:spPr>
          <a:xfrm>
            <a:off x="4617720" y="1207008"/>
            <a:ext cx="3977640" cy="731520"/>
          </a:xfrm>
          <a:prstGeom prst="roundRect">
            <a:avLst>
              <a:gd name="adj" fmla="val 8750"/>
            </a:avLst>
          </a:prstGeom>
          <a:solidFill>
            <a:srgbClr val="F1F4F7"/>
          </a:solidFill>
          <a:ln w="9525">
            <a:solidFill>
              <a:srgbClr val="E4EAF0"/>
            </a:solidFill>
            <a:prstDash val="solid"/>
          </a:ln>
        </p:spPr>
      </p:sp>
      <p:sp>
        <p:nvSpPr>
          <p:cNvPr id="10" name="Shape 8"/>
          <p:cNvSpPr/>
          <p:nvPr/>
        </p:nvSpPr>
        <p:spPr>
          <a:xfrm>
            <a:off x="4800600" y="1371600"/>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716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5312664" y="12801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Tipo de modelo</a:t>
            </a:r>
            <a:endParaRPr lang="en-US" sz="1250" dirty="0"/>
          </a:p>
        </p:txBody>
      </p:sp>
      <p:sp>
        <p:nvSpPr>
          <p:cNvPr id="13" name="Text 11"/>
          <p:cNvSpPr/>
          <p:nvPr/>
        </p:nvSpPr>
        <p:spPr>
          <a:xfrm>
            <a:off x="5312664" y="153619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Determinar a rede adequada para medir o desempenho das técnicas</a:t>
            </a:r>
            <a:endParaRPr lang="en-US" sz="1050" dirty="0"/>
          </a:p>
        </p:txBody>
      </p:sp>
      <p:sp>
        <p:nvSpPr>
          <p:cNvPr id="14" name="Shape 12"/>
          <p:cNvSpPr/>
          <p:nvPr/>
        </p:nvSpPr>
        <p:spPr>
          <a:xfrm>
            <a:off x="502920" y="2029968"/>
            <a:ext cx="3977640" cy="731520"/>
          </a:xfrm>
          <a:prstGeom prst="roundRect">
            <a:avLst>
              <a:gd name="adj" fmla="val 8750"/>
            </a:avLst>
          </a:prstGeom>
          <a:solidFill>
            <a:srgbClr val="F1F4F7"/>
          </a:solidFill>
          <a:ln w="9525">
            <a:solidFill>
              <a:srgbClr val="E4EAF0"/>
            </a:solidFill>
            <a:prstDash val="solid"/>
          </a:ln>
        </p:spPr>
      </p:sp>
      <p:sp>
        <p:nvSpPr>
          <p:cNvPr id="15" name="Shape 13"/>
          <p:cNvSpPr/>
          <p:nvPr/>
        </p:nvSpPr>
        <p:spPr>
          <a:xfrm>
            <a:off x="685800" y="2194560"/>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9456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1197864" y="210312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Construção do modelo</a:t>
            </a:r>
            <a:endParaRPr lang="en-US" sz="1250" dirty="0"/>
          </a:p>
        </p:txBody>
      </p:sp>
      <p:sp>
        <p:nvSpPr>
          <p:cNvPr id="18" name="Text 16"/>
          <p:cNvSpPr/>
          <p:nvPr/>
        </p:nvSpPr>
        <p:spPr>
          <a:xfrm>
            <a:off x="1197864" y="235915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Construir redes para avaliação, sem buscar um modelo definitivo</a:t>
            </a:r>
            <a:endParaRPr lang="en-US" sz="1050" dirty="0"/>
          </a:p>
        </p:txBody>
      </p:sp>
      <p:sp>
        <p:nvSpPr>
          <p:cNvPr id="19" name="Shape 17"/>
          <p:cNvSpPr/>
          <p:nvPr/>
        </p:nvSpPr>
        <p:spPr>
          <a:xfrm>
            <a:off x="4617720" y="2029968"/>
            <a:ext cx="3977640" cy="731520"/>
          </a:xfrm>
          <a:prstGeom prst="roundRect">
            <a:avLst>
              <a:gd name="adj" fmla="val 8750"/>
            </a:avLst>
          </a:prstGeom>
          <a:solidFill>
            <a:srgbClr val="F1F4F7"/>
          </a:solidFill>
          <a:ln w="9525">
            <a:solidFill>
              <a:srgbClr val="E4EAF0"/>
            </a:solidFill>
            <a:prstDash val="solid"/>
          </a:ln>
        </p:spPr>
      </p:sp>
      <p:sp>
        <p:nvSpPr>
          <p:cNvPr id="20" name="Shape 18"/>
          <p:cNvSpPr/>
          <p:nvPr/>
        </p:nvSpPr>
        <p:spPr>
          <a:xfrm>
            <a:off x="4800600" y="2194560"/>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9456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p:nvPr/>
        </p:nvSpPr>
        <p:spPr>
          <a:xfrm>
            <a:off x="5312664" y="210312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da arquitetura</a:t>
            </a:r>
            <a:endParaRPr lang="en-US" sz="1250" dirty="0"/>
          </a:p>
        </p:txBody>
      </p:sp>
      <p:sp>
        <p:nvSpPr>
          <p:cNvPr id="23" name="Text 21"/>
          <p:cNvSpPr/>
          <p:nvPr/>
        </p:nvSpPr>
        <p:spPr>
          <a:xfrm>
            <a:off x="5312664" y="235915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Analisar o impacto da escolha do modelo sobre o processamento</a:t>
            </a:r>
            <a:endParaRPr lang="en-US" sz="1050" dirty="0"/>
          </a:p>
        </p:txBody>
      </p:sp>
      <p:sp>
        <p:nvSpPr>
          <p:cNvPr id="24" name="Shape 22"/>
          <p:cNvSpPr/>
          <p:nvPr/>
        </p:nvSpPr>
        <p:spPr>
          <a:xfrm>
            <a:off x="502920" y="2852928"/>
            <a:ext cx="3977640" cy="731520"/>
          </a:xfrm>
          <a:prstGeom prst="roundRect">
            <a:avLst>
              <a:gd name="adj" fmla="val 8750"/>
            </a:avLst>
          </a:prstGeom>
          <a:solidFill>
            <a:srgbClr val="F1F4F7"/>
          </a:solidFill>
          <a:ln w="9525">
            <a:solidFill>
              <a:srgbClr val="E4EAF0"/>
            </a:solidFill>
            <a:prstDash val="solid"/>
          </a:ln>
        </p:spPr>
      </p:sp>
      <p:sp>
        <p:nvSpPr>
          <p:cNvPr id="25" name="Shape 23"/>
          <p:cNvSpPr/>
          <p:nvPr/>
        </p:nvSpPr>
        <p:spPr>
          <a:xfrm>
            <a:off x="685800" y="301752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301752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5"/>
          <p:cNvSpPr/>
          <p:nvPr/>
        </p:nvSpPr>
        <p:spPr>
          <a:xfrm>
            <a:off x="1197864" y="292608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dataset</a:t>
            </a:r>
            <a:endParaRPr lang="en-US" sz="1250" dirty="0"/>
          </a:p>
        </p:txBody>
      </p:sp>
      <p:sp>
        <p:nvSpPr>
          <p:cNvPr id="28" name="Text 26"/>
          <p:cNvSpPr/>
          <p:nvPr/>
        </p:nvSpPr>
        <p:spPr>
          <a:xfrm>
            <a:off x="1197864" y="318211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Avaliar a influência do conjunto de dados sobre a eficácia das técnicas</a:t>
            </a:r>
            <a:endParaRPr lang="en-US" sz="1050" dirty="0"/>
          </a:p>
        </p:txBody>
      </p:sp>
      <p:sp>
        <p:nvSpPr>
          <p:cNvPr id="29" name="Shape 27"/>
          <p:cNvSpPr/>
          <p:nvPr/>
        </p:nvSpPr>
        <p:spPr>
          <a:xfrm>
            <a:off x="4617720" y="2852928"/>
            <a:ext cx="3977640" cy="731520"/>
          </a:xfrm>
          <a:prstGeom prst="roundRect">
            <a:avLst>
              <a:gd name="adj" fmla="val 8750"/>
            </a:avLst>
          </a:prstGeom>
          <a:solidFill>
            <a:srgbClr val="F1F4F7"/>
          </a:solidFill>
          <a:ln w="9525">
            <a:solidFill>
              <a:srgbClr val="E4EAF0"/>
            </a:solidFill>
            <a:prstDash val="solid"/>
          </a:ln>
        </p:spPr>
      </p:sp>
      <p:sp>
        <p:nvSpPr>
          <p:cNvPr id="30" name="Shape 28"/>
          <p:cNvSpPr/>
          <p:nvPr/>
        </p:nvSpPr>
        <p:spPr>
          <a:xfrm>
            <a:off x="4800600" y="301752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301752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2" name="Text 30"/>
          <p:cNvSpPr/>
          <p:nvPr/>
        </p:nvSpPr>
        <p:spPr>
          <a:xfrm>
            <a:off x="5312664" y="292608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Combinação</a:t>
            </a:r>
            <a:endParaRPr lang="en-US" sz="1250" dirty="0"/>
          </a:p>
        </p:txBody>
      </p:sp>
      <p:sp>
        <p:nvSpPr>
          <p:cNvPr id="33" name="Text 31"/>
          <p:cNvSpPr/>
          <p:nvPr/>
        </p:nvSpPr>
        <p:spPr>
          <a:xfrm>
            <a:off x="5312664" y="318211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en-US" sz="1050" dirty="0"/>
          </a:p>
        </p:txBody>
      </p:sp>
      <p:sp>
        <p:nvSpPr>
          <p:cNvPr id="34" name="Shape 32"/>
          <p:cNvSpPr/>
          <p:nvPr/>
        </p:nvSpPr>
        <p:spPr>
          <a:xfrm>
            <a:off x="502920" y="3675888"/>
            <a:ext cx="8092440" cy="731520"/>
          </a:xfrm>
          <a:prstGeom prst="roundRect">
            <a:avLst>
              <a:gd name="adj" fmla="val 8750"/>
            </a:avLst>
          </a:prstGeom>
          <a:solidFill>
            <a:srgbClr val="F1F4F7"/>
          </a:solidFill>
          <a:ln w="9525">
            <a:solidFill>
              <a:srgbClr val="E4EAF0"/>
            </a:solidFill>
            <a:prstDash val="solid"/>
          </a:ln>
        </p:spPr>
      </p:sp>
      <p:sp>
        <p:nvSpPr>
          <p:cNvPr id="35" name="Shape 33"/>
          <p:cNvSpPr/>
          <p:nvPr/>
        </p:nvSpPr>
        <p:spPr>
          <a:xfrm>
            <a:off x="685800" y="3840480"/>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840480"/>
            <a:ext cx="402336" cy="402336"/>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7</a:t>
            </a:r>
            <a:endParaRPr lang="en-US" sz="1100" dirty="0"/>
          </a:p>
        </p:txBody>
      </p:sp>
      <p:sp>
        <p:nvSpPr>
          <p:cNvPr id="37" name="Text 35"/>
          <p:cNvSpPr/>
          <p:nvPr/>
        </p:nvSpPr>
        <p:spPr>
          <a:xfrm>
            <a:off x="1197864" y="3749040"/>
            <a:ext cx="72237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Ajuste automático</a:t>
            </a:r>
            <a:endParaRPr lang="en-US" sz="1250" dirty="0"/>
          </a:p>
        </p:txBody>
      </p:sp>
      <p:sp>
        <p:nvSpPr>
          <p:cNvPr id="38" name="Text 36"/>
          <p:cNvSpPr/>
          <p:nvPr/>
        </p:nvSpPr>
        <p:spPr>
          <a:xfrm>
            <a:off x="1197864" y="4005072"/>
            <a:ext cx="72511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en-US" sz="1050" dirty="0"/>
          </a:p>
        </p:txBody>
      </p:sp>
      <p:sp>
        <p:nvSpPr>
          <p:cNvPr id="39" name="Text 3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Apêndice</a:t>
            </a:r>
            <a:endParaRPr lang="en-US" sz="900" dirty="0"/>
          </a:p>
        </p:txBody>
      </p:sp>
      <p:sp>
        <p:nvSpPr>
          <p:cNvPr id="40" name="Text 3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APÊNDICE · 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Etapas 1 a 3: dados, tratamento e ajuste</a:t>
            </a:r>
            <a:endParaRPr lang="en-US" sz="2800" dirty="0"/>
          </a:p>
        </p:txBody>
      </p:sp>
      <p:sp>
        <p:nvSpPr>
          <p:cNvPr id="4" name="Text 2"/>
          <p:cNvSpPr/>
          <p:nvPr/>
        </p:nvSpPr>
        <p:spPr>
          <a:xfrm>
            <a:off x="685800" y="1170432"/>
            <a:ext cx="1600200" cy="219456"/>
          </a:xfrm>
          <a:prstGeom prst="rect">
            <a:avLst/>
          </a:prstGeom>
          <a:noFill/>
          <a:ln/>
        </p:spPr>
        <p:txBody>
          <a:bodyPr wrap="square" lIns="0" tIns="0" rIns="0" bIns="0"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1 · Seleção e validação</a:t>
            </a:r>
            <a:endParaRPr lang="en-US" sz="1050" dirty="0"/>
          </a:p>
        </p:txBody>
      </p:sp>
      <p:sp>
        <p:nvSpPr>
          <p:cNvPr id="5" name="Shape 3"/>
          <p:cNvSpPr/>
          <p:nvPr/>
        </p:nvSpPr>
        <p:spPr>
          <a:xfrm>
            <a:off x="713232" y="1371600"/>
            <a:ext cx="1538621" cy="2889504"/>
          </a:xfrm>
          <a:prstGeom prst="roundRect">
            <a:avLst>
              <a:gd name="adj" fmla="val 2377"/>
            </a:avLst>
          </a:prstGeom>
          <a:solidFill>
            <a:srgbClr val="FFFFFF"/>
          </a:solidFill>
          <a:ln w="9525">
            <a:solidFill>
              <a:srgbClr val="E4EAF0"/>
            </a:solidFill>
            <a:prstDash val="solid"/>
          </a:ln>
        </p:spPr>
      </p:sp>
      <p:pic>
        <p:nvPicPr>
          <p:cNvPr id="6" name="Image 0" descr="preencoded.png">    </p:cNvPr>
          <p:cNvPicPr>
            <a:picLocks noChangeAspect="1"/>
          </p:cNvPicPr>
          <p:nvPr/>
        </p:nvPicPr>
        <p:blipFill>
          <a:blip r:embed="rId1"/>
          <a:stretch>
            <a:fillRect/>
          </a:stretch>
        </p:blipFill>
        <p:spPr>
          <a:xfrm>
            <a:off x="786384" y="1444752"/>
            <a:ext cx="1392317" cy="2743200"/>
          </a:xfrm>
          <a:prstGeom prst="rect">
            <a:avLst/>
          </a:prstGeom>
        </p:spPr>
      </p:pic>
      <p:sp>
        <p:nvSpPr>
          <p:cNvPr id="7" name="Text 4"/>
          <p:cNvSpPr/>
          <p:nvPr/>
        </p:nvSpPr>
        <p:spPr>
          <a:xfrm>
            <a:off x="2697480" y="1170432"/>
            <a:ext cx="2743200" cy="219456"/>
          </a:xfrm>
          <a:prstGeom prst="rect">
            <a:avLst/>
          </a:prstGeom>
          <a:noFill/>
          <a:ln/>
        </p:spPr>
        <p:txBody>
          <a:bodyPr wrap="square" lIns="0" tIns="0" rIns="0" bIns="0"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2 · Pré-processamento</a:t>
            </a:r>
            <a:endParaRPr lang="en-US" sz="1050" dirty="0"/>
          </a:p>
        </p:txBody>
      </p:sp>
      <p:sp>
        <p:nvSpPr>
          <p:cNvPr id="8" name="Shape 5"/>
          <p:cNvSpPr/>
          <p:nvPr/>
        </p:nvSpPr>
        <p:spPr>
          <a:xfrm>
            <a:off x="2715768" y="1371600"/>
            <a:ext cx="2697337" cy="2889504"/>
          </a:xfrm>
          <a:prstGeom prst="roundRect">
            <a:avLst>
              <a:gd name="adj" fmla="val 1356"/>
            </a:avLst>
          </a:prstGeom>
          <a:solidFill>
            <a:srgbClr val="FFFFFF"/>
          </a:solidFill>
          <a:ln w="9525">
            <a:solidFill>
              <a:srgbClr val="E4EAF0"/>
            </a:solidFill>
            <a:prstDash val="solid"/>
          </a:ln>
        </p:spPr>
      </p:sp>
      <p:pic>
        <p:nvPicPr>
          <p:cNvPr id="9" name="Image 1" descr="preencoded.png">    </p:cNvPr>
          <p:cNvPicPr>
            <a:picLocks noChangeAspect="1"/>
          </p:cNvPicPr>
          <p:nvPr/>
        </p:nvPicPr>
        <p:blipFill>
          <a:blip r:embed="rId2"/>
          <a:stretch>
            <a:fillRect/>
          </a:stretch>
        </p:blipFill>
        <p:spPr>
          <a:xfrm>
            <a:off x="2788920" y="1444752"/>
            <a:ext cx="2551033" cy="2743200"/>
          </a:xfrm>
          <a:prstGeom prst="rect">
            <a:avLst/>
          </a:prstGeom>
        </p:spPr>
      </p:pic>
      <p:sp>
        <p:nvSpPr>
          <p:cNvPr id="10" name="Text 6"/>
          <p:cNvSpPr/>
          <p:nvPr/>
        </p:nvSpPr>
        <p:spPr>
          <a:xfrm>
            <a:off x="5897880" y="1170432"/>
            <a:ext cx="2926080" cy="219456"/>
          </a:xfrm>
          <a:prstGeom prst="rect">
            <a:avLst/>
          </a:prstGeom>
          <a:noFill/>
          <a:ln/>
        </p:spPr>
        <p:txBody>
          <a:bodyPr wrap="square" lIns="0" tIns="0" rIns="0" bIns="0" rtlCol="0" anchor="ctr"/>
          <a:lstStyle/>
          <a:p>
            <a:pPr algn="ctr" indent="0" marL="0">
              <a:buNone/>
            </a:pPr>
            <a:r>
              <a:rPr lang="en-US" sz="1050" b="1" dirty="0">
                <a:solidFill>
                  <a:srgbClr val="1C7293"/>
                </a:solidFill>
                <a:latin typeface="Calibri" pitchFamily="34" charset="0"/>
                <a:ea typeface="Calibri" pitchFamily="34" charset="-122"/>
                <a:cs typeface="Calibri" pitchFamily="34" charset="-120"/>
              </a:rPr>
              <a:t>3 · Ajuste de parâmetros</a:t>
            </a:r>
            <a:endParaRPr lang="en-US" sz="1050" dirty="0"/>
          </a:p>
        </p:txBody>
      </p:sp>
      <p:sp>
        <p:nvSpPr>
          <p:cNvPr id="11" name="Shape 7"/>
          <p:cNvSpPr/>
          <p:nvPr/>
        </p:nvSpPr>
        <p:spPr>
          <a:xfrm>
            <a:off x="6071616" y="1984248"/>
            <a:ext cx="2549472" cy="1792224"/>
          </a:xfrm>
          <a:prstGeom prst="roundRect">
            <a:avLst>
              <a:gd name="adj" fmla="val 2041"/>
            </a:avLst>
          </a:prstGeom>
          <a:solidFill>
            <a:srgbClr val="FFFFFF"/>
          </a:solidFill>
          <a:ln w="9525">
            <a:solidFill>
              <a:srgbClr val="E4EAF0"/>
            </a:solidFill>
            <a:prstDash val="solid"/>
          </a:ln>
        </p:spPr>
      </p:sp>
      <p:pic>
        <p:nvPicPr>
          <p:cNvPr id="12" name="Image 2" descr="preencoded.png">    </p:cNvPr>
          <p:cNvPicPr>
            <a:picLocks noChangeAspect="1"/>
          </p:cNvPicPr>
          <p:nvPr/>
        </p:nvPicPr>
        <p:blipFill>
          <a:blip r:embed="rId3"/>
          <a:stretch>
            <a:fillRect/>
          </a:stretch>
        </p:blipFill>
        <p:spPr>
          <a:xfrm>
            <a:off x="6144768" y="2057400"/>
            <a:ext cx="2403168" cy="1645920"/>
          </a:xfrm>
          <a:prstGeom prst="rect">
            <a:avLst/>
          </a:prstGeom>
        </p:spPr>
      </p:pic>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Apêndice</a:t>
            </a:r>
            <a:endParaRPr lang="en-US"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APÊNDICE · 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Etapas 4 a 6: modelo, treinamento e avaliação</a:t>
            </a:r>
            <a:endParaRPr lang="en-US" sz="2800" dirty="0"/>
          </a:p>
        </p:txBody>
      </p:sp>
      <p:sp>
        <p:nvSpPr>
          <p:cNvPr id="4" name="Text 2"/>
          <p:cNvSpPr/>
          <p:nvPr/>
        </p:nvSpPr>
        <p:spPr>
          <a:xfrm>
            <a:off x="457200" y="1133856"/>
            <a:ext cx="3931920" cy="219456"/>
          </a:xfrm>
          <a:prstGeom prst="rect">
            <a:avLst/>
          </a:prstGeom>
          <a:noFill/>
          <a:ln/>
        </p:spPr>
        <p:txBody>
          <a:bodyPr wrap="square" lIns="0" tIns="0" rIns="0" bIns="0" rtlCol="0" anchor="ctr"/>
          <a:lstStyle/>
          <a:p>
            <a:pPr algn="l" indent="0" marL="0">
              <a:buNone/>
            </a:pPr>
            <a:r>
              <a:rPr lang="en-US" sz="1050" b="1" dirty="0">
                <a:solidFill>
                  <a:srgbClr val="1C7293"/>
                </a:solidFill>
                <a:latin typeface="Calibri" pitchFamily="34" charset="0"/>
                <a:ea typeface="Calibri" pitchFamily="34" charset="-122"/>
                <a:cs typeface="Calibri" pitchFamily="34" charset="-120"/>
              </a:rPr>
              <a:t>4 · Escolha e construção do modelo</a:t>
            </a:r>
            <a:endParaRPr lang="en-US" sz="1050" dirty="0"/>
          </a:p>
        </p:txBody>
      </p:sp>
      <p:sp>
        <p:nvSpPr>
          <p:cNvPr id="5" name="Shape 3"/>
          <p:cNvSpPr/>
          <p:nvPr/>
        </p:nvSpPr>
        <p:spPr>
          <a:xfrm>
            <a:off x="475488" y="1335024"/>
            <a:ext cx="3986784" cy="1992535"/>
          </a:xfrm>
          <a:prstGeom prst="roundRect">
            <a:avLst>
              <a:gd name="adj" fmla="val 1836"/>
            </a:avLst>
          </a:prstGeom>
          <a:solidFill>
            <a:srgbClr val="FFFFFF"/>
          </a:solidFill>
          <a:ln w="9525">
            <a:solidFill>
              <a:srgbClr val="E4EAF0"/>
            </a:solidFill>
            <a:prstDash val="solid"/>
          </a:ln>
        </p:spPr>
      </p:sp>
      <p:pic>
        <p:nvPicPr>
          <p:cNvPr id="6" name="Image 0" descr="preencoded.png">    </p:cNvPr>
          <p:cNvPicPr>
            <a:picLocks noChangeAspect="1"/>
          </p:cNvPicPr>
          <p:nvPr/>
        </p:nvPicPr>
        <p:blipFill>
          <a:blip r:embed="rId1"/>
          <a:stretch>
            <a:fillRect/>
          </a:stretch>
        </p:blipFill>
        <p:spPr>
          <a:xfrm>
            <a:off x="548640" y="1408176"/>
            <a:ext cx="3840480" cy="1846231"/>
          </a:xfrm>
          <a:prstGeom prst="rect">
            <a:avLst/>
          </a:prstGeom>
        </p:spPr>
      </p:pic>
      <p:sp>
        <p:nvSpPr>
          <p:cNvPr id="7" name="Text 4"/>
          <p:cNvSpPr/>
          <p:nvPr/>
        </p:nvSpPr>
        <p:spPr>
          <a:xfrm>
            <a:off x="457200" y="3401568"/>
            <a:ext cx="3931920" cy="219456"/>
          </a:xfrm>
          <a:prstGeom prst="rect">
            <a:avLst/>
          </a:prstGeom>
          <a:noFill/>
          <a:ln/>
        </p:spPr>
        <p:txBody>
          <a:bodyPr wrap="square" lIns="0" tIns="0" rIns="0" bIns="0" rtlCol="0" anchor="ctr"/>
          <a:lstStyle/>
          <a:p>
            <a:pPr algn="l" indent="0" marL="0">
              <a:buNone/>
            </a:pPr>
            <a:r>
              <a:rPr lang="en-US" sz="1050" b="1" dirty="0">
                <a:solidFill>
                  <a:srgbClr val="1C7293"/>
                </a:solidFill>
                <a:latin typeface="Calibri" pitchFamily="34" charset="0"/>
                <a:ea typeface="Calibri" pitchFamily="34" charset="-122"/>
                <a:cs typeface="Calibri" pitchFamily="34" charset="-120"/>
              </a:rPr>
              <a:t>5 · Treinamento</a:t>
            </a:r>
            <a:endParaRPr lang="en-US" sz="1050" dirty="0"/>
          </a:p>
        </p:txBody>
      </p:sp>
      <p:sp>
        <p:nvSpPr>
          <p:cNvPr id="8" name="Shape 5"/>
          <p:cNvSpPr/>
          <p:nvPr/>
        </p:nvSpPr>
        <p:spPr>
          <a:xfrm>
            <a:off x="475488" y="3602736"/>
            <a:ext cx="3986784" cy="1180433"/>
          </a:xfrm>
          <a:prstGeom prst="roundRect">
            <a:avLst>
              <a:gd name="adj" fmla="val 3099"/>
            </a:avLst>
          </a:prstGeom>
          <a:solidFill>
            <a:srgbClr val="FFFFFF"/>
          </a:solidFill>
          <a:ln w="9525">
            <a:solidFill>
              <a:srgbClr val="E4EAF0"/>
            </a:solidFill>
            <a:prstDash val="solid"/>
          </a:ln>
        </p:spPr>
      </p:sp>
      <p:pic>
        <p:nvPicPr>
          <p:cNvPr id="9" name="Image 1" descr="preencoded.png">    </p:cNvPr>
          <p:cNvPicPr>
            <a:picLocks noChangeAspect="1"/>
          </p:cNvPicPr>
          <p:nvPr/>
        </p:nvPicPr>
        <p:blipFill>
          <a:blip r:embed="rId2"/>
          <a:stretch>
            <a:fillRect/>
          </a:stretch>
        </p:blipFill>
        <p:spPr>
          <a:xfrm>
            <a:off x="548640" y="3675888"/>
            <a:ext cx="3840480" cy="1034129"/>
          </a:xfrm>
          <a:prstGeom prst="rect">
            <a:avLst/>
          </a:prstGeom>
        </p:spPr>
      </p:pic>
      <p:sp>
        <p:nvSpPr>
          <p:cNvPr id="10" name="Text 6"/>
          <p:cNvSpPr/>
          <p:nvPr/>
        </p:nvSpPr>
        <p:spPr>
          <a:xfrm>
            <a:off x="4754880" y="1133856"/>
            <a:ext cx="2560320" cy="219456"/>
          </a:xfrm>
          <a:prstGeom prst="rect">
            <a:avLst/>
          </a:prstGeom>
          <a:noFill/>
          <a:ln/>
        </p:spPr>
        <p:txBody>
          <a:bodyPr wrap="square" lIns="0" tIns="0" rIns="0" bIns="0" rtlCol="0" anchor="ctr"/>
          <a:lstStyle/>
          <a:p>
            <a:pPr algn="l" indent="0" marL="0">
              <a:buNone/>
            </a:pPr>
            <a:r>
              <a:rPr lang="en-US" sz="1050" b="1" dirty="0">
                <a:solidFill>
                  <a:srgbClr val="1C7293"/>
                </a:solidFill>
                <a:latin typeface="Calibri" pitchFamily="34" charset="0"/>
                <a:ea typeface="Calibri" pitchFamily="34" charset="-122"/>
                <a:cs typeface="Calibri" pitchFamily="34" charset="-120"/>
              </a:rPr>
              <a:t>6 · Avaliação e ajustes</a:t>
            </a:r>
            <a:endParaRPr lang="en-US" sz="1050" dirty="0"/>
          </a:p>
        </p:txBody>
      </p:sp>
      <p:sp>
        <p:nvSpPr>
          <p:cNvPr id="11" name="Shape 7"/>
          <p:cNvSpPr/>
          <p:nvPr/>
        </p:nvSpPr>
        <p:spPr>
          <a:xfrm>
            <a:off x="4773168" y="1335024"/>
            <a:ext cx="2652260" cy="3163824"/>
          </a:xfrm>
          <a:prstGeom prst="roundRect">
            <a:avLst>
              <a:gd name="adj" fmla="val 1379"/>
            </a:avLst>
          </a:prstGeom>
          <a:solidFill>
            <a:srgbClr val="FFFFFF"/>
          </a:solidFill>
          <a:ln w="9525">
            <a:solidFill>
              <a:srgbClr val="E4EAF0"/>
            </a:solidFill>
            <a:prstDash val="solid"/>
          </a:ln>
        </p:spPr>
      </p:sp>
      <p:pic>
        <p:nvPicPr>
          <p:cNvPr id="12" name="Image 2" descr="preencoded.png">    </p:cNvPr>
          <p:cNvPicPr>
            <a:picLocks noChangeAspect="1"/>
          </p:cNvPicPr>
          <p:nvPr/>
        </p:nvPicPr>
        <p:blipFill>
          <a:blip r:embed="rId3"/>
          <a:stretch>
            <a:fillRect/>
          </a:stretch>
        </p:blipFill>
        <p:spPr>
          <a:xfrm>
            <a:off x="4846320" y="1408176"/>
            <a:ext cx="2505956" cy="3017520"/>
          </a:xfrm>
          <a:prstGeom prst="rect">
            <a:avLst/>
          </a:prstGeom>
        </p:spPr>
      </p:pic>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Apêndice</a:t>
            </a:r>
            <a:endParaRPr lang="en-US"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APÊNDICE · YOLOV8N-CLS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Varredura completa no CPLID</a:t>
            </a:r>
            <a:endParaRPr lang="en-US" sz="28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do YOLOv8n-cls por tratamento, em ordem crescente (CPLID)</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81,40%</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Tons de cinza, que na rede simples ficava com 76,74%.</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51,16%</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CLAHE + realce, que empatava no topo da rede simples.</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1 de 14</a:t>
            </a:r>
            <a:pPr indent="0" marL="0">
              <a:buNone/>
            </a:pPr>
            <a:r>
              <a:rPr lang="en-US" sz="900" b="1" dirty="0">
                <a:solidFill>
                  <a:srgbClr val="5C6F80"/>
                </a:solidFill>
                <a:latin typeface="Cambria" pitchFamily="34" charset="0"/>
                <a:ea typeface="Cambria" pitchFamily="34" charset="-122"/>
                <a:cs typeface="Cambria" pitchFamily="34" charset="-120"/>
              </a:rPr>
              <a:t>   ACIMA DO PISO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Média de 66,28%, abaixo do piso de 74,42%.</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Apêndice</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APÊNDICE · YOLOV8N-CLS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Varredura completa no DRNPW</a:t>
            </a:r>
            <a:endParaRPr lang="en-US" sz="28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do YOLOv8n-cls por tratamento, em ordem crescente (DRNPW)</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83,33%</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Limiarização adaptativa, que na rede simples ficava no piso.</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53,33%</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Realce + equalização, a melhor técnica da rede simples.</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5 de 14</a:t>
            </a:r>
            <a:pPr indent="0" marL="0">
              <a:buNone/>
            </a:pPr>
            <a:r>
              <a:rPr lang="en-US" sz="900" b="1" dirty="0">
                <a:solidFill>
                  <a:srgbClr val="5C6F80"/>
                </a:solidFill>
                <a:latin typeface="Cambria" pitchFamily="34" charset="0"/>
                <a:ea typeface="Cambria" pitchFamily="34" charset="-122"/>
                <a:cs typeface="Cambria" pitchFamily="34" charset="-120"/>
              </a:rPr>
              <a:t>   ACIMA DO PISO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Média de 71,43%, abaixo do piso de 73,33%.</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Apêndice</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APÊNDICE · OTIMIZAÇÃO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Busca aleatória sobre o fator de contraste</a:t>
            </a:r>
            <a:endParaRPr lang="en-US" sz="2800" dirty="0"/>
          </a:p>
        </p:txBody>
      </p:sp>
      <p:sp>
        <p:nvSpPr>
          <p:cNvPr id="4" name="Text 2"/>
          <p:cNvSpPr/>
          <p:nvPr/>
        </p:nvSpPr>
        <p:spPr>
          <a:xfrm>
            <a:off x="612648" y="1280160"/>
            <a:ext cx="914400" cy="256032"/>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Tentativa</a:t>
            </a:r>
            <a:endParaRPr lang="en-US" sz="1050" dirty="0"/>
          </a:p>
        </p:txBody>
      </p:sp>
      <p:sp>
        <p:nvSpPr>
          <p:cNvPr id="5" name="Text 3"/>
          <p:cNvSpPr/>
          <p:nvPr/>
        </p:nvSpPr>
        <p:spPr>
          <a:xfrm>
            <a:off x="1737360" y="1280160"/>
            <a:ext cx="1005840" cy="256032"/>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Fator</a:t>
            </a:r>
            <a:endParaRPr lang="en-US" sz="1050" dirty="0"/>
          </a:p>
        </p:txBody>
      </p:sp>
      <p:sp>
        <p:nvSpPr>
          <p:cNvPr id="6" name="Text 4"/>
          <p:cNvSpPr/>
          <p:nvPr/>
        </p:nvSpPr>
        <p:spPr>
          <a:xfrm>
            <a:off x="3017520" y="1280160"/>
            <a:ext cx="1828800" cy="256032"/>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Acurácia (validação)</a:t>
            </a:r>
            <a:endParaRPr lang="en-US" sz="1050" dirty="0"/>
          </a:p>
        </p:txBody>
      </p:sp>
      <p:sp>
        <p:nvSpPr>
          <p:cNvPr id="7" name="Shape 5"/>
          <p:cNvSpPr/>
          <p:nvPr/>
        </p:nvSpPr>
        <p:spPr>
          <a:xfrm>
            <a:off x="502920" y="1591056"/>
            <a:ext cx="4572000" cy="402336"/>
          </a:xfrm>
          <a:prstGeom prst="roundRect">
            <a:avLst>
              <a:gd name="adj" fmla="val 11364"/>
            </a:avLst>
          </a:prstGeom>
          <a:solidFill>
            <a:srgbClr val="1C7293"/>
          </a:solidFill>
          <a:ln w="9525">
            <a:solidFill>
              <a:srgbClr val="1C7293"/>
            </a:solidFill>
            <a:prstDash val="solid"/>
          </a:ln>
        </p:spPr>
      </p:sp>
      <p:sp>
        <p:nvSpPr>
          <p:cNvPr id="8" name="Text 6"/>
          <p:cNvSpPr/>
          <p:nvPr/>
        </p:nvSpPr>
        <p:spPr>
          <a:xfrm>
            <a:off x="612648" y="1655064"/>
            <a:ext cx="914400" cy="27432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p:nvPr/>
        </p:nvSpPr>
        <p:spPr>
          <a:xfrm>
            <a:off x="1737360" y="1655064"/>
            <a:ext cx="100584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1,4364</a:t>
            </a:r>
            <a:endParaRPr lang="en-US" sz="1200" dirty="0"/>
          </a:p>
        </p:txBody>
      </p:sp>
      <p:sp>
        <p:nvSpPr>
          <p:cNvPr id="10" name="Text 8"/>
          <p:cNvSpPr/>
          <p:nvPr/>
        </p:nvSpPr>
        <p:spPr>
          <a:xfrm>
            <a:off x="3017520" y="1655064"/>
            <a:ext cx="182880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85,06%</a:t>
            </a:r>
            <a:endParaRPr lang="en-US" sz="1200" dirty="0"/>
          </a:p>
        </p:txBody>
      </p:sp>
      <p:sp>
        <p:nvSpPr>
          <p:cNvPr id="11" name="Shape 9"/>
          <p:cNvSpPr/>
          <p:nvPr/>
        </p:nvSpPr>
        <p:spPr>
          <a:xfrm>
            <a:off x="502920" y="2066544"/>
            <a:ext cx="4572000" cy="402336"/>
          </a:xfrm>
          <a:prstGeom prst="roundRect">
            <a:avLst>
              <a:gd name="adj" fmla="val 11364"/>
            </a:avLst>
          </a:prstGeom>
          <a:solidFill>
            <a:srgbClr val="FFFFFF"/>
          </a:solidFill>
          <a:ln w="9525">
            <a:solidFill>
              <a:srgbClr val="E4EAF0"/>
            </a:solidFill>
            <a:prstDash val="solid"/>
          </a:ln>
        </p:spPr>
      </p:sp>
      <p:sp>
        <p:nvSpPr>
          <p:cNvPr id="12" name="Text 10"/>
          <p:cNvSpPr/>
          <p:nvPr/>
        </p:nvSpPr>
        <p:spPr>
          <a:xfrm>
            <a:off x="612648" y="2130552"/>
            <a:ext cx="914400" cy="274320"/>
          </a:xfrm>
          <a:prstGeom prst="rect">
            <a:avLst/>
          </a:prstGeom>
          <a:noFill/>
          <a:ln/>
        </p:spPr>
        <p:txBody>
          <a:bodyPr wrap="square" lIns="0" tIns="0" rIns="0" bIns="0" rtlCol="0" anchor="ctr"/>
          <a:lstStyle/>
          <a:p>
            <a:pPr indent="0" marL="0">
              <a:buNone/>
            </a:pPr>
            <a:r>
              <a:rPr lang="en-US" sz="1200" dirty="0">
                <a:solidFill>
                  <a:srgbClr val="1B2A3A"/>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1737360" y="2130552"/>
            <a:ext cx="1005840" cy="274320"/>
          </a:xfrm>
          <a:prstGeom prst="rect">
            <a:avLst/>
          </a:prstGeom>
          <a:noFill/>
          <a:ln/>
        </p:spPr>
        <p:txBody>
          <a:bodyPr wrap="square" lIns="0" tIns="0" rIns="0" bIns="0" rtlCol="0" anchor="ctr"/>
          <a:lstStyle/>
          <a:p>
            <a:pPr indent="0" marL="0">
              <a:buNone/>
            </a:pPr>
            <a:r>
              <a:rPr lang="en-US" sz="1200" dirty="0">
                <a:solidFill>
                  <a:srgbClr val="1B2A3A"/>
                </a:solidFill>
                <a:latin typeface="Calibri" pitchFamily="34" charset="0"/>
                <a:ea typeface="Calibri" pitchFamily="34" charset="-122"/>
                <a:cs typeface="Calibri" pitchFamily="34" charset="-120"/>
              </a:rPr>
              <a:t>2,8768</a:t>
            </a:r>
            <a:endParaRPr lang="en-US" sz="1200" dirty="0"/>
          </a:p>
        </p:txBody>
      </p:sp>
      <p:sp>
        <p:nvSpPr>
          <p:cNvPr id="14" name="Text 12"/>
          <p:cNvSpPr/>
          <p:nvPr/>
        </p:nvSpPr>
        <p:spPr>
          <a:xfrm>
            <a:off x="3017520" y="2130552"/>
            <a:ext cx="1828800" cy="274320"/>
          </a:xfrm>
          <a:prstGeom prst="rect">
            <a:avLst/>
          </a:prstGeom>
          <a:noFill/>
          <a:ln/>
        </p:spPr>
        <p:txBody>
          <a:bodyPr wrap="square" lIns="0" tIns="0" rIns="0" bIns="0" rtlCol="0" anchor="ctr"/>
          <a:lstStyle/>
          <a:p>
            <a:pPr indent="0" marL="0">
              <a:buNone/>
            </a:pPr>
            <a:r>
              <a:rPr lang="en-US" sz="1200" dirty="0">
                <a:solidFill>
                  <a:srgbClr val="1B2A3A"/>
                </a:solidFill>
                <a:latin typeface="Calibri" pitchFamily="34" charset="0"/>
                <a:ea typeface="Calibri" pitchFamily="34" charset="-122"/>
                <a:cs typeface="Calibri" pitchFamily="34" charset="-120"/>
              </a:rPr>
              <a:t>79,31%</a:t>
            </a:r>
            <a:endParaRPr lang="en-US" sz="1200" dirty="0"/>
          </a:p>
        </p:txBody>
      </p:sp>
      <p:sp>
        <p:nvSpPr>
          <p:cNvPr id="15" name="Shape 13"/>
          <p:cNvSpPr/>
          <p:nvPr/>
        </p:nvSpPr>
        <p:spPr>
          <a:xfrm>
            <a:off x="502920" y="2542032"/>
            <a:ext cx="4572000" cy="402336"/>
          </a:xfrm>
          <a:prstGeom prst="roundRect">
            <a:avLst>
              <a:gd name="adj" fmla="val 11364"/>
            </a:avLst>
          </a:prstGeom>
          <a:solidFill>
            <a:srgbClr val="F1F4F7"/>
          </a:solidFill>
          <a:ln w="9525">
            <a:solidFill>
              <a:srgbClr val="E4EAF0"/>
            </a:solidFill>
            <a:prstDash val="solid"/>
          </a:ln>
        </p:spPr>
      </p:sp>
      <p:sp>
        <p:nvSpPr>
          <p:cNvPr id="16" name="Text 14"/>
          <p:cNvSpPr/>
          <p:nvPr/>
        </p:nvSpPr>
        <p:spPr>
          <a:xfrm>
            <a:off x="612648" y="2606040"/>
            <a:ext cx="914400" cy="274320"/>
          </a:xfrm>
          <a:prstGeom prst="rect">
            <a:avLst/>
          </a:prstGeom>
          <a:noFill/>
          <a:ln/>
        </p:spPr>
        <p:txBody>
          <a:bodyPr wrap="square" lIns="0" tIns="0" rIns="0" bIns="0" rtlCol="0" anchor="ctr"/>
          <a:lstStyle/>
          <a:p>
            <a:pPr indent="0" marL="0">
              <a:buNone/>
            </a:pPr>
            <a:r>
              <a:rPr lang="en-US" sz="1200" dirty="0">
                <a:solidFill>
                  <a:srgbClr val="1B2A3A"/>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737360" y="2606040"/>
            <a:ext cx="1005840" cy="274320"/>
          </a:xfrm>
          <a:prstGeom prst="rect">
            <a:avLst/>
          </a:prstGeom>
          <a:noFill/>
          <a:ln/>
        </p:spPr>
        <p:txBody>
          <a:bodyPr wrap="square" lIns="0" tIns="0" rIns="0" bIns="0" rtlCol="0" anchor="ctr"/>
          <a:lstStyle/>
          <a:p>
            <a:pPr indent="0" marL="0">
              <a:buNone/>
            </a:pPr>
            <a:r>
              <a:rPr lang="en-US" sz="1200" dirty="0">
                <a:solidFill>
                  <a:srgbClr val="1B2A3A"/>
                </a:solidFill>
                <a:latin typeface="Calibri" pitchFamily="34" charset="0"/>
                <a:ea typeface="Calibri" pitchFamily="34" charset="-122"/>
                <a:cs typeface="Calibri" pitchFamily="34" charset="-120"/>
              </a:rPr>
              <a:t>2,3300</a:t>
            </a:r>
            <a:endParaRPr lang="en-US" sz="1200" dirty="0"/>
          </a:p>
        </p:txBody>
      </p:sp>
      <p:sp>
        <p:nvSpPr>
          <p:cNvPr id="18" name="Text 16"/>
          <p:cNvSpPr/>
          <p:nvPr/>
        </p:nvSpPr>
        <p:spPr>
          <a:xfrm>
            <a:off x="3017520" y="2606040"/>
            <a:ext cx="1828800" cy="274320"/>
          </a:xfrm>
          <a:prstGeom prst="rect">
            <a:avLst/>
          </a:prstGeom>
          <a:noFill/>
          <a:ln/>
        </p:spPr>
        <p:txBody>
          <a:bodyPr wrap="square" lIns="0" tIns="0" rIns="0" bIns="0" rtlCol="0" anchor="ctr"/>
          <a:lstStyle/>
          <a:p>
            <a:pPr indent="0" marL="0">
              <a:buNone/>
            </a:pPr>
            <a:r>
              <a:rPr lang="en-US" sz="1200" dirty="0">
                <a:solidFill>
                  <a:srgbClr val="1B2A3A"/>
                </a:solidFill>
                <a:latin typeface="Calibri" pitchFamily="34" charset="0"/>
                <a:ea typeface="Calibri" pitchFamily="34" charset="-122"/>
                <a:cs typeface="Calibri" pitchFamily="34" charset="-120"/>
              </a:rPr>
              <a:t>71,26%</a:t>
            </a:r>
            <a:endParaRPr lang="en-US" sz="1200" dirty="0"/>
          </a:p>
        </p:txBody>
      </p:sp>
      <p:sp>
        <p:nvSpPr>
          <p:cNvPr id="19" name="Shape 17"/>
          <p:cNvSpPr/>
          <p:nvPr/>
        </p:nvSpPr>
        <p:spPr>
          <a:xfrm>
            <a:off x="502920" y="3017520"/>
            <a:ext cx="4572000" cy="402336"/>
          </a:xfrm>
          <a:prstGeom prst="roundRect">
            <a:avLst>
              <a:gd name="adj" fmla="val 11364"/>
            </a:avLst>
          </a:prstGeom>
          <a:solidFill>
            <a:srgbClr val="FFFFFF"/>
          </a:solidFill>
          <a:ln w="9525">
            <a:solidFill>
              <a:srgbClr val="E4EAF0"/>
            </a:solidFill>
            <a:prstDash val="solid"/>
          </a:ln>
        </p:spPr>
      </p:sp>
      <p:sp>
        <p:nvSpPr>
          <p:cNvPr id="20" name="Text 18"/>
          <p:cNvSpPr/>
          <p:nvPr/>
        </p:nvSpPr>
        <p:spPr>
          <a:xfrm>
            <a:off x="612648" y="3081528"/>
            <a:ext cx="914400" cy="274320"/>
          </a:xfrm>
          <a:prstGeom prst="rect">
            <a:avLst/>
          </a:prstGeom>
          <a:noFill/>
          <a:ln/>
        </p:spPr>
        <p:txBody>
          <a:bodyPr wrap="square" lIns="0" tIns="0" rIns="0" bIns="0" rtlCol="0" anchor="ctr"/>
          <a:lstStyle/>
          <a:p>
            <a:pPr indent="0" marL="0">
              <a:buNone/>
            </a:pPr>
            <a:r>
              <a:rPr lang="en-US" sz="1200" dirty="0">
                <a:solidFill>
                  <a:srgbClr val="1B2A3A"/>
                </a:solidFill>
                <a:latin typeface="Calibri" pitchFamily="34" charset="0"/>
                <a:ea typeface="Calibri" pitchFamily="34" charset="-122"/>
                <a:cs typeface="Calibri" pitchFamily="34" charset="-120"/>
              </a:rPr>
              <a:t>4</a:t>
            </a:r>
            <a:endParaRPr lang="en-US" sz="1200" dirty="0"/>
          </a:p>
        </p:txBody>
      </p:sp>
      <p:sp>
        <p:nvSpPr>
          <p:cNvPr id="21" name="Text 19"/>
          <p:cNvSpPr/>
          <p:nvPr/>
        </p:nvSpPr>
        <p:spPr>
          <a:xfrm>
            <a:off x="1737360" y="3081528"/>
            <a:ext cx="1005840" cy="274320"/>
          </a:xfrm>
          <a:prstGeom prst="rect">
            <a:avLst/>
          </a:prstGeom>
          <a:noFill/>
          <a:ln/>
        </p:spPr>
        <p:txBody>
          <a:bodyPr wrap="square" lIns="0" tIns="0" rIns="0" bIns="0" rtlCol="0" anchor="ctr"/>
          <a:lstStyle/>
          <a:p>
            <a:pPr indent="0" marL="0">
              <a:buNone/>
            </a:pPr>
            <a:r>
              <a:rPr lang="en-US" sz="1200" dirty="0">
                <a:solidFill>
                  <a:srgbClr val="1B2A3A"/>
                </a:solidFill>
                <a:latin typeface="Calibri" pitchFamily="34" charset="0"/>
                <a:ea typeface="Calibri" pitchFamily="34" charset="-122"/>
                <a:cs typeface="Calibri" pitchFamily="34" charset="-120"/>
              </a:rPr>
              <a:t>1,9966</a:t>
            </a:r>
            <a:endParaRPr lang="en-US" sz="1200" dirty="0"/>
          </a:p>
        </p:txBody>
      </p:sp>
      <p:sp>
        <p:nvSpPr>
          <p:cNvPr id="22" name="Text 20"/>
          <p:cNvSpPr/>
          <p:nvPr/>
        </p:nvSpPr>
        <p:spPr>
          <a:xfrm>
            <a:off x="3017520" y="3081528"/>
            <a:ext cx="1828800" cy="274320"/>
          </a:xfrm>
          <a:prstGeom prst="rect">
            <a:avLst/>
          </a:prstGeom>
          <a:noFill/>
          <a:ln/>
        </p:spPr>
        <p:txBody>
          <a:bodyPr wrap="square" lIns="0" tIns="0" rIns="0" bIns="0" rtlCol="0" anchor="ctr"/>
          <a:lstStyle/>
          <a:p>
            <a:pPr indent="0" marL="0">
              <a:buNone/>
            </a:pPr>
            <a:r>
              <a:rPr lang="en-US" sz="1200" dirty="0">
                <a:solidFill>
                  <a:srgbClr val="1B2A3A"/>
                </a:solidFill>
                <a:latin typeface="Calibri" pitchFamily="34" charset="0"/>
                <a:ea typeface="Calibri" pitchFamily="34" charset="-122"/>
                <a:cs typeface="Calibri" pitchFamily="34" charset="-120"/>
              </a:rPr>
              <a:t>80,46%</a:t>
            </a:r>
            <a:endParaRPr lang="en-US" sz="1200" dirty="0"/>
          </a:p>
        </p:txBody>
      </p:sp>
      <p:sp>
        <p:nvSpPr>
          <p:cNvPr id="23" name="Shape 21"/>
          <p:cNvSpPr/>
          <p:nvPr/>
        </p:nvSpPr>
        <p:spPr>
          <a:xfrm>
            <a:off x="502920" y="3493008"/>
            <a:ext cx="4572000" cy="402336"/>
          </a:xfrm>
          <a:prstGeom prst="roundRect">
            <a:avLst>
              <a:gd name="adj" fmla="val 11364"/>
            </a:avLst>
          </a:prstGeom>
          <a:solidFill>
            <a:srgbClr val="F1F4F7"/>
          </a:solidFill>
          <a:ln w="9525">
            <a:solidFill>
              <a:srgbClr val="E4EAF0"/>
            </a:solidFill>
            <a:prstDash val="solid"/>
          </a:ln>
        </p:spPr>
      </p:sp>
      <p:sp>
        <p:nvSpPr>
          <p:cNvPr id="24" name="Text 22"/>
          <p:cNvSpPr/>
          <p:nvPr/>
        </p:nvSpPr>
        <p:spPr>
          <a:xfrm>
            <a:off x="612648" y="3557016"/>
            <a:ext cx="914400" cy="274320"/>
          </a:xfrm>
          <a:prstGeom prst="rect">
            <a:avLst/>
          </a:prstGeom>
          <a:noFill/>
          <a:ln/>
        </p:spPr>
        <p:txBody>
          <a:bodyPr wrap="square" lIns="0" tIns="0" rIns="0" bIns="0" rtlCol="0" anchor="ctr"/>
          <a:lstStyle/>
          <a:p>
            <a:pPr indent="0" marL="0">
              <a:buNone/>
            </a:pPr>
            <a:r>
              <a:rPr lang="en-US" sz="1200" dirty="0">
                <a:solidFill>
                  <a:srgbClr val="1B2A3A"/>
                </a:solidFill>
                <a:latin typeface="Calibri" pitchFamily="34" charset="0"/>
                <a:ea typeface="Calibri" pitchFamily="34" charset="-122"/>
                <a:cs typeface="Calibri" pitchFamily="34" charset="-120"/>
              </a:rPr>
              <a:t>5</a:t>
            </a:r>
            <a:endParaRPr lang="en-US" sz="1200" dirty="0"/>
          </a:p>
        </p:txBody>
      </p:sp>
      <p:sp>
        <p:nvSpPr>
          <p:cNvPr id="25" name="Text 23"/>
          <p:cNvSpPr/>
          <p:nvPr/>
        </p:nvSpPr>
        <p:spPr>
          <a:xfrm>
            <a:off x="1737360" y="3557016"/>
            <a:ext cx="1005840" cy="274320"/>
          </a:xfrm>
          <a:prstGeom prst="rect">
            <a:avLst/>
          </a:prstGeom>
          <a:noFill/>
          <a:ln/>
        </p:spPr>
        <p:txBody>
          <a:bodyPr wrap="square" lIns="0" tIns="0" rIns="0" bIns="0" rtlCol="0" anchor="ctr"/>
          <a:lstStyle/>
          <a:p>
            <a:pPr indent="0" marL="0">
              <a:buNone/>
            </a:pPr>
            <a:r>
              <a:rPr lang="en-US" sz="1200" dirty="0">
                <a:solidFill>
                  <a:srgbClr val="1B2A3A"/>
                </a:solidFill>
                <a:latin typeface="Calibri" pitchFamily="34" charset="0"/>
                <a:ea typeface="Calibri" pitchFamily="34" charset="-122"/>
                <a:cs typeface="Calibri" pitchFamily="34" charset="-120"/>
              </a:rPr>
              <a:t>0,8900</a:t>
            </a:r>
            <a:endParaRPr lang="en-US" sz="1200" dirty="0"/>
          </a:p>
        </p:txBody>
      </p:sp>
      <p:sp>
        <p:nvSpPr>
          <p:cNvPr id="26" name="Text 24"/>
          <p:cNvSpPr/>
          <p:nvPr/>
        </p:nvSpPr>
        <p:spPr>
          <a:xfrm>
            <a:off x="3017520" y="3557016"/>
            <a:ext cx="1828800" cy="274320"/>
          </a:xfrm>
          <a:prstGeom prst="rect">
            <a:avLst/>
          </a:prstGeom>
          <a:noFill/>
          <a:ln/>
        </p:spPr>
        <p:txBody>
          <a:bodyPr wrap="square" lIns="0" tIns="0" rIns="0" bIns="0" rtlCol="0" anchor="ctr"/>
          <a:lstStyle/>
          <a:p>
            <a:pPr indent="0" marL="0">
              <a:buNone/>
            </a:pPr>
            <a:r>
              <a:rPr lang="en-US" sz="1200" dirty="0">
                <a:solidFill>
                  <a:srgbClr val="1B2A3A"/>
                </a:solidFill>
                <a:latin typeface="Calibri" pitchFamily="34" charset="0"/>
                <a:ea typeface="Calibri" pitchFamily="34" charset="-122"/>
                <a:cs typeface="Calibri" pitchFamily="34" charset="-120"/>
              </a:rPr>
              <a:t>78,16%</a:t>
            </a:r>
            <a:endParaRPr lang="en-US" sz="1200" dirty="0"/>
          </a:p>
        </p:txBody>
      </p:sp>
      <p:sp>
        <p:nvSpPr>
          <p:cNvPr id="27" name="Shape 25"/>
          <p:cNvSpPr/>
          <p:nvPr/>
        </p:nvSpPr>
        <p:spPr>
          <a:xfrm>
            <a:off x="5486400" y="1280160"/>
            <a:ext cx="3154680" cy="2743200"/>
          </a:xfrm>
          <a:prstGeom prst="roundRect">
            <a:avLst>
              <a:gd name="adj" fmla="val 2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8" name="Text 26"/>
          <p:cNvSpPr/>
          <p:nvPr/>
        </p:nvSpPr>
        <p:spPr>
          <a:xfrm>
            <a:off x="5687568" y="1417320"/>
            <a:ext cx="2743200" cy="256032"/>
          </a:xfrm>
          <a:prstGeom prst="rect">
            <a:avLst/>
          </a:prstGeom>
          <a:noFill/>
          <a:ln/>
        </p:spPr>
        <p:txBody>
          <a:bodyPr wrap="square" lIns="0" tIns="0" rIns="0" bIns="0" rtlCol="0" anchor="ctr"/>
          <a:lstStyle/>
          <a:p>
            <a:pPr indent="0" marL="0">
              <a:buNone/>
            </a:pPr>
            <a:r>
              <a:rPr lang="en-US" sz="1200" b="1" dirty="0">
                <a:solidFill>
                  <a:srgbClr val="F5A54A"/>
                </a:solidFill>
                <a:latin typeface="Calibri" pitchFamily="34" charset="0"/>
                <a:ea typeface="Calibri" pitchFamily="34" charset="-122"/>
                <a:cs typeface="Calibri" pitchFamily="34" charset="-120"/>
              </a:rPr>
              <a:t>Leitura</a:t>
            </a:r>
            <a:endParaRPr lang="en-US" sz="1200" dirty="0"/>
          </a:p>
        </p:txBody>
      </p:sp>
      <p:sp>
        <p:nvSpPr>
          <p:cNvPr id="29" name="Text 27"/>
          <p:cNvSpPr/>
          <p:nvPr/>
        </p:nvSpPr>
        <p:spPr>
          <a:xfrm>
            <a:off x="5687568" y="1737360"/>
            <a:ext cx="2788920" cy="219456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Grade e aleatória apontam para realce moderado: 1,333 e 1,4364</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Conjuntos diferentes: teste com 30 imagens e validação com 87</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Contraste alto degrada: 71,26% no fator 2,33</a:t>
            </a:r>
            <a:endParaRPr lang="en-US" sz="1100" dirty="0"/>
          </a:p>
        </p:txBody>
      </p:sp>
      <p:sp>
        <p:nvSpPr>
          <p:cNvPr id="30" name="Text 2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Apêndice</a:t>
            </a:r>
            <a:endParaRPr lang="en-US" sz="900" dirty="0"/>
          </a:p>
        </p:txBody>
      </p:sp>
      <p:sp>
        <p:nvSpPr>
          <p:cNvPr id="31" name="Text 2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APÊNDICE</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Fontes dos dados do setor elétrico e de mercado</a:t>
            </a:r>
            <a:endParaRPr lang="en-US" sz="2800" dirty="0"/>
          </a:p>
        </p:txBody>
      </p:sp>
      <p:sp>
        <p:nvSpPr>
          <p:cNvPr id="4" name="Text 2"/>
          <p:cNvSpPr/>
          <p:nvPr/>
        </p:nvSpPr>
        <p:spPr>
          <a:xfrm>
            <a:off x="502920" y="1188720"/>
            <a:ext cx="1828800" cy="566928"/>
          </a:xfrm>
          <a:prstGeom prst="rect">
            <a:avLst/>
          </a:prstGeom>
          <a:noFill/>
          <a:ln/>
        </p:spPr>
        <p:txBody>
          <a:bodyPr wrap="square" lIns="0" tIns="0" rIns="0" bIns="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ANEEL (2026)</a:t>
            </a:r>
            <a:endParaRPr lang="en-US" sz="1150" dirty="0"/>
          </a:p>
        </p:txBody>
      </p:sp>
      <p:sp>
        <p:nvSpPr>
          <p:cNvPr id="5" name="Text 3"/>
          <p:cNvSpPr/>
          <p:nvPr/>
        </p:nvSpPr>
        <p:spPr>
          <a:xfrm>
            <a:off x="2423160" y="1188720"/>
            <a:ext cx="6217920" cy="566928"/>
          </a:xfrm>
          <a:prstGeom prst="rect">
            <a:avLst/>
          </a:prstGeom>
          <a:noFill/>
          <a:ln/>
        </p:spPr>
        <p:txBody>
          <a:bodyPr wrap="square" lIns="0" tIns="0" rIns="0" bIns="0" rtlCol="0" anchor="t"/>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Resultados do desempenho das distribuidoras na continuidade do fornecimento de energia elétrica em 2025. DEC de 9,30 h, FEC de 4,66 e R$ 1,002 bilhão em compensações.</a:t>
            </a:r>
            <a:endParaRPr lang="en-US" sz="1050" dirty="0"/>
          </a:p>
        </p:txBody>
      </p:sp>
      <p:sp>
        <p:nvSpPr>
          <p:cNvPr id="6" name="Text 4"/>
          <p:cNvSpPr/>
          <p:nvPr/>
        </p:nvSpPr>
        <p:spPr>
          <a:xfrm>
            <a:off x="502920" y="1865376"/>
            <a:ext cx="1828800" cy="566928"/>
          </a:xfrm>
          <a:prstGeom prst="rect">
            <a:avLst/>
          </a:prstGeom>
          <a:noFill/>
          <a:ln/>
        </p:spPr>
        <p:txBody>
          <a:bodyPr wrap="square" lIns="0" tIns="0" rIns="0" bIns="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ONS (2025)</a:t>
            </a:r>
            <a:endParaRPr lang="en-US" sz="1150" dirty="0"/>
          </a:p>
        </p:txBody>
      </p:sp>
      <p:sp>
        <p:nvSpPr>
          <p:cNvPr id="7" name="Text 5"/>
          <p:cNvSpPr/>
          <p:nvPr/>
        </p:nvSpPr>
        <p:spPr>
          <a:xfrm>
            <a:off x="2423160" y="1865376"/>
            <a:ext cx="6217920" cy="566928"/>
          </a:xfrm>
          <a:prstGeom prst="rect">
            <a:avLst/>
          </a:prstGeom>
          <a:noFill/>
          <a:ln/>
        </p:spPr>
        <p:txBody>
          <a:bodyPr wrap="square" lIns="0" tIns="0" rIns="0" bIns="0" rtlCol="0" anchor="t"/>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PAR/PEL 2025, sumário executivo. 5.301 km de novas linhas (3% da rede existente) e R$ 28,1 bilhões em obras até 2030.</a:t>
            </a:r>
            <a:endParaRPr lang="en-US" sz="1050" dirty="0"/>
          </a:p>
        </p:txBody>
      </p:sp>
      <p:sp>
        <p:nvSpPr>
          <p:cNvPr id="8" name="Text 6"/>
          <p:cNvSpPr/>
          <p:nvPr/>
        </p:nvSpPr>
        <p:spPr>
          <a:xfrm>
            <a:off x="502920" y="2542032"/>
            <a:ext cx="1828800" cy="566928"/>
          </a:xfrm>
          <a:prstGeom prst="rect">
            <a:avLst/>
          </a:prstGeom>
          <a:noFill/>
          <a:ln/>
        </p:spPr>
        <p:txBody>
          <a:bodyPr wrap="square" lIns="0" tIns="0" rIns="0" bIns="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DronePower (2025)</a:t>
            </a:r>
            <a:endParaRPr lang="en-US" sz="1150" dirty="0"/>
          </a:p>
        </p:txBody>
      </p:sp>
      <p:sp>
        <p:nvSpPr>
          <p:cNvPr id="9" name="Text 7"/>
          <p:cNvSpPr/>
          <p:nvPr/>
        </p:nvSpPr>
        <p:spPr>
          <a:xfrm>
            <a:off x="2423160" y="2542032"/>
            <a:ext cx="6217920" cy="566928"/>
          </a:xfrm>
          <a:prstGeom prst="rect">
            <a:avLst/>
          </a:prstGeom>
          <a:noFill/>
          <a:ln/>
        </p:spPr>
        <p:txBody>
          <a:bodyPr wrap="square" lIns="0" tIns="0" rIns="0" bIns="0" rtlCol="0" anchor="t"/>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Energy Summit 2025. Custo por torre de R$ 750 para R$ 300 e produtividade de 5 para 25 torres por dia.</a:t>
            </a:r>
            <a:endParaRPr lang="en-US" sz="1050" dirty="0"/>
          </a:p>
        </p:txBody>
      </p:sp>
      <p:sp>
        <p:nvSpPr>
          <p:cNvPr id="10" name="Text 8"/>
          <p:cNvSpPr/>
          <p:nvPr/>
        </p:nvSpPr>
        <p:spPr>
          <a:xfrm>
            <a:off x="502920" y="3218688"/>
            <a:ext cx="1828800" cy="566928"/>
          </a:xfrm>
          <a:prstGeom prst="rect">
            <a:avLst/>
          </a:prstGeom>
          <a:noFill/>
          <a:ln/>
        </p:spPr>
        <p:txBody>
          <a:bodyPr wrap="square" lIns="0" tIns="0" rIns="0" bIns="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UAV Imaging</a:t>
            </a:r>
            <a:endParaRPr lang="en-US" sz="1150" dirty="0"/>
          </a:p>
        </p:txBody>
      </p:sp>
      <p:sp>
        <p:nvSpPr>
          <p:cNvPr id="11" name="Text 9"/>
          <p:cNvSpPr/>
          <p:nvPr/>
        </p:nvSpPr>
        <p:spPr>
          <a:xfrm>
            <a:off x="2423160" y="3218688"/>
            <a:ext cx="6217920" cy="566928"/>
          </a:xfrm>
          <a:prstGeom prst="rect">
            <a:avLst/>
          </a:prstGeom>
          <a:noFill/>
          <a:ln/>
        </p:spPr>
        <p:txBody>
          <a:bodyPr wrap="square" lIns="0" tIns="0" rIns="0" bIns="0" rtlCol="0" anchor="t"/>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Drone vs helicopter inspection: cost, safety, range compared. US$ 120 a 200 por km com helicóptero e US$ 40 a 80 com drone.</a:t>
            </a:r>
            <a:endParaRPr lang="en-US" sz="1050" dirty="0"/>
          </a:p>
        </p:txBody>
      </p:sp>
      <p:sp>
        <p:nvSpPr>
          <p:cNvPr id="12" name="Text 10"/>
          <p:cNvSpPr/>
          <p:nvPr/>
        </p:nvSpPr>
        <p:spPr>
          <a:xfrm>
            <a:off x="502920" y="3895344"/>
            <a:ext cx="1828800" cy="566928"/>
          </a:xfrm>
          <a:prstGeom prst="rect">
            <a:avLst/>
          </a:prstGeom>
          <a:noFill/>
          <a:ln/>
        </p:spPr>
        <p:txBody>
          <a:bodyPr wrap="square" lIns="0" tIns="0" rIns="0" bIns="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Estimativa própria</a:t>
            </a:r>
            <a:endParaRPr lang="en-US" sz="1150" dirty="0"/>
          </a:p>
        </p:txBody>
      </p:sp>
      <p:sp>
        <p:nvSpPr>
          <p:cNvPr id="13" name="Text 11"/>
          <p:cNvSpPr/>
          <p:nvPr/>
        </p:nvSpPr>
        <p:spPr>
          <a:xfrm>
            <a:off x="2423160" y="3895344"/>
            <a:ext cx="6217920" cy="566928"/>
          </a:xfrm>
          <a:prstGeom prst="rect">
            <a:avLst/>
          </a:prstGeom>
          <a:noFill/>
          <a:ln/>
        </p:spPr>
        <p:txBody>
          <a:bodyPr wrap="square" lIns="0" tIns="0" rIns="0" bIns="0" rtlCol="0" anchor="t"/>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177 mil km × 2 torres por km × R$ 450 por torre. Ordem de grandeza, com vão médio de 500 m como premissa.</a:t>
            </a:r>
            <a:endParaRPr lang="en-US" sz="1050" dirty="0"/>
          </a:p>
        </p:txBody>
      </p:sp>
      <p:sp>
        <p:nvSpPr>
          <p:cNvPr id="14"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Apêndice</a:t>
            </a:r>
            <a:endParaRPr lang="en-US" sz="900" dirty="0"/>
          </a:p>
        </p:txBody>
      </p:sp>
      <p:sp>
        <p:nvSpPr>
          <p:cNvPr id="15"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2026-09-15T00:22:06Z</dcterms:created>
  <dcterms:modified xsi:type="dcterms:W3CDTF">2026-09-15T00:22:06Z</dcterms:modified>
</cp:coreProperties>
</file>