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Vantagem das híbridas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&quot;+&quot;0.00&quot; pp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CPLID</c:v>
                  </c:pt>
                  <c:pt idx="1">
                    <c:v>DRNPW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13.49</c:v>
                </c:pt>
                <c:pt idx="1">
                  <c:v>5.17</c:v>
                </c:pt>
              </c:numCache>
            </c:numRef>
          </c:val>
        </c:ser>
        <c:dLbls>
          <c:numFmt formatCode="&quot;+&quot;0.00&quot; pp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9525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0,500</c:v>
                  </c:pt>
                  <c:pt idx="1">
                    <c:v>0,778</c:v>
                  </c:pt>
                  <c:pt idx="2">
                    <c:v>1,056</c:v>
                  </c:pt>
                  <c:pt idx="3">
                    <c:v>1,333</c:v>
                  </c:pt>
                  <c:pt idx="4">
                    <c:v>1,611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76.7</c:v>
                </c:pt>
                <c:pt idx="1">
                  <c:v>83.3</c:v>
                </c:pt>
                <c:pt idx="2">
                  <c:v>80</c:v>
                </c:pt>
                <c:pt idx="3">
                  <c:v>90</c:v>
                </c:pt>
                <c:pt idx="4">
                  <c:v>83.3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CPLID</c:v>
                  </c:pt>
                  <c:pt idx="1">
                    <c:v>DRNPW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84.55</c:v>
                </c:pt>
                <c:pt idx="1">
                  <c:v>73.81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YOLOv8n-cls</c:v>
                </c:pt>
              </c:strCache>
            </c:strRef>
          </c:tx>
          <c:spPr>
            <a:solidFill>
              <a:srgbClr val="F5A54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CPLID</c:v>
                  </c:pt>
                  <c:pt idx="1">
                    <c:v>DRNPW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66.28</c:v>
                </c:pt>
                <c:pt idx="1">
                  <c:v>71.43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Piso majoritário</c:v>
                </c:pt>
              </c:strCache>
            </c:strRef>
          </c:tx>
          <c:spPr>
            <a:solidFill>
              <a:srgbClr val="A9BCC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CPLID</c:v>
                  </c:pt>
                  <c:pt idx="1">
                    <c:v>DRNPW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74.42</c:v>
                </c:pt>
                <c:pt idx="1">
                  <c:v>73.33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50"/>
        </c:scaling>
        <c:delete val="0"/>
        <c:axPos val="l"/>
        <c:majorGridlines>
          <c:spPr>
            <a:ln w="9525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F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C6F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Bom dia a todos.
Meu nome é Luan Willig Silveira e apresento a minha dissertação de mestrado, desenvolvida no Programa de Pós-Graduação em Engenharia Elétrica da Universidade Federal de Santa Maria, sob orientação do professor Daniel Pinheiro Bernardon e coorientação do professor Paulo César Vargas Luz.
O título do trabalho é Método de aprimoramento de processamentos de imagens aplicados à detecção e classificação de falhas em cadeias de isoladores. O tema une a manutenção das linhas do sistema elétrico ao uso de imagens e de redes neurais para inspecioná-las.
Agradeço a presença da banca e passo à apresentação.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apresentação está dividida em quatro partes.
Começo pelo problema elétrico: o papel dos isoladores no sistema elétrico de potência, as falhas que eles apresentam e a forma como são inspecionados.
Em seguida, apresento a proposta, que é a metodologia para comparar, selecionar, combinar e ajustar o processamento das imagens.
Depois, os resultados obtidos com dois conjuntos de dados e dois modelos de rede neural.
E termino voltando ao sistema elétrico, com as vantagens e o impacto do trabalho.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Começo pelo Sistema Elétrico de Potência. A energia gerada percorre as linhas de transmissão, passa pelas subestações e chega aos consumidores pelas redes de distribuição.
Ao longo dessas linhas, componentes como isoladores, fixadores e suportes garantem a sustentação e o isolamento dos condutores. Quando esses componentes apresentam problemas que não são tratados, a consequência pode ser a interrupção do fornecimento de energia. Por isso, a inspeção desses ativos é uma atividade central para a confiabilidade do sistema. E o processamento de imagens se tornou uma ferramenta essencial para essa confiabilidade, porque permite identificar problemas nesses componentes a partir de imagens das linhas.
Entre esses componentes, o foco deste trabalho é o que aparece destacado no círculo da figura: a cadeia de isoladores, presente nas estruturas das linhas de alta tensão. É sobre a detecção e a classificação de falhas nessas cadeias que a dissertação trata.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isoladores cumprem duas funções ao mesmo tempo.
A primeira é mecânica: sustentar os condutores.
A segunda é elétrica: garantir o isolamento entre as partes energizadas e as estruturas aterradas.
Nas linhas de alta tensão, eles são normalmente agrupados em cadeias, como a que aparece na foto.
O problema é que essas cadeias ficam expostas de forma contínua a condições ambientais severas, como variações de temperatura, umidade, poluição e descargas atmosféricas. Ao longo do tempo, essa exposição favorece o surgimento de falhas que comprometem a capacidade de isolamento e, com ela, a confiabilidade do sistema elétrico. O desempenho da linha depende, portanto, do estado de cada cadeia de isoladores instalada ao longo dela.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falhas aparecem de diferentes formas. A literatura cita trincas, contaminação superficial, perfurações e rupturas, além de corrosões nas estruturas, que também podem ser identificadas por imagem. À esquerda está um exemplo de corrosão.
À direita está o defeito estrutural das cadeias de discos cerâmicos, em que o disco está ausente ou fraturado. Essas condições comprometem a rigidez dielétrica da cadeia e podem evoluir para falhas de isolamento na linha.
O ponto em comum é que todas essas falhas deixam uma assinatura visual. É isso que torna possível usar imagens para encontrá-las.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isso, a identificação precoce dessas falhas é essencial, e ela traz três ganhos diretos para o sistema elétrico.
O primeiro é a continuidade: encontrar a falha a tempo evita interrupções no fornecimento de energia.
O segundo é econômico: a detecção precoce reduz os custos de manutenção.
O terceiro é a segurança: previne riscos às instalações e às pessoas.
Há também o outro lado dessa questão. Uma falha que não é detectada, o chamado falso negativo, pode ter consequências graves e, no limite, levar a falhas no sistema de transmissão. Por isso, ao longo do trabalho, a capacidade de encontrar a falha, e não apenas a taxa geral de acertos, recebe atenção especial na leitura dos resultados.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Tradicionalmente, a inspeção de cadeias de isoladores é feita de forma visual e manual, por equipes especializadas. Isso torna a inspeção lenta, custosa e sujeita à subjetividade e a erros humanos.
Uma alternativa promissora é a inspeção por imagem. O uso de imagens capturadas por drones facilita a inspeção de grandes extensões de linhas de transmissão, reduz custos e aumenta a segurança, porque evita intervenções manuais em locais de difícil acesso.
Associadas a modelos de aprendizado de máquina, essas imagens permitem automatizar a detecção e a classificação das falhas, o que torna a inspeção mais rápida, econômica e reprodutível. E os métodos de aprendizado profundo conseguem reconhecer padrões que indicam falhas mesmo em condições adversas, como baixa visibilidade ou equipamentos desgastados.
É essa combinação de drone e inteligência artificial que forma o contexto de aplicação desta dissertação.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inspeção por imagem, porém, traz os seus próprios desafios.
O primeiro é o volume. Uma inspeção produz um grande número de imagens, e a literatura aponta que a inspeção manual se torna ineficaz justamente pelo alto volume de dados.
O segundo é o fundo das imagens. O isolador aparece sobre vegetação, rios, ocupação urbana e outras estruturas, e essa complexidade dificulta distinguir o componente elétrico do ambiente ao seu redor.
O terceiro é a anotação. Rotular manualmente as imagens capturadas por drones é demorado e propenso a erros, o que limita o tamanho dos conjuntos de dados disponíveis.
A inteligência artificial responde ao primeiro desafio, porque permite analisar grandes volumes de dados e identificar padrões complexos. Mas os outros dois mostram que a qualidade da imagem que chega ao modelo continua sendo decisiva.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sistema de inspeção automática segue esta sequência. A imagem é adquirida, recebe um pré-processamento, é analisada pelo modelo de rede neural, e o resultado é um diagnóstico: com falha ou sem falha.
A eficácia desse sistema depende, em grande medida, das técnicas de processamento de imagem empregadas e da forma como elas são combinadas e ajustadas. Diferentes técnicas, parâmetros e arquiteturas podem produzir resultados bastante distintos para o mesmo problema.
Não basta investir apenas em arquiteturas complexas de rede neural se as imagens de entrada apresentarem ruídos e limitações de contraste que ocultam os defeitos.
Por isso, este trabalho coloca o pré-processamento no centro, como a variável independente do estudo. A pergunta passa a ser: qual tratamento aplicar à imagem para que o modelo identifique melhor a falha no isolador?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Quando se busca na literatura como tratar essas imagens, o que se encontra é falta de consenso.
Liu e Wang, que detectam falhas em isoladores em imagens aéreas de linhas de transmissão, utilizaram apenas redimensionamento e normalização, e não registram impacto significativo do pré-processamento.
Zhang, que combina aprendizado profundo com processamento morfológico para segmentar os isoladores, relata melhora no desempenho. Salvi, em uma revisão na área de patologia digital, conclui que essas técnicas melhoram a precisão e reduzem o tempo computacional.
Já Öztürk e Akdemir mostram que o excesso de processamento pode degradar o desempenho, e Rodrigues observa que as imagens originais favoreceram a rede neural.
Os estudos vão, portanto, da melhora ao risco de sobre-processamento. E nenhum deles propõe um método para determinar quais processamentos são mais eficientes e para otimizar os seus parâmetros. Essa é a lacuna que a dissertação procura preencher.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partir dessa lacuna, o objetivo geral do trabalho é desenvolver uma metodologia capaz de comparar, selecionar, combinar e aprimorar técnicas de processamento de imagem para a detecção e a classificação de falhas em cadeias de isoladores.
Os quatro verbos organizam toda a proposta.
Comparar as técnicas entre si, sob as mesmas condições.
Selecionar as mais adequadas a cada caso.
Combinar técnicas em sequência, formando pipelines.
E aprimorar os seus parâmetros de forma automática, sem a necessidade de intervenção manual extensa.
Esse objetivo responde diretamente à lacuna identificada. Em vez de relatar apenas o que funcionou em um experimento, a proposta é oferecer um método para determinar os processamentos mais eficientes e otimizar os seus parâmetros.
Com isso, a escolha do tratamento das imagens passa a seguir um procedimento sistemático.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alcançar esse objetivo, foram definidos sete objetivos específicos.
O primeiro é estabelecer métricas para avaliar a eficácia dos processamentos de imagem.
O segundo e o terceiro são determinar o tipo de rede neural adequado e construir os modelos de avaliação, sem o intuito de encontrar um modelo definitivo.
O quarto e o quinto são analisar o impacto da escolha do modelo e a influência do conjunto de dados sobre os resultados.
O sexto é aprimorar os processamentos pela combinação de abordagens unitárias.
E o sétimo é criar um método de ajuste automático dos parâmetros.
Destaco o sentido do terceiro objetivo: os modelos treinados servem para avaliar o impacto dos diferentes processamentos, e não são o produto final do trabalho.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metodologia é estruturada, iterativa e modular.
O fluxo parte do início e percorre seis etapas: a seleção e a validação do conjunto de dados, o pré-processamento, o ajuste de parâmetros, a escolha e a construção do modelo, o treinamento e, por fim, a avaliação e os ajustes, encerrando em conclusões e recomendações.
O caráter iterativo vem do ciclo de avaliação. Quando o desempenho não é satisfatório, a avaliação retroalimenta o pré-processamento e a escolha do modelo, o que permite refinar as técnicas e os parâmetros a cada iteração.
O caráter modular vem da divisão em blocos, que permite identificar e corrigir problemas em cada etapa de forma isolada, sem comprometer o restante do processo. É essa modularidade que permite, mais adiante, trocar apenas o bloco do modelo e repetir o experimento com uma segunda arquitetura.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etapa se desdobra em operações e decisões, mostradas no fluxograma detalhado. Destaco os quatro pontos de decisão.
O primeiro verifica se o conjunto de dados está balanceado. Isso é especialmente relevante na detecção de falhas, em que costuma haver muito mais amostras de isoladores saudáveis do que de defeituosos.
O segundo decide se as técnicas serão usadas isoladas ou combinadas em um pipeline.
O terceiro define o tipo de tarefa, entre classificação, detecção e regressão.
E o quarto verifica se o desempenho atende aos critérios definidos. Se não atende, o bloco de ajuste de processamentos e modelo devolve o fluxo às etapas anteriores.
Neste trabalho, foram percorridos os dois ramos do pré-processamento, o de técnicas isoladas e o de técnicas combinadas, com a tarefa de classificação e o ajuste automático de parâmetros.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validar a metodologia, foram usados dois conjuntos de dados de inspeção de infraestrutura elétrica, que representam cenários bem diferentes.
O primeiro é o CPLID, o Chinese Power Line Insulator Dataset. Ele reúne imagens de cadeias de isoladores de linhas de transmissão aéreas, majoritariamente cerâmicos, capturadas por drones e com fundos homogêneos. O defeito de interesse é estrutural: a ausência de disco e as fraturas no corpo do isolador. São duas classes, com 678 imagens de treino e 43 de teste.
O segundo é o DRNPW, disponibilizado pela CPFL, com imagens capturadas por drones em condições operacionais reais. Aqui os isoladores aparecem sobre fundos heterogêneos, com vegetação e ocupação urbana, o que reproduz a dificuldade de campo em distinguir o componente elétrico do ambiente. São 585 imagens, divididas em 468 de treino, 87 de validação e 30 de teste.
Esse conjunto é fortemente desbalanceado: das 468 imagens de treino, 335 pertencem a uma única categoria.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Foram avaliadas 14 variantes de pré-processamento, aplicadas às imagens antes do treinamento. A figura ilustra o efeito de algumas delas sobre uma mesma imagem.
O realce de contraste amplia as diferenças de intensidade por meio de um fator multiplicador. A equalização de histograma redistribui as intensidades na faixa dinâmica disponível. A escala de cinza suprime a informação de cor. O desfoque gaussiano faz uma suavização passa-baixa. E a detecção de bordas isola os contornos da imagem.
Além dessas, foram avaliadas a binarização adaptativa, o CLAHE, que equaliza o histograma por regiões locais, a redução de ruído por médias não locais e o filtro de mediana.
Quatro variantes são híbridas, combinando o realce de contraste com o CLAHE ou com a equalização de histograma, em ordens diferentes.
E a imagem original entra como amostra de controle, a linha de base sem processamento.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protocolo experimental isola uma única variável.
Foi implementada uma rede neural convolucional clássica e padronizada, com camadas convolucionais, max-pooling, uma camada densa e saída softmax. O treinamento usou o otimizador Adam, com data augmentation em tempo de treino e imagens redimensionadas para um tamanho fixo. Com o modelo fixo, a única variável entre as execuções é o pré-processamento aplicado às imagens. Depois, a mesma varredura foi repetida com uma segunda arquitetura.
Para ler os resultados, é preciso um critério de referência, porque os dois conjuntos de teste são desbalanceados. Nesses casos, a acurácia sozinha pode ser enganosa, já que um modelo que sempre prevê a classe saudável alcança um valor alto sem detectar nenhuma falha. Esse critério é o piso majoritário: a acurácia obtida ao responder sempre a classe mais frequente, sem observar a imagem.
No CPLID, a classe de isoladores normais domina o conjunto de teste, o que dá um piso de 74,42 por cento. No DRNPW, o piso é de 73,33 por cento. Um modelo abaixo desse valor não extrai informação útil das imagens.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Começo pelos resultados da rede convolucional no CPLID, o cenário das cadeias cerâmicas de linhas de transmissão com defeito estrutural. O gráfico mostra a acurácia de cada técnica, em ordem crescente, com a imagem tratada acima de cada barra.
No topo, três técnicas empataram em 95,35 por cento de acurácia, e todas ampliam o contraste: o realce de contraste simples, a combinação de CLAHE com realce e a combinação de realce com equalização de histograma. O realce simples teve ainda o maior F1-score do conjunto, 96,55 por cento, superando inclusive a imagem original sem tratamento, que alcançou 93,02 por cento de acurácia.
Esse resultado é coerente com a natureza do defeito. As assinaturas visuais do disco ausente e da fratura se concentram na estrutura física do isolador e são realçadas pela ampliação do intervalo tonal.
No outro extremo, as técnicas de suavização e desfoque reduziram consideravelmente o desempenho. O desfoque gaussiano ficou em apenas 67,44 por cento, abaixo da imagem original e abaixo do piso majoritário. Ou seja, um tratamento inadequado piorou o resultado em relação a não tratar a imagem.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DRNPW, o cenário de inspeção aérea em ambiente operacional real, o comportamento muda.
Com fundos de forte poluição visual, os melhores resultados vieram das combinações que ampliam o contraste. A combinação de realce de contraste e equalização de histograma teve o melhor desempenho, com 83,33 por cento de acurácia e 75,76 por cento de F1-score, contra 63,33 por cento de acurácia e 49,12 por cento de F1-score dos modelos treinados apenas com as imagens originais.
A leitura é que, nesse cenário, a combinação reforça o contraste entre o componente e o fundo. Já as técnicas que suprimem a cor, como a escala de cinza, ou que suavizam as texturas, como os desfoques, ficaram entre os piores resultados, por descartarem informação relevante à identificação do defeito.
Faço aqui uma ressalva: esse melhor resultado supera o piso de 73,33 por cento em 10 pontos percentuais, o equivalente a três imagens de teste, e boa parte das técnicas avaliadas ficou no piso ou abaixo dele. Por isso, a inspeção em ambiente com forte poluição visual permanece como o caso mais desafiador.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Agrupando as 14 técnicas em simples e híbridas, as combinações se destacam com a rede convolucional.
No CPLID, a média de acurácia das técnicas híbridas foi 13,49 pontos percentuais superior à das técnicas simples. No DRNPW, a vantagem foi de 5,17 pontos.
Isso confirma a decisão da metodologia de avaliar também pipelines de técnicas combinadas, em que a saída de uma técnica serve de entrada para a próxima. Um pipeline pode reunir, por exemplo, normalização, redução de ruído, ajuste de contraste e aumento de nitidez.
E há um detalhe importante: a ordem das operações importa, porque sequências diferentes produzem resultados distintos. Por isso, as combinações foram avaliadas nas duas ordens possíveis: CLAHE seguido de realce e realce seguido de CLAHE, e equalização seguida de realce e realce seguido de equalização.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etapa de ajuste automático foi aplicada ao parâmetro do realce de contraste, o fator multiplicador, no DRNPW. Valores menores que 1 reduzem o contraste, e valores maiores que 1 o aumentam.
Primeiro, a busca em grade avaliou cinco valores entre 0,5 e 1,611. O melhor foi o fator 1,333, com 90 por cento de acurácia e 85,3 por cento de F1-score. A redução excessiva de contraste, com fator 0,5, resultou na menor acurácia, 76,7 por cento.
Como complemento, a busca aleatória testou outros valores em uma faixa mais ampla de contraste. O melhor foi 1,4364, com 85,06 por cento de acurácia na validação, e contrastes muito altos degradaram bastante o desempenho.
Os dois métodos apontam para valores próximos, um pouco acima de 1.
O ganho metodológico é que o ajuste deixa de depender de otimização manual.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Até aqui, todas as avaliações usaram uma única arquitetura. Isso isola o pré-processamento, mas deixa uma pergunta em aberto: os efeitos observados vêm das imagens ou do modelo usado para avaliá-las?
Como a metodologia trata o modelo como um bloco substituível, a mesma varredura foi repetida com o YOLOv8n-cls, a variante de classificação da família YOLO, com pesos iniciais do COCO. Foram repetidos os treinamentos completos para os dois conjuntos de dados, mantendo as mesmas 14 técnicas de pré-processamento.
O YOLOv8n-cls não superou a rede convolucional. No CPLID, a sua acurácia média foi de 66,28 por cento, contra 84,55, e ele quase não superou o piso majoritário nas 14 técnicas avaliadas. No DRNPW, as duas arquiteturas ficaram na vizinhança do piso.
E a ordem de mérito das técnicas se inverteu. A combinação de CLAHE com realce caiu de 95,35 para 51,16 por cento. A melhor combinação do DRNPW caiu de 83,33 para 53,33. E a escala de cinza subiu de 76,74 para 81,40 por cento.
Uma explicação plausível é que os pesos do COCO carregam as estatísticas de cor e contraste de fotografias naturais, e transformações que se afastam dessa distribuição degradam a utilidade dos filtros já aprendidos. A consequência é que a escolha do pré-processamento não é independente do modelo.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Reunindo os resultados, destaco o que a metodologia entrega para quem desenvolve um sistema de inspeção de isoladores.
Primeiro, ganho de desempenho. No cenário de campo, a escolha do tratamento levou o F1-score de 49,12 por cento, com as imagens originais, para 75,76 por cento, com a mesma rede.
Segundo, proteção contra a escolha errada. No CPLID, o desfoque gaussiano derrubou a acurácia de 93,02 para 67,44 por cento.
Terceiro, uma indicação sobre onde investir. Em regime de poucos dados, a arquitetura maior e pré-treinada não superou a rede convolucional simples, porque o aumento da capacidade do modelo não compensou as limitações do conjunto de dados.
E quarto, um procedimento. Como a melhor técnica muda com a arquitetura e com o conjunto de dados, a seleção precisa ser refeita a cada mudança, e a estrutura iterativa da metodologia viabiliza essa reexecução controlada.
Em síntese, o tratamento adequado das imagens brutas, ajustado a cada conjunto de dados e ao modelo adotado, é condição essencial para o bom desempenho.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Voltando ao sistema elétrico, a inspeção automatizada por imagem, que este trabalho ajuda a tornar mais confiável, traz vantagens em seis frentes.
A continuidade do fornecimento, porque a detecção precoce de falhas evita interrupções.
O custo, porque identificar a falha cedo reduz os custos de manutenção.
A segurança, porque o uso de imagens evita intervenções manuais em locais de difícil acesso.
A abrangência, porque os drones facilitam a inspeção de grandes extensões de linhas.
A reprodutibilidade, porque o diagnóstico automatizado é mais rápido, econômico e menos sujeito à subjetividade e ao erro humano.
E a manutenção preditiva, porque as técnicas modernas permitem monitorar os equipamentos e identificar danos antes que se tornem críticos.
Em todas essas frentes, o ganho depende de o modelo acertar, e o acerto do modelo depende, como vimos, do tratamento dado às imagens.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Concluindo.
Primeira conclusão: o pré-processamento das imagens exerce papel determinante no desempenho dos modelos em cenários de inspeção de infraestrutura elétrica.
Segunda conclusão: não há um processamento universalmente superior. Para defeitos estruturais em cadeias de isoladores de linhas de transmissão, no CPLID, o realce de contraste foi a estratégia de maior êxito. Para a inspeção aérea com fundos heterogêneos e poluídos, no DRNPW, as combinações de realce de contraste e equalização de histograma foram mais eficazes. A eficácia de cada técnica depende das características do conjunto de dados e do contexto de captura das falhas.
Terceira conclusão: a ordem de mérito das técnicas se altera conforme a arquitetura, de modo que a seleção do pré-processamento não é independente do modelo nem da forma de inicialização dos seus pesos. Por isso, ela precisa ser refeita a cada mudança de arquitetura ou de conjunto de dados, e é essa reexecução controlada que a metodologia proposta busca viabilizar.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trabalho enfrentou limitações.
A principal foi a quantidade e a disponibilidade de dados. Há grande escassez de bancos de imagens públicos focados em redes de distribuição, com número expressivo de componentes defeituosos e anotações rigorosas, o que obriga o uso de conjuntos fortemente desbalanceados.
Outra limitação foi o custo computacional. Otimizar todos os parâmetros do pipeline ao mesmo tempo leva à explosão combinatória, o que inviabiliza a avaliação exaustiva em tempo hábil.
A partir dessas limitações, sugiro cinco trabalhos futuros. Usar a otimização bayesiana para explorar vários parâmetros simultaneamente. Gerar exemplos sintéticos de defeitos com redes generativas adversariais. Estender o método para arquiteturas de detecção, avaliando a localização espacial das falhas. Adotar métricas mais robustas ao desbalanceamento, como o F1-score macro e a acurácia balanceada. E avaliar o desempenho do pipeline em dispositivos embarcados, como drones, para viabilizar a inspeção dinâmica em campo.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Encerro voltando ao ponto de partida, o Sistema Elétrico de Potência.
A principal contribuição deste trabalho é uma metodologia estruturada para a inspeção automatizada de linhas de transmissão, que mapeia de forma sistemática o impacto do processamento das imagens aéreas.
O impacto aparece em três frentes. Na confiabilidade do sistema, porque um modelo que identifica melhor a falha no isolador contribui para encontrá-la antes que ela cause uma interrupção no fornecimento. Na manutenção das linhas, porque fortalece a inspeção por drone e inteligência artificial, que é mais rápida, econômica, segura e reprodutível que a inspeção manual. E na própria inspeção automatizada, porque oferece um procedimento sistemático para escolher e ajustar o tratamento das imagens, que pode ser repetido a cada novo conjunto de dados ou nova arquitetura.
A mensagem final é que o tratamento adequado das imagens brutas é tão relevante quanto a escolha da arquitetura da rede neural.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Muito obrigado pela atenção. Fico à disposição da banca para as arguições.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image" Target="../media/image-1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0-1.jpeg"/><Relationship Id="rId3" Type="http://schemas.openxmlformats.org/officeDocument/2006/relationships/image" Target="../media/image-20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de Santa Maria</a:t>
            </a:r>
            <a:endParaRPr lang="pt-BR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4066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Pós-Graduação em Engenharia Elétrica</a:t>
            </a:r>
            <a:endParaRPr lang="pt-BR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2801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de aprimoramento de processamentos de imagens aplicados à detecção e classificação de falhas em cadeias de isoladores</a:t>
            </a:r>
            <a:endParaRPr lang="pt-BR" sz="2300" dirty="0"/>
          </a:p>
        </p:txBody>
      </p:sp>
      <p:sp>
        <p:nvSpPr>
          <p:cNvPr id="6" name="Text 3"/>
          <p:cNvSpPr/>
          <p:nvPr/>
        </p:nvSpPr>
        <p:spPr>
          <a:xfrm>
            <a:off x="502920" y="3154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i="1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de Dissertação de Mestrado</a:t>
            </a:r>
            <a:endParaRPr lang="pt-BR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3611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pt-BR" alt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Mestrando: </a:t>
            </a:r>
            <a:pPr indent="0" marL="0">
              <a:lnSpc>
                <a:spcPct val="115000"/>
              </a:lnSpc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Willig Silveira</a:t>
            </a:r>
            <a:endParaRPr lang="pt-BR" sz="1200" dirty="0"/>
          </a:p>
          <a:p>
            <a:pPr indent="0" marL="0">
              <a:lnSpc>
                <a:spcPct val="115000"/>
              </a:lnSpc>
              <a:buNone/>
            </a:pPr>
            <a:r>
              <a:rPr lang="pt-BR" alt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</a:t>
            </a:r>
            <a:pPr indent="0" marL="0">
              <a:lnSpc>
                <a:spcPct val="115000"/>
              </a:lnSpc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Daniel Pinheiro Bernardon</a:t>
            </a:r>
            <a:endParaRPr lang="pt-BR" sz="1200" dirty="0"/>
          </a:p>
          <a:p>
            <a:pPr indent="0" marL="0">
              <a:lnSpc>
                <a:spcPct val="115000"/>
              </a:lnSpc>
              <a:buNone/>
            </a:pPr>
            <a:r>
              <a:rPr lang="pt-BR" altLang="en-US" sz="12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Coorientador: </a:t>
            </a:r>
            <a:pPr indent="0" marL="0">
              <a:lnSpc>
                <a:spcPct val="115000"/>
              </a:lnSpc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Paulo César Vargas Luz</a:t>
            </a:r>
            <a:endParaRPr lang="pt-BR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7320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5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Maria, RS</a:t>
            </a:r>
            <a:endParaRPr lang="pt-BR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sistema elétrico de volta ao sistema elétrico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234440"/>
            <a:ext cx="1828800" cy="1828800"/>
          </a:xfrm>
          <a:prstGeom prst="rect">
            <a:avLst/>
          </a:prstGeom>
          <a:ln w="9525">
            <a:solidFill>
              <a:srgbClr val="E4EA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" y="134416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elétrico</a:t>
            </a:r>
            <a:endParaRPr lang="pt-BR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Isoladores, falhas e inspeção</a:t>
            </a:r>
            <a:endParaRPr lang="pt-BR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234440"/>
            <a:ext cx="182880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06040" y="1234440"/>
            <a:ext cx="1828800" cy="1828800"/>
          </a:xfrm>
          <a:prstGeom prst="rect">
            <a:avLst/>
          </a:prstGeom>
          <a:ln w="9525">
            <a:solidFill>
              <a:srgbClr val="E4EA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15768" y="134416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15768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4" name="Text 10"/>
          <p:cNvSpPr/>
          <p:nvPr/>
        </p:nvSpPr>
        <p:spPr>
          <a:xfrm>
            <a:off x="26060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pt-BR" sz="1400" dirty="0"/>
          </a:p>
        </p:txBody>
      </p:sp>
      <p:sp>
        <p:nvSpPr>
          <p:cNvPr id="15" name="Text 11"/>
          <p:cNvSpPr/>
          <p:nvPr/>
        </p:nvSpPr>
        <p:spPr>
          <a:xfrm>
            <a:off x="260604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processamento</a:t>
            </a:r>
            <a:endParaRPr lang="pt-BR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34440"/>
            <a:ext cx="1828800" cy="1828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09160" y="1234440"/>
            <a:ext cx="1828800" cy="1828800"/>
          </a:xfrm>
          <a:prstGeom prst="rect">
            <a:avLst/>
          </a:prstGeom>
          <a:ln w="9525">
            <a:solidFill>
              <a:srgbClr val="E4EA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818888" y="1344168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818888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20" name="Text 15"/>
          <p:cNvSpPr/>
          <p:nvPr/>
        </p:nvSpPr>
        <p:spPr>
          <a:xfrm>
            <a:off x="47091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1400" dirty="0"/>
          </a:p>
        </p:txBody>
      </p:sp>
      <p:sp>
        <p:nvSpPr>
          <p:cNvPr id="21" name="Text 16"/>
          <p:cNvSpPr/>
          <p:nvPr/>
        </p:nvSpPr>
        <p:spPr>
          <a:xfrm>
            <a:off x="470916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cenários, dois modelos</a:t>
            </a:r>
            <a:endParaRPr lang="pt-BR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234440"/>
            <a:ext cx="1828800" cy="18288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812280" y="1234440"/>
            <a:ext cx="1828800" cy="1828800"/>
          </a:xfrm>
          <a:prstGeom prst="rect">
            <a:avLst/>
          </a:prstGeom>
          <a:ln w="9525">
            <a:solidFill>
              <a:srgbClr val="E4EA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922008" y="1344168"/>
            <a:ext cx="402336" cy="402336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22008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200" dirty="0"/>
          </a:p>
        </p:txBody>
      </p:sp>
      <p:sp>
        <p:nvSpPr>
          <p:cNvPr id="26" name="Text 20"/>
          <p:cNvSpPr/>
          <p:nvPr/>
        </p:nvSpPr>
        <p:spPr>
          <a:xfrm>
            <a:off x="6812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400" dirty="0"/>
          </a:p>
        </p:txBody>
      </p:sp>
      <p:sp>
        <p:nvSpPr>
          <p:cNvPr id="27" name="Text 21"/>
          <p:cNvSpPr/>
          <p:nvPr/>
        </p:nvSpPr>
        <p:spPr>
          <a:xfrm>
            <a:off x="681228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para o sistema elétrico</a:t>
            </a:r>
            <a:endParaRPr lang="pt-BR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pt-BR" sz="900" dirty="0"/>
          </a:p>
        </p:txBody>
      </p:sp>
      <p:sp>
        <p:nvSpPr>
          <p:cNvPr id="29" name="Text 23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isolador no Sistema Elétrico de Potência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8138160" cy="22786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361188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Transmissão e distribuição</a:t>
            </a:r>
            <a:endParaRPr lang="pt-BR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que levam a energia até os consumidores</a:t>
            </a:r>
            <a:endParaRPr lang="pt-BR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361188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Isoladores, fixadores e suportes</a:t>
            </a:r>
            <a:endParaRPr lang="pt-BR" sz="1350" dirty="0"/>
          </a:p>
        </p:txBody>
      </p:sp>
      <p:sp>
        <p:nvSpPr>
          <p:cNvPr id="10" name="Text 7"/>
          <p:cNvSpPr/>
          <p:nvPr/>
        </p:nvSpPr>
        <p:spPr>
          <a:xfrm>
            <a:off x="347472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inspecionados ao longo das linhas</a:t>
            </a:r>
            <a:endParaRPr lang="pt-BR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3611880"/>
            <a:ext cx="54864" cy="777240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35935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não tratada</a:t>
            </a:r>
            <a:endParaRPr lang="pt-BR" sz="1350" dirty="0"/>
          </a:p>
        </p:txBody>
      </p:sp>
      <p:sp>
        <p:nvSpPr>
          <p:cNvPr id="13" name="Text 10"/>
          <p:cNvSpPr/>
          <p:nvPr/>
        </p:nvSpPr>
        <p:spPr>
          <a:xfrm>
            <a:off x="62636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causar interrupções no fornecimento de energia</a:t>
            </a:r>
            <a:endParaRPr lang="pt-BR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5" name="Text 12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274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4" name="Text 1"/>
          <p:cNvSpPr/>
          <p:nvPr/>
        </p:nvSpPr>
        <p:spPr>
          <a:xfrm>
            <a:off x="5486400" y="51206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Isolador: sustentação e isolamento</a:t>
            </a:r>
            <a:endParaRPr lang="pt-BR" sz="2400" dirty="0"/>
          </a:p>
        </p:txBody>
      </p:sp>
      <p:sp>
        <p:nvSpPr>
          <p:cNvPr id="5" name="Shape 2"/>
          <p:cNvSpPr/>
          <p:nvPr/>
        </p:nvSpPr>
        <p:spPr>
          <a:xfrm>
            <a:off x="5486400" y="169164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7" name="Text 4"/>
          <p:cNvSpPr/>
          <p:nvPr/>
        </p:nvSpPr>
        <p:spPr>
          <a:xfrm>
            <a:off x="6080760" y="16550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</a:t>
            </a:r>
            <a:endParaRPr lang="pt-BR" sz="1500" dirty="0"/>
          </a:p>
        </p:txBody>
      </p:sp>
      <p:sp>
        <p:nvSpPr>
          <p:cNvPr id="8" name="Text 5"/>
          <p:cNvSpPr/>
          <p:nvPr/>
        </p:nvSpPr>
        <p:spPr>
          <a:xfrm>
            <a:off x="608076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mecanicamente os condutores</a:t>
            </a:r>
            <a:endParaRPr lang="pt-BR" sz="1100" dirty="0"/>
          </a:p>
        </p:txBody>
      </p:sp>
      <p:sp>
        <p:nvSpPr>
          <p:cNvPr id="9" name="Shape 6"/>
          <p:cNvSpPr/>
          <p:nvPr/>
        </p:nvSpPr>
        <p:spPr>
          <a:xfrm>
            <a:off x="5486400" y="2624328"/>
            <a:ext cx="457200" cy="457200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2587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</a:t>
            </a:r>
            <a:endParaRPr lang="pt-BR" sz="1500" dirty="0"/>
          </a:p>
        </p:txBody>
      </p:sp>
      <p:sp>
        <p:nvSpPr>
          <p:cNvPr id="12" name="Text 9"/>
          <p:cNvSpPr/>
          <p:nvPr/>
        </p:nvSpPr>
        <p:spPr>
          <a:xfrm>
            <a:off x="60807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partes energizadas das estruturas aterradas</a:t>
            </a:r>
            <a:endParaRPr lang="pt-BR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355701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exposto</a:t>
            </a:r>
            <a:endParaRPr lang="pt-BR" sz="1500" dirty="0"/>
          </a:p>
        </p:txBody>
      </p:sp>
      <p:sp>
        <p:nvSpPr>
          <p:cNvPr id="16" name="Text 13"/>
          <p:cNvSpPr/>
          <p:nvPr/>
        </p:nvSpPr>
        <p:spPr>
          <a:xfrm>
            <a:off x="6080760" y="3813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temperatura, umidade, poluição e descargas atmosféricas</a:t>
            </a:r>
            <a:endParaRPr lang="pt-BR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8" name="Text 15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Falhas que deixam marca na imagem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931920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Corrosão</a:t>
            </a:r>
            <a:endParaRPr lang="pt-BR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Identificável em imagens de inspeção</a:t>
            </a:r>
            <a:endParaRPr lang="pt-BR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393192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16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ausente e fraturas</a:t>
            </a:r>
            <a:endParaRPr lang="pt-BR" sz="1400" dirty="0"/>
          </a:p>
        </p:txBody>
      </p:sp>
      <p:sp>
        <p:nvSpPr>
          <p:cNvPr id="9" name="Text 5"/>
          <p:cNvSpPr/>
          <p:nvPr/>
        </p:nvSpPr>
        <p:spPr>
          <a:xfrm>
            <a:off x="470916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Comprometem a rigidez dielétrica da cadeia</a:t>
            </a:r>
            <a:endParaRPr lang="pt-BR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1" name="Text 7"/>
          <p:cNvSpPr/>
          <p:nvPr/>
        </p:nvSpPr>
        <p:spPr>
          <a:xfrm>
            <a:off x="2743200" y="47594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7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ilustrativas de cadeias de isoladores</a:t>
            </a:r>
            <a:endParaRPr lang="pt-BR" sz="750" dirty="0"/>
          </a:p>
        </p:txBody>
      </p:sp>
      <p:sp>
        <p:nvSpPr>
          <p:cNvPr id="12" name="Text 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18872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cedo protege o sistema elétrico</a:t>
            </a:r>
            <a:endParaRPr lang="pt-BR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5074920" cy="694944"/>
          </a:xfrm>
          <a:prstGeom prst="roundRect">
            <a:avLst>
              <a:gd name="adj" fmla="val 921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512" y="1700784"/>
            <a:ext cx="402336" cy="402336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60934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interrupções no fornecimento de energia</a:t>
            </a:r>
            <a:endParaRPr lang="pt-BR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377440"/>
            <a:ext cx="5074920" cy="694944"/>
          </a:xfrm>
          <a:prstGeom prst="roundRect">
            <a:avLst>
              <a:gd name="adj" fmla="val 921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2523744"/>
            <a:ext cx="402336" cy="402336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" y="2523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2" name="Text 9"/>
          <p:cNvSpPr/>
          <p:nvPr/>
        </p:nvSpPr>
        <p:spPr>
          <a:xfrm>
            <a:off x="1234440" y="243230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os custos de manutenção</a:t>
            </a:r>
            <a:endParaRPr lang="pt-BR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200400"/>
            <a:ext cx="5074920" cy="694944"/>
          </a:xfrm>
          <a:prstGeom prst="roundRect">
            <a:avLst>
              <a:gd name="adj" fmla="val 921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" y="3346704"/>
            <a:ext cx="402336" cy="402336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16" name="Text 13"/>
          <p:cNvSpPr/>
          <p:nvPr/>
        </p:nvSpPr>
        <p:spPr>
          <a:xfrm>
            <a:off x="1234440" y="325526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Previne riscos às instalações e às pessoas</a:t>
            </a:r>
            <a:endParaRPr lang="pt-BR" sz="1250" dirty="0"/>
          </a:p>
        </p:txBody>
      </p:sp>
      <p:sp>
        <p:nvSpPr>
          <p:cNvPr id="17" name="Text 14"/>
          <p:cNvSpPr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Falhas não detectadas podem ter consequências graves.</a:t>
            </a:r>
            <a:endParaRPr lang="pt-BR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9" name="Text 16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inspeção manual à inspeção automatizada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3931920" cy="21344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611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capturadas por drones facilitam a inspeção de grandes extensões de linhas.</a:t>
            </a:r>
            <a:endParaRPr lang="pt-BR" sz="950" dirty="0"/>
          </a:p>
        </p:txBody>
      </p:sp>
      <p:sp>
        <p:nvSpPr>
          <p:cNvPr id="6" name="Shape 3"/>
          <p:cNvSpPr/>
          <p:nvPr/>
        </p:nvSpPr>
        <p:spPr>
          <a:xfrm>
            <a:off x="4709160" y="1188720"/>
            <a:ext cx="3931920" cy="1481328"/>
          </a:xfrm>
          <a:prstGeom prst="roundRect">
            <a:avLst>
              <a:gd name="adj" fmla="val 4321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9472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visual e manual</a:t>
            </a:r>
            <a:endParaRPr lang="pt-BR" sz="1350" dirty="0"/>
          </a:p>
        </p:txBody>
      </p:sp>
      <p:sp>
        <p:nvSpPr>
          <p:cNvPr id="8" name="Text 5"/>
          <p:cNvSpPr/>
          <p:nvPr/>
        </p:nvSpPr>
        <p:spPr>
          <a:xfrm>
            <a:off x="4937760" y="160934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Lenta e custosa</a:t>
            </a:r>
            <a:endParaRPr lang="pt-BR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Sujeita à subjetividade e a erros humanos</a:t>
            </a:r>
            <a:endParaRPr lang="pt-BR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Feita por equipes especializadas</a:t>
            </a:r>
            <a:endParaRPr lang="pt-BR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2834640"/>
            <a:ext cx="3931920" cy="1645920"/>
          </a:xfrm>
          <a:prstGeom prst="roundRect">
            <a:avLst>
              <a:gd name="adj" fmla="val 3889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19472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por imagem com IA</a:t>
            </a:r>
            <a:endParaRPr lang="pt-BR" sz="1350" dirty="0"/>
          </a:p>
        </p:txBody>
      </p:sp>
      <p:sp>
        <p:nvSpPr>
          <p:cNvPr id="11" name="Text 8"/>
          <p:cNvSpPr/>
          <p:nvPr/>
        </p:nvSpPr>
        <p:spPr>
          <a:xfrm>
            <a:off x="4937760" y="3255264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rápida, econômica e reprodutível</a:t>
            </a:r>
            <a:endParaRPr lang="pt-BR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intervenções manuais em locais de difícil acesso</a:t>
            </a:r>
            <a:endParaRPr lang="pt-BR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 padrões de falha em condições adversas</a:t>
            </a:r>
            <a:endParaRPr lang="pt-BR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desafio: muitas imagens e fundos complexos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4983480" cy="2501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49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ilustrativas de inspeção de cadeias de isoladores</a:t>
            </a:r>
            <a:endParaRPr lang="pt-BR" sz="950" dirty="0"/>
          </a:p>
        </p:txBody>
      </p:sp>
      <p:sp>
        <p:nvSpPr>
          <p:cNvPr id="6" name="Shape 3"/>
          <p:cNvSpPr/>
          <p:nvPr/>
        </p:nvSpPr>
        <p:spPr>
          <a:xfrm>
            <a:off x="5760720" y="1188720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25312" y="123444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 de dados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a inspeção manual ineficaz</a:t>
            </a:r>
            <a:endParaRPr lang="pt-BR" sz="1250" dirty="0"/>
          </a:p>
        </p:txBody>
      </p:sp>
      <p:sp>
        <p:nvSpPr>
          <p:cNvPr id="8" name="Shape 5"/>
          <p:cNvSpPr/>
          <p:nvPr/>
        </p:nvSpPr>
        <p:spPr>
          <a:xfrm>
            <a:off x="5760720" y="2057400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25312" y="21031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complexos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Vegetação, rios e ocupação urbana ao redor do isolador</a:t>
            </a:r>
            <a:endParaRPr lang="pt-BR" sz="125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2880360" cy="749808"/>
          </a:xfrm>
          <a:prstGeom prst="roundRect">
            <a:avLst>
              <a:gd name="adj" fmla="val 853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29718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Anotação manual</a:t>
            </a:r>
            <a:endParaRPr lang="pt-BR" sz="1250" dirty="0"/>
          </a:p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Demorada e propensa a erros</a:t>
            </a:r>
            <a:endParaRPr lang="pt-BR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elétrico</a:t>
            </a:r>
            <a:endParaRPr lang="pt-BR" sz="900" dirty="0"/>
          </a:p>
        </p:txBody>
      </p:sp>
      <p:sp>
        <p:nvSpPr>
          <p:cNvPr id="13" name="Text 10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depende da imagem que recebe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783080" cy="13373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</a:t>
            </a:r>
            <a:endParaRPr lang="pt-BR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da cadeia</a:t>
            </a:r>
            <a:endParaRPr lang="pt-BR" sz="1050" dirty="0"/>
          </a:p>
        </p:txBody>
      </p:sp>
      <p:sp>
        <p:nvSpPr>
          <p:cNvPr id="7" name="Text 4"/>
          <p:cNvSpPr/>
          <p:nvPr/>
        </p:nvSpPr>
        <p:spPr>
          <a:xfrm>
            <a:off x="2286000" y="178308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pt-BR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280160"/>
            <a:ext cx="1783080" cy="133731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24328" y="1280160"/>
            <a:ext cx="1783080" cy="1337310"/>
          </a:xfrm>
          <a:prstGeom prst="rect">
            <a:avLst/>
          </a:prstGeom>
          <a:ln w="44450">
            <a:solidFill>
              <a:srgbClr val="F5A5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24328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pt-BR" sz="1300" dirty="0"/>
          </a:p>
        </p:txBody>
      </p:sp>
      <p:sp>
        <p:nvSpPr>
          <p:cNvPr id="11" name="Text 7"/>
          <p:cNvSpPr/>
          <p:nvPr/>
        </p:nvSpPr>
        <p:spPr>
          <a:xfrm>
            <a:off x="2624328" y="3017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da imagem</a:t>
            </a:r>
            <a:endParaRPr lang="pt-BR" sz="1050" dirty="0"/>
          </a:p>
        </p:txBody>
      </p:sp>
      <p:sp>
        <p:nvSpPr>
          <p:cNvPr id="12" name="Text 8"/>
          <p:cNvSpPr/>
          <p:nvPr/>
        </p:nvSpPr>
        <p:spPr>
          <a:xfrm>
            <a:off x="4407408" y="178308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pt-BR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280160"/>
            <a:ext cx="1783080" cy="13373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45736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pt-BR" sz="1300" dirty="0"/>
          </a:p>
        </p:txBody>
      </p:sp>
      <p:sp>
        <p:nvSpPr>
          <p:cNvPr id="15" name="Text 10"/>
          <p:cNvSpPr/>
          <p:nvPr/>
        </p:nvSpPr>
        <p:spPr>
          <a:xfrm>
            <a:off x="4745736" y="3017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neural</a:t>
            </a:r>
            <a:endParaRPr lang="pt-BR" sz="1050" dirty="0"/>
          </a:p>
        </p:txBody>
      </p:sp>
      <p:sp>
        <p:nvSpPr>
          <p:cNvPr id="16" name="Text 11"/>
          <p:cNvSpPr/>
          <p:nvPr/>
        </p:nvSpPr>
        <p:spPr>
          <a:xfrm>
            <a:off x="6528816" y="1783080"/>
            <a:ext cx="338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pt-BR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280160"/>
            <a:ext cx="1783080" cy="13373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7144" y="2743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pt-BR" sz="1300" dirty="0"/>
          </a:p>
        </p:txBody>
      </p:sp>
      <p:sp>
        <p:nvSpPr>
          <p:cNvPr id="19" name="Text 13"/>
          <p:cNvSpPr/>
          <p:nvPr/>
        </p:nvSpPr>
        <p:spPr>
          <a:xfrm>
            <a:off x="6867144" y="30175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falha ou sem falha</a:t>
            </a:r>
            <a:endParaRPr lang="pt-BR" sz="1050" dirty="0"/>
          </a:p>
        </p:txBody>
      </p:sp>
      <p:sp>
        <p:nvSpPr>
          <p:cNvPr id="20" name="Shape 14"/>
          <p:cNvSpPr/>
          <p:nvPr/>
        </p:nvSpPr>
        <p:spPr>
          <a:xfrm>
            <a:off x="2807208" y="33284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5A54A"/>
          </a:solidFill>
          <a:ln/>
        </p:spPr>
      </p:sp>
      <p:sp>
        <p:nvSpPr>
          <p:cNvPr id="21" name="Text 15"/>
          <p:cNvSpPr/>
          <p:nvPr/>
        </p:nvSpPr>
        <p:spPr>
          <a:xfrm>
            <a:off x="2807208" y="33284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deste trabalho</a:t>
            </a:r>
            <a:endParaRPr lang="pt-BR" sz="1000" dirty="0"/>
          </a:p>
        </p:txBody>
      </p:sp>
      <p:sp>
        <p:nvSpPr>
          <p:cNvPr id="22" name="Shape 16"/>
          <p:cNvSpPr/>
          <p:nvPr/>
        </p:nvSpPr>
        <p:spPr>
          <a:xfrm>
            <a:off x="502920" y="3840480"/>
            <a:ext cx="8138160" cy="621792"/>
          </a:xfrm>
          <a:prstGeom prst="roundRect">
            <a:avLst>
              <a:gd name="adj" fmla="val 10294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777240" y="384048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basta investir em arquiteturas complexas se a imagem oculta o defeito.</a:t>
            </a:r>
            <a:endParaRPr lang="pt-BR" sz="1500" dirty="0"/>
          </a:p>
        </p:txBody>
      </p:sp>
      <p:sp>
        <p:nvSpPr>
          <p:cNvPr id="24" name="Text 18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25" name="Text 19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literatura não chega a um consenso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463040"/>
            <a:ext cx="822960" cy="822960"/>
          </a:xfrm>
          <a:prstGeom prst="ellipse">
            <a:avLst/>
          </a:prstGeom>
          <a:solidFill>
            <a:srgbClr val="5C6F80"/>
          </a:solidFill>
          <a:ln w="12700">
            <a:solidFill>
              <a:srgbClr val="5C6F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pt-BR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impacto significativo</a:t>
            </a:r>
            <a:endParaRPr lang="pt-BR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(2021)</a:t>
            </a:r>
            <a:endParaRPr lang="pt-BR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(2023)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78808" y="146304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pt-BR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Melhorou o desempenho</a:t>
            </a:r>
            <a:endParaRPr lang="pt-BR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(2022)</a:t>
            </a:r>
            <a:endParaRPr lang="pt-BR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Salvi et al. (2021)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06040" cy="2514600"/>
          </a:xfrm>
          <a:prstGeom prst="roundRect">
            <a:avLst>
              <a:gd name="adj" fmla="val 254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67728" y="1463040"/>
            <a:ext cx="822960" cy="822960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pt-BR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efeito negativo</a:t>
            </a:r>
            <a:endParaRPr lang="pt-BR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Öztürk e Akdemir (2018)</a:t>
            </a:r>
            <a:endParaRPr lang="pt-BR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Rodrigues et al. (2020)</a:t>
            </a:r>
            <a:endParaRPr lang="pt-BR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9319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estudo propõe um método para determinar os processamentos mais eficientes.</a:t>
            </a:r>
            <a:endParaRPr lang="pt-BR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22" name="Text 20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14300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</a:t>
            </a:r>
            <a:endParaRPr lang="pt-BR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5029200" cy="1920240"/>
          </a:xfrm>
          <a:prstGeom prst="roundRect">
            <a:avLst>
              <a:gd name="adj" fmla="val 3333"/>
            </a:avLst>
          </a:prstGeom>
          <a:solidFill>
            <a:srgbClr val="1C3550"/>
          </a:solidFill>
          <a:ln w="9525">
            <a:solidFill>
              <a:srgbClr val="145A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141732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pt-BR" alt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Desenvolver uma metodologia capaz de comparar, selecionar, combinar e aprimorar técnicas de processamento de imagem para a detecção e classificação de falhas em cadeias de isoladores.</a:t>
            </a:r>
            <a:endParaRPr lang="pt-BR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3520440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5204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pt-BR" sz="1150" dirty="0"/>
          </a:p>
        </p:txBody>
      </p:sp>
      <p:sp>
        <p:nvSpPr>
          <p:cNvPr id="9" name="Shape 6"/>
          <p:cNvSpPr/>
          <p:nvPr/>
        </p:nvSpPr>
        <p:spPr>
          <a:xfrm>
            <a:off x="1783080" y="3520440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83080" y="35204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</a:t>
            </a:r>
            <a:endParaRPr lang="pt-BR" sz="1150" dirty="0"/>
          </a:p>
        </p:txBody>
      </p:sp>
      <p:sp>
        <p:nvSpPr>
          <p:cNvPr id="11" name="Shape 8"/>
          <p:cNvSpPr/>
          <p:nvPr/>
        </p:nvSpPr>
        <p:spPr>
          <a:xfrm>
            <a:off x="3063240" y="3520440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3240" y="35204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</a:t>
            </a:r>
            <a:endParaRPr lang="pt-BR" sz="1150" dirty="0"/>
          </a:p>
        </p:txBody>
      </p:sp>
      <p:sp>
        <p:nvSpPr>
          <p:cNvPr id="13" name="Shape 10"/>
          <p:cNvSpPr/>
          <p:nvPr/>
        </p:nvSpPr>
        <p:spPr>
          <a:xfrm>
            <a:off x="4343400" y="3520440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35204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Aprimorar</a:t>
            </a:r>
            <a:endParaRPr lang="pt-BR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16" name="Text 13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7" name="Text 5"/>
          <p:cNvSpPr/>
          <p:nvPr/>
        </p:nvSpPr>
        <p:spPr>
          <a:xfrm>
            <a:off x="1197864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pt-BR" sz="1250" dirty="0"/>
          </a:p>
        </p:txBody>
      </p:sp>
      <p:sp>
        <p:nvSpPr>
          <p:cNvPr id="8" name="Text 6"/>
          <p:cNvSpPr/>
          <p:nvPr/>
        </p:nvSpPr>
        <p:spPr>
          <a:xfrm>
            <a:off x="1197864" y="153619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métricas para avaliar a eficácia dos processamentos</a:t>
            </a:r>
            <a:endParaRPr lang="pt-BR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20700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2" name="Text 10"/>
          <p:cNvSpPr/>
          <p:nvPr/>
        </p:nvSpPr>
        <p:spPr>
          <a:xfrm>
            <a:off x="5312664" y="1280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modelo</a:t>
            </a:r>
            <a:endParaRPr lang="pt-BR" sz="1250" dirty="0"/>
          </a:p>
        </p:txBody>
      </p:sp>
      <p:sp>
        <p:nvSpPr>
          <p:cNvPr id="13" name="Text 11"/>
          <p:cNvSpPr/>
          <p:nvPr/>
        </p:nvSpPr>
        <p:spPr>
          <a:xfrm>
            <a:off x="5312664" y="153619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o tipo de rede neural para avaliar os processamentos</a:t>
            </a:r>
            <a:endParaRPr lang="pt-BR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19456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17" name="Text 15"/>
          <p:cNvSpPr/>
          <p:nvPr/>
        </p:nvSpPr>
        <p:spPr>
          <a:xfrm>
            <a:off x="1197864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do modelo</a:t>
            </a:r>
            <a:endParaRPr lang="pt-BR" sz="1250" dirty="0"/>
          </a:p>
        </p:txBody>
      </p:sp>
      <p:sp>
        <p:nvSpPr>
          <p:cNvPr id="18" name="Text 16"/>
          <p:cNvSpPr/>
          <p:nvPr/>
        </p:nvSpPr>
        <p:spPr>
          <a:xfrm>
            <a:off x="1197864" y="235915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redes de avaliação, sem buscar um modelo definitivo</a:t>
            </a:r>
            <a:endParaRPr lang="pt-BR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02996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9456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22" name="Text 20"/>
          <p:cNvSpPr/>
          <p:nvPr/>
        </p:nvSpPr>
        <p:spPr>
          <a:xfrm>
            <a:off x="5312664" y="2103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modelo</a:t>
            </a:r>
            <a:endParaRPr lang="pt-BR" sz="1250" dirty="0"/>
          </a:p>
        </p:txBody>
      </p:sp>
      <p:sp>
        <p:nvSpPr>
          <p:cNvPr id="23" name="Text 21"/>
          <p:cNvSpPr/>
          <p:nvPr/>
        </p:nvSpPr>
        <p:spPr>
          <a:xfrm>
            <a:off x="5312664" y="235915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impacto da escolha do modelo no processamento</a:t>
            </a:r>
            <a:endParaRPr lang="pt-BR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85292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01752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100" dirty="0"/>
          </a:p>
        </p:txBody>
      </p:sp>
      <p:sp>
        <p:nvSpPr>
          <p:cNvPr id="27" name="Text 25"/>
          <p:cNvSpPr/>
          <p:nvPr/>
        </p:nvSpPr>
        <p:spPr>
          <a:xfrm>
            <a:off x="1197864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dataset</a:t>
            </a:r>
            <a:endParaRPr lang="pt-BR" sz="1250" dirty="0"/>
          </a:p>
        </p:txBody>
      </p:sp>
      <p:sp>
        <p:nvSpPr>
          <p:cNvPr id="28" name="Text 26"/>
          <p:cNvSpPr/>
          <p:nvPr/>
        </p:nvSpPr>
        <p:spPr>
          <a:xfrm>
            <a:off x="1197864" y="318211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influência do conjunto de dados na eficácia</a:t>
            </a:r>
            <a:endParaRPr lang="pt-BR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852928"/>
            <a:ext cx="39776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017520"/>
            <a:ext cx="402336" cy="40233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100" dirty="0"/>
          </a:p>
        </p:txBody>
      </p:sp>
      <p:sp>
        <p:nvSpPr>
          <p:cNvPr id="32" name="Text 30"/>
          <p:cNvSpPr/>
          <p:nvPr/>
        </p:nvSpPr>
        <p:spPr>
          <a:xfrm>
            <a:off x="5312664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</a:t>
            </a:r>
            <a:endParaRPr lang="pt-BR" sz="1250" dirty="0"/>
          </a:p>
        </p:txBody>
      </p:sp>
      <p:sp>
        <p:nvSpPr>
          <p:cNvPr id="33" name="Text 31"/>
          <p:cNvSpPr/>
          <p:nvPr/>
        </p:nvSpPr>
        <p:spPr>
          <a:xfrm>
            <a:off x="5312664" y="318211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Aprimorar os processamentos combinando abordagens unitárias</a:t>
            </a:r>
            <a:endParaRPr lang="pt-BR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675888"/>
            <a:ext cx="8092440" cy="731520"/>
          </a:xfrm>
          <a:prstGeom prst="roundRect">
            <a:avLst>
              <a:gd name="adj" fmla="val 875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100" dirty="0"/>
          </a:p>
        </p:txBody>
      </p:sp>
      <p:sp>
        <p:nvSpPr>
          <p:cNvPr id="37" name="Text 35"/>
          <p:cNvSpPr/>
          <p:nvPr/>
        </p:nvSpPr>
        <p:spPr>
          <a:xfrm>
            <a:off x="1197864" y="37490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automático</a:t>
            </a:r>
            <a:endParaRPr lang="pt-BR" sz="1250" dirty="0"/>
          </a:p>
        </p:txBody>
      </p:sp>
      <p:sp>
        <p:nvSpPr>
          <p:cNvPr id="38" name="Text 36"/>
          <p:cNvSpPr/>
          <p:nvPr/>
        </p:nvSpPr>
        <p:spPr>
          <a:xfrm>
            <a:off x="1197864" y="4005072"/>
            <a:ext cx="7251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parâmetros sem intervenção manual extensa</a:t>
            </a:r>
            <a:endParaRPr lang="pt-BR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40" name="Text 3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Estruturada, iterativa e modular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005840"/>
            <a:ext cx="1701784" cy="3621024"/>
          </a:xfrm>
          <a:prstGeom prst="roundRect">
            <a:avLst>
              <a:gd name="adj" fmla="val 2149"/>
            </a:avLst>
          </a:prstGeom>
          <a:solidFill>
            <a:srgbClr val="FFFFFF"/>
          </a:solidFill>
          <a:ln w="9525">
            <a:solidFill>
              <a:srgbClr val="E4EA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15554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0" y="118872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14016" y="13258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14016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000" dirty="0"/>
          </a:p>
        </p:txBody>
      </p:sp>
      <p:sp>
        <p:nvSpPr>
          <p:cNvPr id="9" name="Text 6"/>
          <p:cNvSpPr/>
          <p:nvPr/>
        </p:nvSpPr>
        <p:spPr>
          <a:xfrm>
            <a:off x="2834640" y="118872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e validação do dataset</a:t>
            </a:r>
            <a:endParaRPr lang="pt-BR" sz="1200" dirty="0"/>
          </a:p>
        </p:txBody>
      </p:sp>
      <p:sp>
        <p:nvSpPr>
          <p:cNvPr id="10" name="Shape 7"/>
          <p:cNvSpPr/>
          <p:nvPr/>
        </p:nvSpPr>
        <p:spPr>
          <a:xfrm>
            <a:off x="5577840" y="118872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05856" y="13258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05856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000" dirty="0"/>
          </a:p>
        </p:txBody>
      </p:sp>
      <p:sp>
        <p:nvSpPr>
          <p:cNvPr id="13" name="Text 10"/>
          <p:cNvSpPr/>
          <p:nvPr/>
        </p:nvSpPr>
        <p:spPr>
          <a:xfrm>
            <a:off x="6126480" y="118872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pt-BR" sz="1200" dirty="0"/>
          </a:p>
        </p:txBody>
      </p:sp>
      <p:sp>
        <p:nvSpPr>
          <p:cNvPr id="14" name="Shape 11"/>
          <p:cNvSpPr/>
          <p:nvPr/>
        </p:nvSpPr>
        <p:spPr>
          <a:xfrm>
            <a:off x="2286000" y="192024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14016" y="205740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14016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000" dirty="0"/>
          </a:p>
        </p:txBody>
      </p:sp>
      <p:sp>
        <p:nvSpPr>
          <p:cNvPr id="17" name="Text 14"/>
          <p:cNvSpPr/>
          <p:nvPr/>
        </p:nvSpPr>
        <p:spPr>
          <a:xfrm>
            <a:off x="2834640" y="192024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parâmetros</a:t>
            </a:r>
            <a:endParaRPr lang="pt-BR" sz="1200" dirty="0"/>
          </a:p>
        </p:txBody>
      </p:sp>
      <p:sp>
        <p:nvSpPr>
          <p:cNvPr id="18" name="Shape 15"/>
          <p:cNvSpPr/>
          <p:nvPr/>
        </p:nvSpPr>
        <p:spPr>
          <a:xfrm>
            <a:off x="5577840" y="192024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05856" y="205740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05856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000" dirty="0"/>
          </a:p>
        </p:txBody>
      </p:sp>
      <p:sp>
        <p:nvSpPr>
          <p:cNvPr id="21" name="Text 18"/>
          <p:cNvSpPr/>
          <p:nvPr/>
        </p:nvSpPr>
        <p:spPr>
          <a:xfrm>
            <a:off x="6126480" y="192024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e construção do modelo</a:t>
            </a:r>
            <a:endParaRPr lang="pt-BR" sz="1200" dirty="0"/>
          </a:p>
        </p:txBody>
      </p:sp>
      <p:sp>
        <p:nvSpPr>
          <p:cNvPr id="22" name="Shape 19"/>
          <p:cNvSpPr/>
          <p:nvPr/>
        </p:nvSpPr>
        <p:spPr>
          <a:xfrm>
            <a:off x="2286000" y="265176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14016" y="278892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1401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000" dirty="0"/>
          </a:p>
        </p:txBody>
      </p:sp>
      <p:sp>
        <p:nvSpPr>
          <p:cNvPr id="25" name="Text 22"/>
          <p:cNvSpPr/>
          <p:nvPr/>
        </p:nvSpPr>
        <p:spPr>
          <a:xfrm>
            <a:off x="2834640" y="265176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pt-BR" sz="1200" dirty="0"/>
          </a:p>
        </p:txBody>
      </p:sp>
      <p:sp>
        <p:nvSpPr>
          <p:cNvPr id="26" name="Shape 23"/>
          <p:cNvSpPr/>
          <p:nvPr/>
        </p:nvSpPr>
        <p:spPr>
          <a:xfrm>
            <a:off x="5577840" y="2651760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05856" y="2788920"/>
            <a:ext cx="329184" cy="329184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000" dirty="0"/>
          </a:p>
        </p:txBody>
      </p:sp>
      <p:sp>
        <p:nvSpPr>
          <p:cNvPr id="29" name="Text 26"/>
          <p:cNvSpPr/>
          <p:nvPr/>
        </p:nvSpPr>
        <p:spPr>
          <a:xfrm>
            <a:off x="6126480" y="265176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 ajustes</a:t>
            </a:r>
            <a:endParaRPr lang="pt-BR" sz="1200" dirty="0"/>
          </a:p>
        </p:txBody>
      </p:sp>
      <p:sp>
        <p:nvSpPr>
          <p:cNvPr id="30" name="Shape 27"/>
          <p:cNvSpPr/>
          <p:nvPr/>
        </p:nvSpPr>
        <p:spPr>
          <a:xfrm>
            <a:off x="2286000" y="352044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514600" y="3520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2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</a:t>
            </a:r>
            <a:pPr indent="0" marL="0">
              <a:buNone/>
            </a:pPr>
            <a:r>
              <a:rPr lang="pt-BR" alt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retroalimenta o pré-processamento e a escolha do modelo.</a:t>
            </a:r>
            <a:endParaRPr lang="pt-BR" sz="2200" dirty="0"/>
          </a:p>
        </p:txBody>
      </p:sp>
      <p:sp>
        <p:nvSpPr>
          <p:cNvPr id="32" name="Text 29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33" name="Text 30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decisões conduzem o fluxo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429768" y="978408"/>
            <a:ext cx="1391986" cy="3639312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9525">
            <a:solidFill>
              <a:srgbClr val="E4EA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245682" cy="34930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31720" y="1225296"/>
            <a:ext cx="457200" cy="457200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233172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100" dirty="0"/>
          </a:p>
        </p:txBody>
      </p:sp>
      <p:sp>
        <p:nvSpPr>
          <p:cNvPr id="8" name="Text 5"/>
          <p:cNvSpPr/>
          <p:nvPr/>
        </p:nvSpPr>
        <p:spPr>
          <a:xfrm>
            <a:off x="2971800" y="118872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está balanceado?</a:t>
            </a:r>
            <a:endParaRPr lang="pt-BR" sz="1500" dirty="0"/>
          </a:p>
        </p:txBody>
      </p:sp>
      <p:sp>
        <p:nvSpPr>
          <p:cNvPr id="9" name="Shape 6"/>
          <p:cNvSpPr/>
          <p:nvPr/>
        </p:nvSpPr>
        <p:spPr>
          <a:xfrm>
            <a:off x="2331720" y="1883664"/>
            <a:ext cx="457200" cy="457200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100" dirty="0"/>
          </a:p>
        </p:txBody>
      </p:sp>
      <p:sp>
        <p:nvSpPr>
          <p:cNvPr id="11" name="Text 8"/>
          <p:cNvSpPr/>
          <p:nvPr/>
        </p:nvSpPr>
        <p:spPr>
          <a:xfrm>
            <a:off x="2971800" y="184708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técnicas?</a:t>
            </a:r>
            <a:endParaRPr lang="pt-BR" sz="1500" dirty="0"/>
          </a:p>
        </p:txBody>
      </p:sp>
      <p:sp>
        <p:nvSpPr>
          <p:cNvPr id="12" name="Shape 9"/>
          <p:cNvSpPr/>
          <p:nvPr/>
        </p:nvSpPr>
        <p:spPr>
          <a:xfrm>
            <a:off x="2331720" y="2542032"/>
            <a:ext cx="457200" cy="457200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23317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100" dirty="0"/>
          </a:p>
        </p:txBody>
      </p:sp>
      <p:sp>
        <p:nvSpPr>
          <p:cNvPr id="14" name="Text 11"/>
          <p:cNvSpPr/>
          <p:nvPr/>
        </p:nvSpPr>
        <p:spPr>
          <a:xfrm>
            <a:off x="2971800" y="250545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tarefa?</a:t>
            </a:r>
            <a:endParaRPr lang="pt-BR" sz="1500" dirty="0"/>
          </a:p>
        </p:txBody>
      </p:sp>
      <p:sp>
        <p:nvSpPr>
          <p:cNvPr id="15" name="Shape 12"/>
          <p:cNvSpPr/>
          <p:nvPr/>
        </p:nvSpPr>
        <p:spPr>
          <a:xfrm>
            <a:off x="2331720" y="3200400"/>
            <a:ext cx="457200" cy="457200"/>
          </a:xfrm>
          <a:prstGeom prst="diamond">
            <a:avLst/>
          </a:prstGeom>
          <a:solidFill>
            <a:srgbClr val="F5A54A"/>
          </a:solidFill>
          <a:ln/>
        </p:spPr>
      </p:sp>
      <p:sp>
        <p:nvSpPr>
          <p:cNvPr id="16" name="Text 13"/>
          <p:cNvSpPr/>
          <p:nvPr/>
        </p:nvSpPr>
        <p:spPr>
          <a:xfrm>
            <a:off x="2331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100" dirty="0"/>
          </a:p>
        </p:txBody>
      </p:sp>
      <p:sp>
        <p:nvSpPr>
          <p:cNvPr id="17" name="Text 14"/>
          <p:cNvSpPr/>
          <p:nvPr/>
        </p:nvSpPr>
        <p:spPr>
          <a:xfrm>
            <a:off x="2971800" y="316382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satisfatório?</a:t>
            </a:r>
            <a:endParaRPr lang="pt-BR" sz="1500" dirty="0"/>
          </a:p>
        </p:txBody>
      </p:sp>
      <p:sp>
        <p:nvSpPr>
          <p:cNvPr id="18" name="Shape 15"/>
          <p:cNvSpPr/>
          <p:nvPr/>
        </p:nvSpPr>
        <p:spPr>
          <a:xfrm>
            <a:off x="2286000" y="3931920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0" y="39319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5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trabalho: técnicas isoladas e combinadas, classificação e ajuste automático de parâmetros.</a:t>
            </a:r>
            <a:endParaRPr lang="pt-BR" sz="1150" dirty="0"/>
          </a:p>
        </p:txBody>
      </p:sp>
      <p:sp>
        <p:nvSpPr>
          <p:cNvPr id="20" name="Text 17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pt-BR" sz="900" dirty="0"/>
          </a:p>
        </p:txBody>
      </p:sp>
      <p:sp>
        <p:nvSpPr>
          <p:cNvPr id="21" name="Text 1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cenários de inspeção de isoladores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931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127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CPLID</a:t>
            </a:r>
            <a:endParaRPr lang="pt-BR" sz="1800" dirty="0"/>
          </a:p>
        </p:txBody>
      </p:sp>
      <p:sp>
        <p:nvSpPr>
          <p:cNvPr id="6" name="Text 3"/>
          <p:cNvSpPr/>
          <p:nvPr/>
        </p:nvSpPr>
        <p:spPr>
          <a:xfrm>
            <a:off x="521208" y="349300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transmissão, isoladores majoritariamente cerâmicos</a:t>
            </a:r>
            <a:endParaRPr lang="pt-BR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estrutural: disco ausente e fraturas</a:t>
            </a:r>
            <a:endParaRPr lang="pt-BR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 imagens de treino e 43 de teste</a:t>
            </a:r>
            <a:endParaRPr lang="pt-BR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88720"/>
            <a:ext cx="393192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160" y="3127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8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DRNPW</a:t>
            </a:r>
            <a:endParaRPr lang="pt-BR" sz="1800" dirty="0"/>
          </a:p>
        </p:txBody>
      </p:sp>
      <p:sp>
        <p:nvSpPr>
          <p:cNvPr id="9" name="Text 5"/>
          <p:cNvSpPr/>
          <p:nvPr/>
        </p:nvSpPr>
        <p:spPr>
          <a:xfrm>
            <a:off x="4727448" y="349300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de drones disponibilizadas pela CPFL</a:t>
            </a:r>
            <a:endParaRPr lang="pt-BR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heterogêneos com forte poluição visual</a:t>
            </a:r>
            <a:endParaRPr lang="pt-BR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 imagens: 468 treino, 87 validação, 30 teste</a:t>
            </a:r>
            <a:endParaRPr lang="pt-BR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pt-BR" alt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Desbalanceado: 335 imagens de treino em uma única classe</a:t>
            </a:r>
            <a:endParaRPr lang="pt-BR" sz="1050" dirty="0"/>
          </a:p>
        </p:txBody>
      </p:sp>
      <p:sp>
        <p:nvSpPr>
          <p:cNvPr id="10" name="Text 6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pt-BR" sz="900" dirty="0"/>
          </a:p>
        </p:txBody>
      </p:sp>
      <p:sp>
        <p:nvSpPr>
          <p:cNvPr id="11" name="Text 7"/>
          <p:cNvSpPr/>
          <p:nvPr/>
        </p:nvSpPr>
        <p:spPr>
          <a:xfrm>
            <a:off x="2743200" y="47594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7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à direita: ilustrativa do cenário de campo</a:t>
            </a:r>
            <a:endParaRPr lang="pt-BR" sz="750" dirty="0"/>
          </a:p>
        </p:txBody>
      </p:sp>
      <p:sp>
        <p:nvSpPr>
          <p:cNvPr id="12" name="Text 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técnica faz com a imagem</a:t>
            </a:r>
            <a:endParaRPr lang="pt-BR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5568"/>
            <a:ext cx="1920240" cy="1440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583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original</a:t>
            </a:r>
            <a:endParaRPr lang="pt-BR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115568"/>
            <a:ext cx="1920240" cy="14401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606040" y="1115568"/>
            <a:ext cx="1920240" cy="1440180"/>
          </a:xfrm>
          <a:prstGeom prst="rect">
            <a:avLst/>
          </a:prstGeom>
          <a:ln w="38100">
            <a:solidFill>
              <a:srgbClr val="F5A5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606040" y="2583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Realce de contraste</a:t>
            </a:r>
            <a:endParaRPr lang="pt-BR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15568"/>
            <a:ext cx="1920240" cy="1440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25831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de histograma</a:t>
            </a:r>
            <a:endParaRPr lang="pt-BR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21508"/>
            <a:ext cx="1920240" cy="14401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2920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cinza</a:t>
            </a:r>
            <a:endParaRPr lang="pt-BR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2921508"/>
            <a:ext cx="1920240" cy="14401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606040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Desfoque gaussiano</a:t>
            </a:r>
            <a:endParaRPr lang="pt-BR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921508"/>
            <a:ext cx="1920240" cy="14401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709160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bordas</a:t>
            </a:r>
            <a:endParaRPr lang="pt-BR" sz="1050" dirty="0"/>
          </a:p>
        </p:txBody>
      </p:sp>
      <p:sp>
        <p:nvSpPr>
          <p:cNvPr id="17" name="Shape 9"/>
          <p:cNvSpPr/>
          <p:nvPr/>
        </p:nvSpPr>
        <p:spPr>
          <a:xfrm>
            <a:off x="6812280" y="1115568"/>
            <a:ext cx="1828800" cy="3474720"/>
          </a:xfrm>
          <a:prstGeom prst="roundRect">
            <a:avLst>
              <a:gd name="adj" fmla="val 35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8" name="Text 10"/>
          <p:cNvSpPr/>
          <p:nvPr/>
        </p:nvSpPr>
        <p:spPr>
          <a:xfrm>
            <a:off x="6812280" y="1325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44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4400" dirty="0"/>
          </a:p>
        </p:txBody>
      </p:sp>
      <p:sp>
        <p:nvSpPr>
          <p:cNvPr id="19" name="Text 11"/>
          <p:cNvSpPr/>
          <p:nvPr/>
        </p:nvSpPr>
        <p:spPr>
          <a:xfrm>
            <a:off x="694944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avaliadas</a:t>
            </a:r>
            <a:endParaRPr lang="pt-BR" sz="1150" dirty="0"/>
          </a:p>
        </p:txBody>
      </p:sp>
      <p:sp>
        <p:nvSpPr>
          <p:cNvPr id="20" name="Text 12"/>
          <p:cNvSpPr/>
          <p:nvPr/>
        </p:nvSpPr>
        <p:spPr>
          <a:xfrm>
            <a:off x="6949440" y="251460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200" b="1" dirty="0">
                <a:solidFill>
                  <a:srgbClr val="5B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2200" dirty="0"/>
          </a:p>
          <a:p>
            <a:pPr algn="ctr" indent="0" marL="0">
              <a:buNone/>
            </a:pPr>
            <a:r>
              <a:rPr lang="pt-B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híbridas</a:t>
            </a:r>
            <a:endParaRPr lang="pt-BR" sz="2200" dirty="0"/>
          </a:p>
          <a:p>
            <a:pPr algn="ctr" indent="0" marL="0">
              <a:buNone/>
            </a:pPr>
            <a:r>
              <a:rPr lang="pt-BR" alt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2200" dirty="0"/>
          </a:p>
          <a:p>
            <a:pPr algn="ctr" indent="0" marL="0">
              <a:buNone/>
            </a:pPr>
            <a:r>
              <a:rPr lang="pt-BR" altLang="en-US" sz="2200" b="1" dirty="0">
                <a:solidFill>
                  <a:srgbClr val="5B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2200" dirty="0"/>
          </a:p>
          <a:p>
            <a:pPr algn="ctr" indent="0" marL="0">
              <a:buNone/>
            </a:pPr>
            <a:r>
              <a:rPr lang="pt-B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sem processamento</a:t>
            </a:r>
            <a:endParaRPr lang="pt-BR" sz="2200" dirty="0"/>
          </a:p>
        </p:txBody>
      </p:sp>
      <p:sp>
        <p:nvSpPr>
          <p:cNvPr id="21" name="Text 13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pt-BR" sz="900" dirty="0"/>
          </a:p>
        </p:txBody>
      </p:sp>
      <p:sp>
        <p:nvSpPr>
          <p:cNvPr id="22" name="Text 14"/>
          <p:cNvSpPr/>
          <p:nvPr/>
        </p:nvSpPr>
        <p:spPr>
          <a:xfrm>
            <a:off x="2743200" y="47594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7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do efeito das técnicas sobre uma mesma imagem</a:t>
            </a:r>
            <a:endParaRPr lang="pt-BR" sz="750" dirty="0"/>
          </a:p>
        </p:txBody>
      </p:sp>
      <p:sp>
        <p:nvSpPr>
          <p:cNvPr id="23" name="Text 15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EXPERIMENTAL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por vez e uma régua de leitura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435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</a:t>
            </a:r>
            <a:endParaRPr lang="pt-BR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pt-BR" sz="2600" dirty="0"/>
          </a:p>
        </p:txBody>
      </p:sp>
      <p:sp>
        <p:nvSpPr>
          <p:cNvPr id="8" name="Shape 6"/>
          <p:cNvSpPr/>
          <p:nvPr/>
        </p:nvSpPr>
        <p:spPr>
          <a:xfrm>
            <a:off x="2679192" y="11887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2435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3400" dirty="0"/>
          </a:p>
        </p:txBody>
      </p:sp>
      <p:sp>
        <p:nvSpPr>
          <p:cNvPr id="10" name="Text 8"/>
          <p:cNvSpPr/>
          <p:nvPr/>
        </p:nvSpPr>
        <p:spPr>
          <a:xfrm>
            <a:off x="2770632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dados</a:t>
            </a:r>
            <a:endParaRPr lang="pt-BR" sz="1050" dirty="0"/>
          </a:p>
        </p:txBody>
      </p:sp>
      <p:sp>
        <p:nvSpPr>
          <p:cNvPr id="11" name="Text 9"/>
          <p:cNvSpPr/>
          <p:nvPr/>
        </p:nvSpPr>
        <p:spPr>
          <a:xfrm>
            <a:off x="4279392" y="146304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pt-BR" sz="2600" dirty="0"/>
          </a:p>
        </p:txBody>
      </p:sp>
      <p:sp>
        <p:nvSpPr>
          <p:cNvPr id="12" name="Shape 10"/>
          <p:cNvSpPr/>
          <p:nvPr/>
        </p:nvSpPr>
        <p:spPr>
          <a:xfrm>
            <a:off x="4855464" y="11887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12435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3400" dirty="0"/>
          </a:p>
        </p:txBody>
      </p:sp>
      <p:sp>
        <p:nvSpPr>
          <p:cNvPr id="14" name="Text 12"/>
          <p:cNvSpPr/>
          <p:nvPr/>
        </p:nvSpPr>
        <p:spPr>
          <a:xfrm>
            <a:off x="4946904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pt-BR" sz="1050" dirty="0"/>
          </a:p>
        </p:txBody>
      </p:sp>
      <p:sp>
        <p:nvSpPr>
          <p:cNvPr id="15" name="Text 13"/>
          <p:cNvSpPr/>
          <p:nvPr/>
        </p:nvSpPr>
        <p:spPr>
          <a:xfrm>
            <a:off x="6455664" y="146304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6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pt-BR" sz="2600" dirty="0"/>
          </a:p>
        </p:txBody>
      </p:sp>
      <p:sp>
        <p:nvSpPr>
          <p:cNvPr id="16" name="Shape 14"/>
          <p:cNvSpPr/>
          <p:nvPr/>
        </p:nvSpPr>
        <p:spPr>
          <a:xfrm>
            <a:off x="7031736" y="11887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31736" y="12435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34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3400" dirty="0"/>
          </a:p>
        </p:txBody>
      </p:sp>
      <p:sp>
        <p:nvSpPr>
          <p:cNvPr id="18" name="Text 16"/>
          <p:cNvSpPr/>
          <p:nvPr/>
        </p:nvSpPr>
        <p:spPr>
          <a:xfrm>
            <a:off x="7123176" y="18745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variável: o pré-processamento</a:t>
            </a:r>
            <a:endParaRPr lang="pt-BR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606040"/>
            <a:ext cx="8138160" cy="1828800"/>
          </a:xfrm>
          <a:prstGeom prst="roundRect">
            <a:avLst>
              <a:gd name="adj" fmla="val 350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743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majoritário</a:t>
            </a:r>
            <a:endParaRPr lang="pt-BR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0632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pt-BR" alt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obtida ao responder sempre a classe mais frequente do teste, sem observar a imagem. Abaixo dele, o modelo não extrai informação útil.</a:t>
            </a:r>
            <a:endParaRPr lang="pt-BR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74,42%</a:t>
            </a:r>
            <a:endParaRPr lang="pt-BR" sz="2800" dirty="0"/>
          </a:p>
        </p:txBody>
      </p:sp>
      <p:sp>
        <p:nvSpPr>
          <p:cNvPr id="23" name="Text 21"/>
          <p:cNvSpPr/>
          <p:nvPr/>
        </p:nvSpPr>
        <p:spPr>
          <a:xfrm>
            <a:off x="507492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do CPLID</a:t>
            </a:r>
            <a:endParaRPr lang="pt-BR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9260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8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73,33%</a:t>
            </a:r>
            <a:endParaRPr lang="pt-BR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1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do DRNPW</a:t>
            </a:r>
            <a:endParaRPr lang="pt-BR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pt-BR" sz="900" dirty="0"/>
          </a:p>
        </p:txBody>
      </p:sp>
      <p:sp>
        <p:nvSpPr>
          <p:cNvPr id="27" name="Text 25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pt-BR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LINHAS DE TRANSMISSÃO COM ISOLADORES CERÂMICOS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Realçar o contraste evidencia o defeito estrutural</a:t>
            </a:r>
            <a:endParaRPr lang="pt-BR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106070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da CNN por técnica, em ordem crescente, com a imagem tratada acima de cada barra (CPLID)</a:t>
            </a:r>
            <a:endParaRPr lang="pt-BR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43584"/>
            <a:ext cx="8686800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95,35%</a:t>
            </a:r>
            <a:pPr indent="0" marL="0">
              <a:buNone/>
            </a:pPr>
            <a:r>
              <a:rPr lang="pt-BR" altLang="en-US" sz="900" b="1" dirty="0">
                <a:solidFill>
                  <a:srgbClr val="5C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MELHOR</a:t>
            </a:r>
            <a:endParaRPr lang="pt-BR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Realce de contraste, com F1-score de 96,55%, o maior do conjunto.</a:t>
            </a:r>
            <a:endParaRPr lang="pt-BR" sz="900" dirty="0"/>
          </a:p>
        </p:txBody>
      </p:sp>
      <p:sp>
        <p:nvSpPr>
          <p:cNvPr id="9" name="Shape 6"/>
          <p:cNvSpPr/>
          <p:nvPr/>
        </p:nvSpPr>
        <p:spPr>
          <a:xfrm>
            <a:off x="3136392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9272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67,44%</a:t>
            </a:r>
            <a:pPr indent="0" marL="0">
              <a:buNone/>
            </a:pPr>
            <a:r>
              <a:rPr lang="pt-BR" altLang="en-US" sz="9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PIOR</a:t>
            </a:r>
            <a:endParaRPr lang="pt-BR" sz="1700" dirty="0"/>
          </a:p>
        </p:txBody>
      </p:sp>
      <p:sp>
        <p:nvSpPr>
          <p:cNvPr id="11" name="Text 8"/>
          <p:cNvSpPr/>
          <p:nvPr/>
        </p:nvSpPr>
        <p:spPr>
          <a:xfrm>
            <a:off x="3319272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Desfoque gaussiano, abaixo da imagem original e do piso de 74,42%.</a:t>
            </a:r>
            <a:endParaRPr lang="pt-BR" sz="900" dirty="0"/>
          </a:p>
        </p:txBody>
      </p:sp>
      <p:sp>
        <p:nvSpPr>
          <p:cNvPr id="12" name="Shape 9"/>
          <p:cNvSpPr/>
          <p:nvPr/>
        </p:nvSpPr>
        <p:spPr>
          <a:xfrm>
            <a:off x="6044184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7064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93,02%</a:t>
            </a:r>
            <a:pPr indent="0" marL="0">
              <a:buNone/>
            </a:pPr>
            <a:r>
              <a:rPr lang="pt-BR" altLang="en-US" sz="900" b="1" dirty="0">
                <a:solidFill>
                  <a:srgbClr val="5C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ORIGINAL</a:t>
            </a:r>
            <a:endParaRPr lang="pt-BR" sz="1700" dirty="0"/>
          </a:p>
        </p:txBody>
      </p:sp>
      <p:sp>
        <p:nvSpPr>
          <p:cNvPr id="14" name="Text 11"/>
          <p:cNvSpPr/>
          <p:nvPr/>
        </p:nvSpPr>
        <p:spPr>
          <a:xfrm>
            <a:off x="6227064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sem tratamento, superada pelo realce de contraste.</a:t>
            </a:r>
            <a:endParaRPr lang="pt-BR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900" dirty="0"/>
          </a:p>
        </p:txBody>
      </p:sp>
      <p:sp>
        <p:nvSpPr>
          <p:cNvPr id="16" name="Text 13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pt-BR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INSPEÇÃO AÉREA EM AMBIENTE OPERACIONAL REAL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técnicas separa o isolador do fundo</a:t>
            </a:r>
            <a:endParaRPr lang="pt-BR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106070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da CNN por técnica, em ordem crescente, nas imagens de drones da CPFL (DRNPW)</a:t>
            </a:r>
            <a:endParaRPr lang="pt-BR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43584"/>
            <a:ext cx="8686800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83,33%</a:t>
            </a:r>
            <a:pPr indent="0" marL="0">
              <a:buNone/>
            </a:pPr>
            <a:r>
              <a:rPr lang="pt-BR" altLang="en-US" sz="900" b="1" dirty="0">
                <a:solidFill>
                  <a:srgbClr val="5C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MELHOR</a:t>
            </a:r>
            <a:endParaRPr lang="pt-BR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Realce de contraste com equalização de histograma, F1-score de 75,76%.</a:t>
            </a:r>
            <a:endParaRPr lang="pt-BR" sz="900" dirty="0"/>
          </a:p>
        </p:txBody>
      </p:sp>
      <p:sp>
        <p:nvSpPr>
          <p:cNvPr id="9" name="Shape 6"/>
          <p:cNvSpPr/>
          <p:nvPr/>
        </p:nvSpPr>
        <p:spPr>
          <a:xfrm>
            <a:off x="3136392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19272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49,12%</a:t>
            </a:r>
            <a:pPr indent="0" marL="0">
              <a:buNone/>
            </a:pPr>
            <a:r>
              <a:rPr lang="pt-BR" altLang="en-US" sz="9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F1 ORIGINAL</a:t>
            </a:r>
            <a:endParaRPr lang="pt-BR" sz="1700" dirty="0"/>
          </a:p>
        </p:txBody>
      </p:sp>
      <p:sp>
        <p:nvSpPr>
          <p:cNvPr id="11" name="Text 8"/>
          <p:cNvSpPr/>
          <p:nvPr/>
        </p:nvSpPr>
        <p:spPr>
          <a:xfrm>
            <a:off x="3319272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sem tratamento, com 63,33% de acurácia.</a:t>
            </a:r>
            <a:endParaRPr lang="pt-BR" sz="900" dirty="0"/>
          </a:p>
        </p:txBody>
      </p:sp>
      <p:sp>
        <p:nvSpPr>
          <p:cNvPr id="12" name="Shape 9"/>
          <p:cNvSpPr/>
          <p:nvPr/>
        </p:nvSpPr>
        <p:spPr>
          <a:xfrm>
            <a:off x="6044184" y="3931920"/>
            <a:ext cx="2743200" cy="768096"/>
          </a:xfrm>
          <a:prstGeom prst="roundRect">
            <a:avLst>
              <a:gd name="adj" fmla="val 8333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7064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7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imagens</a:t>
            </a:r>
            <a:pPr indent="0" marL="0">
              <a:buNone/>
            </a:pPr>
            <a:r>
              <a:rPr lang="pt-BR" altLang="en-US" sz="900" b="1" dirty="0">
                <a:solidFill>
                  <a:srgbClr val="5C6F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ACIMA DO PISO</a:t>
            </a:r>
            <a:endParaRPr lang="pt-BR" sz="1700" dirty="0"/>
          </a:p>
        </p:txBody>
      </p:sp>
      <p:sp>
        <p:nvSpPr>
          <p:cNvPr id="14" name="Text 11"/>
          <p:cNvSpPr/>
          <p:nvPr/>
        </p:nvSpPr>
        <p:spPr>
          <a:xfrm>
            <a:off x="6227064" y="427939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pt-BR" altLang="en-US" sz="9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de 10 pontos percentuais sobre o piso de 73,33%.</a:t>
            </a:r>
            <a:endParaRPr lang="pt-BR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900" dirty="0"/>
          </a:p>
        </p:txBody>
      </p:sp>
      <p:sp>
        <p:nvSpPr>
          <p:cNvPr id="16" name="Text 13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Combinar técnicas compensa com a CNN</a:t>
            </a:r>
            <a:endParaRPr lang="pt-BR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2588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10972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média de acurácia entre técnicas híbridas e simples, CNN (pontos percentuais)</a:t>
            </a:r>
            <a:endParaRPr lang="pt-BR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1234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</a:t>
            </a:r>
            <a:endParaRPr lang="pt-BR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1417320" cy="10607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03720" y="18562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2200" b="1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pt-BR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54480"/>
            <a:ext cx="1417320" cy="106070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0" y="2880360"/>
            <a:ext cx="3154680" cy="1554480"/>
          </a:xfrm>
          <a:prstGeom prst="roundRect">
            <a:avLst>
              <a:gd name="adj" fmla="val 4118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687568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importa</a:t>
            </a:r>
            <a:endParaRPr lang="pt-BR" sz="1300" dirty="0"/>
          </a:p>
        </p:txBody>
      </p:sp>
      <p:sp>
        <p:nvSpPr>
          <p:cNvPr id="12" name="Text 7"/>
          <p:cNvSpPr/>
          <p:nvPr/>
        </p:nvSpPr>
        <p:spPr>
          <a:xfrm>
            <a:off x="5687568" y="3337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pt-B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diferentes produzem resultados distintos.</a:t>
            </a:r>
            <a:endParaRPr lang="pt-BR" sz="1300" dirty="0"/>
          </a:p>
        </p:txBody>
      </p:sp>
      <p:sp>
        <p:nvSpPr>
          <p:cNvPr id="13" name="Text 8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900" dirty="0"/>
          </a:p>
        </p:txBody>
      </p:sp>
      <p:sp>
        <p:nvSpPr>
          <p:cNvPr id="14" name="Text 9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PARÂMETROS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ajuste do contraste passa a ser automático</a:t>
            </a:r>
            <a:endParaRPr lang="pt-BR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2588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10972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em grade: acurácia no teste por fator de realce de contraste (DRNPW)</a:t>
            </a:r>
            <a:endParaRPr lang="pt-BR" sz="950" dirty="0"/>
          </a:p>
        </p:txBody>
      </p:sp>
      <p:sp>
        <p:nvSpPr>
          <p:cNvPr id="6" name="Shape 3"/>
          <p:cNvSpPr/>
          <p:nvPr/>
        </p:nvSpPr>
        <p:spPr>
          <a:xfrm>
            <a:off x="5486400" y="12344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325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1,333</a:t>
            </a:r>
            <a:endParaRPr lang="pt-BR" sz="2400" dirty="0"/>
          </a:p>
        </p:txBody>
      </p:sp>
      <p:sp>
        <p:nvSpPr>
          <p:cNvPr id="8" name="Text 5"/>
          <p:cNvSpPr/>
          <p:nvPr/>
        </p:nvSpPr>
        <p:spPr>
          <a:xfrm>
            <a:off x="6995160" y="13441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em grade</a:t>
            </a:r>
            <a:endParaRPr lang="pt-BR" sz="1050" dirty="0"/>
          </a:p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90,0% de acurácia, 85,3% de F1-score</a:t>
            </a:r>
            <a:endParaRPr lang="pt-BR" sz="1050" dirty="0"/>
          </a:p>
        </p:txBody>
      </p:sp>
      <p:sp>
        <p:nvSpPr>
          <p:cNvPr id="9" name="Shape 6"/>
          <p:cNvSpPr/>
          <p:nvPr/>
        </p:nvSpPr>
        <p:spPr>
          <a:xfrm>
            <a:off x="5486400" y="233172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2423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1,4364</a:t>
            </a:r>
            <a:endParaRPr lang="pt-BR" sz="2400" dirty="0"/>
          </a:p>
        </p:txBody>
      </p:sp>
      <p:sp>
        <p:nvSpPr>
          <p:cNvPr id="11" name="Text 8"/>
          <p:cNvSpPr/>
          <p:nvPr/>
        </p:nvSpPr>
        <p:spPr>
          <a:xfrm>
            <a:off x="6995160" y="24414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aleatória</a:t>
            </a:r>
            <a:endParaRPr lang="pt-BR" sz="1050" dirty="0"/>
          </a:p>
          <a:p>
            <a:pPr indent="0" marL="0"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85,06% de acurácia na validação</a:t>
            </a:r>
            <a:endParaRPr lang="pt-BR" sz="1050" dirty="0"/>
          </a:p>
        </p:txBody>
      </p:sp>
      <p:sp>
        <p:nvSpPr>
          <p:cNvPr id="12" name="Shape 9"/>
          <p:cNvSpPr/>
          <p:nvPr/>
        </p:nvSpPr>
        <p:spPr>
          <a:xfrm>
            <a:off x="5486400" y="352044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669280" y="3520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métodos apontam para valores um pouco acima de 1,0.</a:t>
            </a:r>
            <a:endParaRPr lang="pt-BR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900" dirty="0"/>
          </a:p>
        </p:txBody>
      </p:sp>
      <p:sp>
        <p:nvSpPr>
          <p:cNvPr id="15" name="Text 12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pt-BR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 ADICIONAL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o modelo inverte a melhor técnica</a:t>
            </a:r>
            <a:endParaRPr lang="pt-BR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98448"/>
          <a:ext cx="47548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10972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alt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média nas 14 técnicas</a:t>
            </a:r>
            <a:endParaRPr lang="pt-BR" sz="950" dirty="0"/>
          </a:p>
        </p:txBody>
      </p:sp>
      <p:sp>
        <p:nvSpPr>
          <p:cNvPr id="6" name="Text 3"/>
          <p:cNvSpPr/>
          <p:nvPr/>
        </p:nvSpPr>
        <p:spPr>
          <a:xfrm>
            <a:off x="5303520" y="1234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técnica: CNN → YOLOv8n-cls</a:t>
            </a:r>
            <a:endParaRPr lang="pt-BR" sz="1150" dirty="0"/>
          </a:p>
        </p:txBody>
      </p:sp>
      <p:sp>
        <p:nvSpPr>
          <p:cNvPr id="7" name="Shape 4"/>
          <p:cNvSpPr/>
          <p:nvPr/>
        </p:nvSpPr>
        <p:spPr>
          <a:xfrm>
            <a:off x="5303520" y="1572768"/>
            <a:ext cx="3337560" cy="841248"/>
          </a:xfrm>
          <a:prstGeom prst="roundRect">
            <a:avLst>
              <a:gd name="adj" fmla="val 7609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68112" y="16642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realce</a:t>
            </a:r>
            <a:endParaRPr lang="pt-BR" sz="1100" dirty="0"/>
          </a:p>
          <a:p>
            <a:pPr indent="0" marL="0">
              <a:buNone/>
            </a:pPr>
            <a:r>
              <a:rPr lang="pt-BR" alt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CPLID</a:t>
            </a:r>
            <a:endParaRPr lang="pt-BR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16642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95,35%</a:t>
            </a:r>
            <a:pPr algn="r" indent="0" marL="0">
              <a:buNone/>
            </a:pPr>
            <a:r>
              <a:rPr lang="pt-BR" altLang="en-US" sz="1350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r" indent="0" marL="0">
              <a:buNone/>
            </a:pPr>
            <a:r>
              <a:rPr lang="pt-BR" altLang="en-US" sz="135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51,16%</a:t>
            </a:r>
            <a:endParaRPr lang="pt-BR" sz="1350" dirty="0"/>
          </a:p>
        </p:txBody>
      </p:sp>
      <p:sp>
        <p:nvSpPr>
          <p:cNvPr id="10" name="Shape 7"/>
          <p:cNvSpPr/>
          <p:nvPr/>
        </p:nvSpPr>
        <p:spPr>
          <a:xfrm>
            <a:off x="5303520" y="2532888"/>
            <a:ext cx="3337560" cy="841248"/>
          </a:xfrm>
          <a:prstGeom prst="roundRect">
            <a:avLst>
              <a:gd name="adj" fmla="val 7609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68112" y="2624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Realce + equalização</a:t>
            </a:r>
            <a:endParaRPr lang="pt-BR" sz="1100" dirty="0"/>
          </a:p>
          <a:p>
            <a:pPr indent="0" marL="0">
              <a:buNone/>
            </a:pPr>
            <a:r>
              <a:rPr lang="pt-BR" alt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DRNPW</a:t>
            </a:r>
            <a:endParaRPr lang="pt-BR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26243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83,33%</a:t>
            </a:r>
            <a:pPr algn="r" indent="0" marL="0">
              <a:buNone/>
            </a:pPr>
            <a:r>
              <a:rPr lang="pt-BR" altLang="en-US" sz="1350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r" indent="0" marL="0">
              <a:buNone/>
            </a:pPr>
            <a:r>
              <a:rPr lang="pt-BR" altLang="en-US" sz="135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53,33%</a:t>
            </a:r>
            <a:endParaRPr lang="pt-BR" sz="1350" dirty="0"/>
          </a:p>
        </p:txBody>
      </p:sp>
      <p:sp>
        <p:nvSpPr>
          <p:cNvPr id="13" name="Shape 10"/>
          <p:cNvSpPr/>
          <p:nvPr/>
        </p:nvSpPr>
        <p:spPr>
          <a:xfrm>
            <a:off x="5303520" y="3493008"/>
            <a:ext cx="3337560" cy="841248"/>
          </a:xfrm>
          <a:prstGeom prst="roundRect">
            <a:avLst>
              <a:gd name="adj" fmla="val 7609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68112" y="358444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cinza</a:t>
            </a:r>
            <a:endParaRPr lang="pt-BR" sz="1100" dirty="0"/>
          </a:p>
          <a:p>
            <a:pPr indent="0" marL="0">
              <a:buNone/>
            </a:pPr>
            <a:r>
              <a:rPr lang="pt-BR" alt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CPLID</a:t>
            </a:r>
            <a:endParaRPr lang="pt-BR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35844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76,74%</a:t>
            </a:r>
            <a:pPr algn="r" indent="0" marL="0">
              <a:buNone/>
            </a:pPr>
            <a:r>
              <a:rPr lang="pt-BR" altLang="en-US" sz="1350" dirty="0">
                <a:solidFill>
                  <a:srgbClr val="A9BC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r" indent="0" marL="0">
              <a:buNone/>
            </a:pPr>
            <a:r>
              <a:rPr lang="pt-BR" alt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81,40%</a:t>
            </a:r>
            <a:endParaRPr lang="pt-BR" sz="1350" dirty="0"/>
          </a:p>
        </p:txBody>
      </p:sp>
      <p:sp>
        <p:nvSpPr>
          <p:cNvPr id="16" name="Text 13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pt-BR" sz="900" dirty="0"/>
          </a:p>
        </p:txBody>
      </p:sp>
      <p:sp>
        <p:nvSpPr>
          <p:cNvPr id="17" name="Text 14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pt-BR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metodologia entrega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481328"/>
          </a:xfrm>
          <a:prstGeom prst="roundRect">
            <a:avLst>
              <a:gd name="adj" fmla="val 432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49,12% → 75,76%</a:t>
            </a:r>
            <a:endParaRPr lang="pt-BR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desempenho</a:t>
            </a:r>
            <a:endParaRPr lang="pt-BR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da imagem original à melhor combinação, no DRNPW</a:t>
            </a:r>
            <a:endParaRPr lang="pt-BR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977640" cy="1481328"/>
          </a:xfrm>
          <a:prstGeom prst="roundRect">
            <a:avLst>
              <a:gd name="adj" fmla="val 432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71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5B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93,02% → 67,44%</a:t>
            </a:r>
            <a:endParaRPr lang="pt-BR" sz="2400" dirty="0"/>
          </a:p>
        </p:txBody>
      </p:sp>
      <p:sp>
        <p:nvSpPr>
          <p:cNvPr id="10" name="Text 8"/>
          <p:cNvSpPr/>
          <p:nvPr/>
        </p:nvSpPr>
        <p:spPr>
          <a:xfrm>
            <a:off x="48463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a escolha errada</a:t>
            </a:r>
            <a:endParaRPr lang="pt-BR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da imagem original ao desfoque gaussiano, no CPLID</a:t>
            </a:r>
            <a:endParaRPr lang="pt-BR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977640" cy="1481328"/>
          </a:xfrm>
          <a:prstGeom prst="roundRect">
            <a:avLst>
              <a:gd name="adj" fmla="val 432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5B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84,55% × 66,28%</a:t>
            </a:r>
            <a:endParaRPr lang="pt-BR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investir</a:t>
            </a:r>
            <a:endParaRPr lang="pt-BR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maior e pré-treinada não superou a CNN, no CPLID</a:t>
            </a:r>
            <a:endParaRPr lang="pt-BR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880360"/>
            <a:ext cx="3977640" cy="1481328"/>
          </a:xfrm>
          <a:prstGeom prst="roundRect">
            <a:avLst>
              <a:gd name="adj" fmla="val 4321"/>
            </a:avLst>
          </a:prstGeom>
          <a:solidFill>
            <a:srgbClr val="1C3550"/>
          </a:solidFill>
          <a:ln w="9525">
            <a:solidFill>
              <a:srgbClr val="1C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2400" b="1" dirty="0">
                <a:solidFill>
                  <a:srgbClr val="F5A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↺</a:t>
            </a:r>
            <a:endParaRPr lang="pt-BR" sz="24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Reexecução controlada</a:t>
            </a:r>
            <a:endParaRPr lang="pt-BR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refeita a cada mudança de modelo ou de conjunto de dados</a:t>
            </a:r>
            <a:endParaRPr lang="pt-BR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900" dirty="0"/>
          </a:p>
        </p:txBody>
      </p:sp>
      <p:sp>
        <p:nvSpPr>
          <p:cNvPr id="21" name="Text 19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pt-BR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para o sistema elétrico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endParaRPr lang="pt-BR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039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detecção precoce de falhas evita interrupções no fornecimento</a:t>
            </a:r>
            <a:endParaRPr lang="pt-BR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3444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50876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1508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manutenção</a:t>
            </a:r>
            <a:endParaRPr lang="pt-BR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2039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falha cedo reduz os custos de manutenção</a:t>
            </a:r>
            <a:endParaRPr lang="pt-BR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234440"/>
            <a:ext cx="26060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508760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150876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pt-BR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2039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intervenções manuais em locais de difícil acesso</a:t>
            </a:r>
            <a:endParaRPr lang="pt-BR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8803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880360"/>
            <a:ext cx="2606040" cy="7315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154680"/>
            <a:ext cx="420624" cy="420624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31546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extensões</a:t>
            </a:r>
            <a:endParaRPr lang="pt-BR" sz="1350" dirty="0"/>
          </a:p>
        </p:txBody>
      </p:sp>
      <p:sp>
        <p:nvSpPr>
          <p:cNvPr id="27" name="Text 25"/>
          <p:cNvSpPr/>
          <p:nvPr/>
        </p:nvSpPr>
        <p:spPr>
          <a:xfrm>
            <a:off x="68580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facilitam a inspeção de longos trechos de linha</a:t>
            </a:r>
            <a:endParaRPr lang="pt-BR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8803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880360"/>
            <a:ext cx="2606040" cy="7315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74720" y="3154680"/>
            <a:ext cx="420624" cy="420624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200" dirty="0"/>
          </a:p>
        </p:txBody>
      </p:sp>
      <p:sp>
        <p:nvSpPr>
          <p:cNvPr id="32" name="Text 30"/>
          <p:cNvSpPr/>
          <p:nvPr/>
        </p:nvSpPr>
        <p:spPr>
          <a:xfrm>
            <a:off x="4023360" y="31546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pt-BR" sz="1350" dirty="0"/>
          </a:p>
        </p:txBody>
      </p:sp>
      <p:sp>
        <p:nvSpPr>
          <p:cNvPr id="33" name="Text 31"/>
          <p:cNvSpPr/>
          <p:nvPr/>
        </p:nvSpPr>
        <p:spPr>
          <a:xfrm>
            <a:off x="347472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mais rápido, econômico e menos subjetivo</a:t>
            </a:r>
            <a:endParaRPr lang="pt-BR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880360"/>
            <a:ext cx="2606040" cy="1463040"/>
          </a:xfrm>
          <a:prstGeom prst="roundRect">
            <a:avLst>
              <a:gd name="adj" fmla="val 4375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880360"/>
            <a:ext cx="2606040" cy="7315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3640" y="3154680"/>
            <a:ext cx="420624" cy="420624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200" dirty="0"/>
          </a:p>
        </p:txBody>
      </p:sp>
      <p:sp>
        <p:nvSpPr>
          <p:cNvPr id="38" name="Text 36"/>
          <p:cNvSpPr/>
          <p:nvPr/>
        </p:nvSpPr>
        <p:spPr>
          <a:xfrm>
            <a:off x="6812280" y="315468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preditiva</a:t>
            </a:r>
            <a:endParaRPr lang="pt-BR" sz="1350" dirty="0"/>
          </a:p>
        </p:txBody>
      </p:sp>
      <p:sp>
        <p:nvSpPr>
          <p:cNvPr id="39" name="Text 37"/>
          <p:cNvSpPr/>
          <p:nvPr/>
        </p:nvSpPr>
        <p:spPr>
          <a:xfrm>
            <a:off x="626364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0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Danos identificados antes de se tornarem críticos</a:t>
            </a:r>
            <a:endParaRPr lang="pt-BR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900" dirty="0"/>
          </a:p>
        </p:txBody>
      </p:sp>
      <p:sp>
        <p:nvSpPr>
          <p:cNvPr id="41" name="Text 39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pt-BR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resultados sustentam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35331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pré-processamento é determinante na detecção de falhas em isoladores</a:t>
            </a:r>
            <a:endParaRPr lang="pt-BR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7335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Elevou o F1-score de 49,12% para 75,76% no DRNPW e, mal escolhido, levou a acurácia de 93,02% a 67,44% no CPLID.</a:t>
            </a:r>
            <a:endParaRPr lang="pt-BR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58775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4505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técnica universalmente superior</a:t>
            </a:r>
            <a:endParaRPr lang="pt-BR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7706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Realce de contraste para defeito estrutural em cadeias cerâmicas. Combinações híbridas para fundos com poluição visual.</a:t>
            </a:r>
            <a:endParaRPr lang="pt-BR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8138160" cy="960120"/>
          </a:xfrm>
          <a:prstGeom prst="roundRect">
            <a:avLst>
              <a:gd name="adj" fmla="val 6667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685032"/>
            <a:ext cx="457200" cy="457200"/>
          </a:xfrm>
          <a:prstGeom prst="ellipse">
            <a:avLst/>
          </a:prstGeom>
          <a:solidFill>
            <a:srgbClr val="F5A54A"/>
          </a:solidFill>
          <a:ln w="12700">
            <a:solidFill>
              <a:srgbClr val="F5A5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alt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5478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seleção do pré-processamento depende do modelo</a:t>
            </a:r>
            <a:endParaRPr lang="pt-BR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8679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pt-BR" altLang="en-US" sz="11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de mérito se inverteu entre a CNN e o YOLOv8n-cls, e a escolha deve ser refeita a cada mudança.</a:t>
            </a:r>
            <a:endParaRPr lang="pt-BR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BR" sz="900" dirty="0"/>
          </a:p>
        </p:txBody>
      </p:sp>
      <p:sp>
        <p:nvSpPr>
          <p:cNvPr id="20" name="Text 1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pt-BR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BR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trabalhos futuros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1F4F7"/>
          </a:solidFill>
          <a:ln w="9525">
            <a:solidFill>
              <a:srgbClr val="E4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71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pt-BR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Escassez de imagens públicas com defeitos anotados</a:t>
            </a:r>
            <a:endParaRPr lang="pt-BR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dados fortemente desbalanceados</a:t>
            </a:r>
            <a:endParaRPr lang="pt-BR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Explosão combinatória ao otimizar todos os parâmetros</a:t>
            </a:r>
            <a:endParaRPr lang="pt-BR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12263A"/>
          </a:solidFill>
          <a:ln w="9525">
            <a:solidFill>
              <a:srgbClr val="12263A"/>
            </a:solidFill>
            <a:prstDash val="solid"/>
          </a:ln>
          <a:effectLst>
            <a:outerShdw sx="100000" sy="100000" kx="0" ky="0" algn="bl" rotWithShape="0" blurRad="1524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371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pt-BR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7830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bayesiana de múltiplos parâmetros</a:t>
            </a:r>
            <a:endParaRPr lang="pt-BR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dados com GANs</a:t>
            </a:r>
            <a:endParaRPr lang="pt-BR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arquiteturas de detecção</a:t>
            </a:r>
            <a:endParaRPr lang="pt-BR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robustas ao desbalanceamento</a:t>
            </a:r>
            <a:endParaRPr lang="pt-BR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alt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embarcada em drones</a:t>
            </a:r>
            <a:endParaRPr lang="pt-BR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BR" sz="900" dirty="0"/>
          </a:p>
        </p:txBody>
      </p:sp>
      <p:sp>
        <p:nvSpPr>
          <p:cNvPr id="11" name="Text 9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pt-BR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050" b="1" spc="160" kern="0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pt-BR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alt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impacto para a engenharia elétrica</a:t>
            </a:r>
            <a:endParaRPr lang="pt-BR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80160"/>
            <a:ext cx="64008" cy="71323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618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do sistema</a:t>
            </a:r>
            <a:endParaRPr lang="pt-BR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identificam melhor as falhas nos isoladores, antes das interrupções</a:t>
            </a:r>
            <a:endParaRPr lang="pt-BR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148840"/>
            <a:ext cx="64008" cy="71323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305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de linhas</a:t>
            </a:r>
            <a:endParaRPr lang="pt-BR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por drone e IA mais rápida, econômica, segura e reprodutível</a:t>
            </a:r>
            <a:endParaRPr lang="pt-BR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017520"/>
            <a:ext cx="64008" cy="713232"/>
          </a:xfrm>
          <a:prstGeom prst="rect">
            <a:avLst/>
          </a:prstGeom>
          <a:solidFill>
            <a:srgbClr val="F5A54A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9992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5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para a inspeção automatizada</a:t>
            </a:r>
            <a:endParaRPr lang="pt-BR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sistemático para escolher e ajustar o tratamento das imagens</a:t>
            </a:r>
            <a:endParaRPr lang="pt-BR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931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bem a imagem bruta é tão relevante quanto escolher a arquitetura da rede.</a:t>
            </a:r>
            <a:endParaRPr lang="pt-BR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pt-BR" sz="900" dirty="0"/>
          </a:p>
        </p:txBody>
      </p:sp>
      <p:sp>
        <p:nvSpPr>
          <p:cNvPr id="16" name="Text 13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pt-BR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6002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 pela atenção</a:t>
            </a:r>
            <a:endParaRPr lang="pt-BR" sz="3400" dirty="0"/>
          </a:p>
        </p:txBody>
      </p:sp>
      <p:sp>
        <p:nvSpPr>
          <p:cNvPr id="4" name="Text 1"/>
          <p:cNvSpPr/>
          <p:nvPr/>
        </p:nvSpPr>
        <p:spPr>
          <a:xfrm>
            <a:off x="502920" y="22860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14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à disposição da banca para as arguições.</a:t>
            </a:r>
            <a:endParaRPr lang="pt-BR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3017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pt-BR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Willig Silveira</a:t>
            </a:r>
            <a:endParaRPr lang="pt-BR" sz="1300" dirty="0"/>
          </a:p>
          <a:p>
            <a:pPr indent="0" marL="0">
              <a:lnSpc>
                <a:spcPct val="120000"/>
              </a:lnSpc>
              <a:buNone/>
            </a:pPr>
            <a:r>
              <a:rPr lang="pt-BR" altLang="en-US" sz="1200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luan.w.silveira@gmail.com</a:t>
            </a:r>
            <a:endParaRPr lang="pt-BR" sz="1300" dirty="0"/>
          </a:p>
          <a:p>
            <a:pPr indent="0" marL="0">
              <a:lnSpc>
                <a:spcPct val="120000"/>
              </a:lnSpc>
              <a:buNone/>
            </a:pPr>
            <a:r>
              <a:rPr lang="pt-BR" altLang="en-US" sz="11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PPGEE, Universidade Federal de Santa Maria</a:t>
            </a:r>
            <a:endParaRPr lang="pt-BR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7594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altLang="en-US" sz="900" dirty="0">
                <a:solidFill>
                  <a:srgbClr val="A9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pt-BR" sz="900" dirty="0"/>
          </a:p>
        </p:txBody>
      </p:sp>
      <p:sp>
        <p:nvSpPr>
          <p:cNvPr id="7" name="Text 4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altLang="en-US" sz="900" b="1" dirty="0">
                <a:solidFill>
                  <a:srgbClr val="F5A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de Mestrado - Processamento de imagens em cadeias de isoladores</dc:title>
  <dc:subject>PptxGenJS Presentation</dc:subject>
  <dc:creator>Luan Willig Silveira</dc:creator>
  <cp:lastModifiedBy>Luan Willig Silveira</cp:lastModifiedBy>
  <cp:revision>1</cp:revision>
  <dcterms:created xsi:type="dcterms:W3CDTF">2026-09-17T04:34:53Z</dcterms:created>
  <dcterms:modified xsi:type="dcterms:W3CDTF">2026-09-17T04:34:53Z</dcterms:modified>
</cp:coreProperties>
</file>