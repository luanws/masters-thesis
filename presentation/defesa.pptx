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Vantagem das híbridas</c:v>
                </c:pt>
              </c:strCache>
            </c:strRef>
          </c:tx>
          <c:spPr>
            <a:solidFill>
              <a:srgbClr val="1C7293"/>
            </a:solidFill>
            <a:effectLst/>
          </c:spPr>
          <c:invertIfNegative val="0"/>
          <c:dLbls>
            <c:numFmt formatCode="&quot;+&quot;0.00&quot; pp&quot;" sourceLinked="0"/>
            <c:txPr>
              <a:bodyPr/>
              <a:lstStyle/>
              <a:p>
                <a:pPr>
                  <a:defRPr b="0" i="0" strike="noStrike" sz="1200" u="none">
                    <a:solidFill>
                      <a:srgbClr val="1B2A3A"/>
                    </a:solidFill>
                    <a:latin typeface="Calibri"/>
                  </a:defRPr>
                </a:pPr>
              </a:p>
            </c:txPr>
            <c:showLegendKey val="0"/>
            <c:showVal val="1"/>
            <c:showCatName val="0"/>
            <c:showSerName val="0"/>
            <c:showPercent val="0"/>
            <c:showBubbleSize val="0"/>
            <c:showLeaderLines val="0"/>
          </c:dLbls>
          <c:dPt>
            <c:idx val="0"/>
            <c:invertIfNegative val="0"/>
            <c:bubble3D val="0"/>
            <c:spPr>
              <a:solidFill>
                <a:srgbClr val="1C7293"/>
              </a:solidFill>
              <a:effectLst/>
            </c:spPr>
          </c:dPt>
          <c:dPt>
            <c:idx val="1"/>
            <c:invertIfNegative val="0"/>
            <c:bubble3D val="0"/>
            <c:spPr>
              <a:solidFill>
                <a:srgbClr val="F5A54A"/>
              </a:solidFill>
              <a:effectLst/>
            </c:spPr>
          </c:dPt>
          <c:cat>
            <c:multiLvlStrRef>
              <c:f>Sheet1!$A$2:$A$3</c:f>
              <c:multiLvlStrCache>
                <c:ptCount val="2"/>
                <c:lvl>
                  <c:pt idx="0">
                    <c:v>CPLID</c:v>
                  </c:pt>
                  <c:pt idx="1">
                    <c:v>DRNPW</c:v>
                  </c:pt>
                </c:lvl>
              </c:multiLvlStrCache>
            </c:multiLvlStrRef>
          </c:cat>
          <c:val>
            <c:numRef>
              <c:f>Sheet1!$B$2:$B$3</c:f>
              <c:numCache>
                <c:formatCode>General</c:formatCode>
                <c:ptCount val="2"/>
                <c:pt idx="0">
                  <c:v>13.49</c:v>
                </c:pt>
                <c:pt idx="1">
                  <c:v>5.17</c:v>
                </c:pt>
              </c:numCache>
            </c:numRef>
          </c:val>
        </c:ser>
        <c:dLbls>
          <c:numFmt formatCode="&quot;+&quot;0.00&quot; pp&quot;" sourceLinked="0"/>
          <c:txPr>
            <a:bodyPr/>
            <a:lstStyle/>
            <a:p>
              <a:pPr>
                <a:defRPr b="0" i="0" strike="noStrike" sz="1200" u="none">
                  <a:solidFill>
                    <a:srgbClr val="1B2A3A"/>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Acurácia</c:v>
                </c:pt>
              </c:strCache>
            </c:strRef>
          </c:tx>
          <c:spPr>
            <a:solidFill>
              <a:srgbClr val="1C7293"/>
            </a:solidFill>
            <a:ln w="38100" cap="flat">
              <a:solidFill>
                <a:srgbClr val="1C7293"/>
              </a:solidFill>
              <a:prstDash val="solid"/>
              <a:round/>
            </a:ln>
            <a:effectLst/>
          </c:spPr>
          <c:invertIfNegative val="0"/>
          <c:dLbls>
            <c:numFmt formatCode="0.0&quot;%&quot;" sourceLinked="0"/>
            <c:txPr>
              <a:bodyPr/>
              <a:lstStyle/>
              <a:p>
                <a:pPr>
                  <a:defRPr b="0" i="0" strike="noStrike" sz="1000" u="none">
                    <a:solidFill>
                      <a:srgbClr val="1B2A3A"/>
                    </a:solidFill>
                    <a:latin typeface="Calibri"/>
                  </a:defRPr>
                </a:pPr>
              </a:p>
            </c:txPr>
            <c:dLblPos val="t"/>
            <c:showLegendKey val="0"/>
            <c:showVal val="1"/>
            <c:showCatName val="0"/>
            <c:showSerName val="0"/>
            <c:showPercent val="0"/>
            <c:showBubbleSize val="0"/>
            <c:showLeaderLines val="0"/>
          </c:dLbls>
          <c:marker>
            <c:symbol val="circle"/>
            <c:size val="9"/>
            <c:spPr>
              <a:solidFill>
                <a:srgbClr val="1C7293"/>
              </a:solidFill>
              <a:ln w="9525" cap="flat">
                <a:solidFill>
                  <a:srgbClr val="1C7293"/>
                </a:solidFill>
                <a:prstDash val="solid"/>
                <a:round/>
              </a:ln>
              <a:effectLst/>
            </c:spPr>
          </c:marker>
          <c:cat>
            <c:multiLvlStrRef>
              <c:f>Sheet1!$A$2:$A$6</c:f>
              <c:multiLvlStrCache>
                <c:ptCount val="5"/>
                <c:lvl>
                  <c:pt idx="0">
                    <c:v>0,500</c:v>
                  </c:pt>
                  <c:pt idx="1">
                    <c:v>0,778</c:v>
                  </c:pt>
                  <c:pt idx="2">
                    <c:v>1,056</c:v>
                  </c:pt>
                  <c:pt idx="3">
                    <c:v>1,333</c:v>
                  </c:pt>
                  <c:pt idx="4">
                    <c:v>1,611</c:v>
                  </c:pt>
                </c:lvl>
              </c:multiLvlStrCache>
            </c:multiLvlStrRef>
          </c:cat>
          <c:val>
            <c:numRef>
              <c:f>Sheet1!$B$2:$B$6</c:f>
              <c:numCache>
                <c:formatCode>General</c:formatCode>
                <c:ptCount val="5"/>
                <c:pt idx="0">
                  <c:v>76.7</c:v>
                </c:pt>
                <c:pt idx="1">
                  <c:v>83.3</c:v>
                </c:pt>
                <c:pt idx="2">
                  <c:v>80</c:v>
                </c:pt>
                <c:pt idx="3">
                  <c:v>90</c:v>
                </c:pt>
                <c:pt idx="4">
                  <c:v>83.3</c:v>
                </c:pt>
              </c:numCache>
            </c:numRef>
          </c:val>
          <c:smooth val="0"/>
        </c:ser>
        <c:dLbls>
          <c:numFmt formatCode="0.0&quot;%&quot;" sourceLinked="0"/>
          <c:txPr>
            <a:bodyPr/>
            <a:lstStyle/>
            <a:p>
              <a:pPr>
                <a:defRPr b="0" i="0" strike="noStrike" sz="1000" u="none">
                  <a:solidFill>
                    <a:srgbClr val="1B2A3A"/>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CNN</c:v>
                </c:pt>
              </c:strCache>
            </c:strRef>
          </c:tx>
          <c:spPr>
            <a:solidFill>
              <a:srgbClr val="1C7293"/>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Sheet1!$B$2:$B$3</c:f>
              <c:numCache>
                <c:formatCode>General</c:formatCode>
                <c:ptCount val="2"/>
                <c:pt idx="0">
                  <c:v>84.55</c:v>
                </c:pt>
                <c:pt idx="1">
                  <c:v>73.81</c:v>
                </c:pt>
              </c:numCache>
            </c:numRef>
          </c:val>
        </c:ser>
        <c:ser>
          <c:idx val="1"/>
          <c:order val="1"/>
          <c:tx>
            <c:strRef>
              <c:f>Sheet1!$C$1</c:f>
              <c:strCache>
                <c:ptCount val="1"/>
                <c:pt idx="0">
                  <c:v>YOLOv8n-cls</c:v>
                </c:pt>
              </c:strCache>
            </c:strRef>
          </c:tx>
          <c:spPr>
            <a:solidFill>
              <a:srgbClr val="F5A54A"/>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Sheet1!$C$2:$C$3</c:f>
              <c:numCache>
                <c:formatCode>General</c:formatCode>
                <c:ptCount val="2"/>
                <c:pt idx="0">
                  <c:v>66.28</c:v>
                </c:pt>
                <c:pt idx="1">
                  <c:v>71.43</c:v>
                </c:pt>
              </c:numCache>
            </c:numRef>
          </c:val>
        </c:ser>
        <c:ser>
          <c:idx val="2"/>
          <c:order val="2"/>
          <c:tx>
            <c:strRef>
              <c:f>Sheet1!$D$1</c:f>
              <c:strCache>
                <c:ptCount val="1"/>
                <c:pt idx="0">
                  <c:v>Piso majoritário</c:v>
                </c:pt>
              </c:strCache>
            </c:strRef>
          </c:tx>
          <c:spPr>
            <a:solidFill>
              <a:srgbClr val="A9BCCC"/>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Sheet1!$D$2:$D$3</c:f>
              <c:numCache>
                <c:formatCode>General</c:formatCode>
                <c:ptCount val="2"/>
                <c:pt idx="0">
                  <c:v>74.42</c:v>
                </c:pt>
                <c:pt idx="1">
                  <c:v>73.33</c:v>
                </c:pt>
              </c:numCache>
            </c:numRef>
          </c:val>
        </c:ser>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95"/>
          <c:min val="5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950">
              <a:solidFill>
                <a:srgbClr val="5C6F8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Bom dia a todos.
Meu nome é Luan Willig Silveira e apresento a minha dissertação de mestrado, desenvolvida no Programa de Pós-Graduação em Engenharia Elétrica da Universidade Federal de Santa Maria, sob orientação do professor Daniel Pinheiro Bernardon e coorientação do professor Paulo César Vargas Luz.
O título do trabalho é Método de aprimoramento de processamentos de imagens aplicados à detecção e classificação de falhas em cadeias de isoladores. O tema une a manutenção das linhas do sistema elétrico ao uso de imagens e de redes neurais para inspecioná-las.
Agradeço a presença da banca e passo à apresentação.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apresentação está dividida em quatro partes.
Começo pelo problema elétrico: o papel dos isoladores no sistema elétrico de potência, as falhas que eles apresentam e a forma como são inspecionados.
Em seguida, apresento a proposta, que é a metodologia para comparar, selecionar, combinar e ajustar o processamento das imagens.
Depois, os resultados obtidos com dois conjuntos de dados e dois modelos de rede neural.
E termino voltando ao sistema elétrico, com as vantagens e o impacto do trabalho.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Começo pelo Sistema Elétrico de Potência. A energia gerada percorre as linhas de transmissão, passa pelas subestações e chega aos consumidores pelas redes de distribuição.
Ao longo dessas linhas, componentes como isoladores, fixadores e suportes garantem a sustentação e o isolamento dos condutores. Quando esses componentes apresentam problemas que não são tratados, a consequência pode ser a interrupção do fornecimento de energia. Por isso, a inspeção desses ativos é uma atividade central para a confiabilidade do sistema. E o processamento de imagens se tornou uma ferramenta essencial para essa confiabilidade, porque permite identificar problemas nesses componentes a partir de imagens das linhas.
Entre esses componentes, o foco deste trabalho é o que aparece destacado no círculo da figura: a cadeia de isoladores, presente nas estruturas das linhas de alta tensão. É sobre a detecção e a classificação de falhas nessas cadeias que a dissertação trata.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isoladores cumprem duas funções ao mesmo tempo.
A primeira é mecânica: sustentar os condutores.
A segunda é elétrica: garantir o isolamento entre as partes energizadas e as estruturas aterradas.
Nas linhas de alta tensão, eles são normalmente agrupados em cadeias, como a que aparece na foto.
O problema é que essas cadeias ficam expostas de forma contínua a condições ambientais severas, como variações de temperatura, umidade, poluição e descargas atmosféricas. Ao longo do tempo, essa exposição favorece o surgimento de falhas que comprometem a capacidade de isolamento e, com ela, a confiabilidade do sistema elétrico. O desempenho da linha depende, portanto, do estado de cada cadeia de isoladores instalada ao longo dela.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falhas aparecem de diferentes formas. A literatura cita trincas, contaminação superficial, perfurações e rupturas, além de corrosões nas estruturas, que também podem ser identificadas por imagem.
Um caso importante está ligado à poluição. Entre os defeitos citados na literatura estão os flashovers por poluição, isto é, a descarga elétrica que ocorre sobre a superfície isolante quando a rigidez dielétrica é rompida.
Outro caso é o defeito estrutural das cadeias de discos cerâmicos, à direita, em que o disco está ausente ou fraturado. Essas condições comprometem a rigidez dielétrica da cadeia e podem evoluir para falhas de isolamento na linha.
O ponto em comum é que todas essas falhas deixam uma assinatura visual. É isso que torna possível usar imagens para encontrá-las.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isso, a identificação precoce dessas falhas é essencial, e ela traz três ganhos diretos para o sistema elétrico.
O primeiro é a continuidade: encontrar a falha a tempo evita interrupções no fornecimento de energia.
O segundo é econômico: a detecção precoce reduz os custos de manutenção.
O terceiro é a segurança: previne riscos às instalações e às pessoas.
Há também o outro lado dessa questão. Uma falha que não é detectada, o chamado falso negativo, pode ter consequências graves e, no limite, levar a falhas no sistema de transmissão. Por isso, ao longo do trabalho, a capacidade de encontrar a falha, e não apenas a taxa geral de acertos, recebe atenção especial na leitura dos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Tradicionalmente, a inspeção de cadeias de isoladores é feita de forma visual e manual, por equipes especializadas. Isso torna a inspeção lenta, custosa e sujeita à subjetividade e a erros humanos.
Uma alternativa promissora é a inspeção por imagem. O uso de imagens capturadas por drones facilita a inspeção de grandes extensões de linhas de transmissão, reduz custos e aumenta a segurança, porque evita intervenções manuais em locais de difícil acesso.
Associadas a modelos de aprendizado de máquina, essas imagens permitem automatizar a detecção e a classificação das falhas, o que torna a inspeção mais rápida, econômica e reprodutível. E os métodos de aprendizado profundo conseguem reconhecer padrões que indicam falhas mesmo em condições adversas, como baixa visibilidade ou equipamentos desgastados.
É essa combinação de drone e inteligência artificial que forma o contexto de aplicação desta dissertação.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inspeção por imagem, porém, traz os seus próprios desafios.
O primeiro é o volume. Uma inspeção produz um grande número de imagens, e a literatura aponta que a inspeção manual se torna ineficaz justamente pelo alto volume de dados.
O segundo é o fundo das imagens. O isolador aparece sobre vegetação, rios, ocupação urbana e outras estruturas, e essa complexidade dificulta distinguir o componente elétrico do ambiente ao seu redor.
O terceiro é a anotação. Rotular manualmente as imagens capturadas por drones é demorado e propenso a erros, o que limita o tamanho dos conjuntos de dados disponíveis.
A inteligência artificial responde ao primeiro desafio, porque permite analisar grandes volumes de dados e identificar padrões complexos. Mas os outros dois mostram que a qualidade da imagem que chega ao modelo continua sendo decisiva.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sistema de inspeção automática segue esta sequência. A imagem é adquirida, recebe um pré-processamento, é analisada pelo modelo de rede neural, e o resultado é um diagnóstico: com falha ou sem falha.
A eficácia desse sistema depende, em grande medida, das técnicas de processamento de imagem empregadas e da forma como elas são combinadas e ajustadas. Diferentes técnicas, parâmetros e arquiteturas podem produzir resultados bastante distintos para o mesmo problema.
Não basta investir apenas em arquiteturas complexas de rede neural se as imagens de entrada apresentarem ruídos e limitações de contraste que ocultam os defeitos.
Por isso, este trabalho coloca o pré-processamento no centro, como a variável independente do estudo. A pergunta passa a ser: qual tratamento aplicar à imagem para que o modelo identifique melhor a falha no isolador?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se busca na literatura como tratar essas imagens, o que se encontra é falta de consenso.
Liu e Wang, que detectam falhas em isoladores em imagens aéreas de linhas de transmissão, utilizaram apenas redimensionamento e normalização, e não registram impacto significativo do pré-processamento.
Zhang, que combina aprendizado profundo com processamento morfológico para segmentar os isoladores, relata melhora no desempenho. Salvi, em uma revisão na área de patologia digital, conclui que essas técnicas melhoram a precisão e reduzem o tempo computacional.
Já Öztürk e Akdemir mostram que o excesso de processamento pode degradar o desempenho, e Rodrigues observa que as imagens originais favoreceram a rede neural.
Os estudos vão, portanto, da melhora ao risco de sobre-processamento. E nenhum deles propõe um método para determinar quais processamentos são mais eficientes e para otimizar os seus parâmetros. Essa é a lacuna que a dissertação procura preencher.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partir dessa lacuna, o objetivo geral do trabalho é desenvolver uma metodologia capaz de comparar, selecionar, combinar e aprimorar técnicas de processamento de imagem para a detecção e a classificação de falhas em cadeias de isoladores.
Os quatro verbos organizam toda a proposta.
Comparar as técnicas entre si, sob as mesmas condições.
Selecionar as mais adequadas a cada caso.
Combinar técnicas em sequência, formando pipelines.
E aprimorar os seus parâmetros de forma automática, sem a necessidade de intervenção manual extensa.
Esse objetivo responde diretamente à lacuna identificada. Em vez de relatar apenas o que funcionou em um experimento, a proposta é oferecer um método para determinar os processamentos mais eficientes e otimizar os seus parâmetros.
Com isso, a escolha do tratamento das imagens passa a seguir um procedimento sistemático.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alcançar esse objetivo, foram definidos sete objetivos específicos.
O primeiro é estabelecer métricas para avaliar a eficácia dos processamentos de imagem.
O segundo e o terceiro são determinar o tipo de rede neural adequado e construir os modelos de avaliação, sem o intuito de encontrar um modelo definitivo.
O quarto e o quinto são analisar o impacto da escolha do modelo e a influência do conjunto de dados sobre os resultados.
O sexto é aprimorar os processamentos pela combinação de abordagens unitárias.
E o sétimo é criar um método de ajuste automático dos parâmetros.
Destaco o sentido do terceiro objetivo: os modelos treinados servem para avaliar o impacto dos diferentes processamentos, e não são o produto final do trabalho.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metodologia é estruturada, iterativa e modular.
O fluxo parte do início e percorre seis etapas: a seleção e a validação do conjunto de dados, o pré-processamento, o ajuste de parâmetros, a escolha e a construção do modelo, o treinamento e, por fim, a avaliação e os ajustes, encerrando em conclusões e recomendações.
O caráter iterativo vem do ciclo de avaliação. Quando o desempenho não é satisfatório, a avaliação retroalimenta o pré-processamento e a escolha do modelo, o que permite refinar as técnicas e os parâmetros a cada iteração.
O caráter modular vem da divisão em blocos, que permite identificar e corrigir problemas em cada etapa de forma isolada, sem comprometer o restante do processo. É essa modularidade que permite, mais adiante, trocar apenas o bloco do modelo e repetir o experimento com uma segunda arquitetura.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etapa se desdobra em operações e decisões, mostradas no fluxograma detalhado. Destaco os quatro pontos de decisão.
O primeiro verifica se o conjunto de dados está balanceado. Isso é especialmente relevante na detecção de falhas, em que costuma haver muito mais amostras de isoladores saudáveis do que de defeituosos.
O segundo decide se as técnicas serão usadas isoladas ou combinadas em um pipeline.
O terceiro define o tipo de tarefa, entre classificação, detecção e regressão.
E o quarto verifica se o desempenho atende aos critérios definidos. Se não atende, o bloco de ajuste de processamentos e modelo devolve o fluxo às etapas anteriores.
Neste trabalho, foram percorridos os dois ramos do pré-processamento, o de técnicas isoladas e o de técnicas combinadas, com a tarefa de classificação e o ajuste automático de parâmetros.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validar a metodologia, foram usados dois conjuntos de dados de inspeção de infraestrutura elétrica, que representam cenários bem diferentes.
O primeiro é o CPLID, o Chinese Power Line Insulator Dataset. Ele reúne imagens de cadeias de isoladores de linhas de transmissão aéreas, majoritariamente cerâmicos, capturadas por drones e com fundos homogêneos. O defeito de interesse é estrutural: a ausência de disco e as fraturas no corpo do isolador. São duas classes, com 678 imagens de treino e 43 de teste.
O segundo é o DRNPW, disponibilizado pela CPFL, com imagens capturadas por drones em condições operacionais reais. Aqui os isoladores aparecem sobre fundos heterogêneos, com vegetação e ocupação urbana, o que reproduz a dificuldade de campo em distinguir o componente elétrico do ambiente. São 585 imagens, divididas em 468 de treino, 87 de validação e 30 de teste.
Esse conjunto é fortemente desbalanceado: das 468 imagens de treino, 335 pertencem a uma única categoria.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Foram avaliadas 14 variantes de pré-processamento, aplicadas às imagens antes do treinamento. A figura ilustra o efeito de algumas delas sobre uma mesma imagem.
O realce de contraste amplia as diferenças de intensidade por meio de um fator multiplicador. A equalização de histograma redistribui as intensidades na faixa dinâmica disponível. A escala de cinza suprime a informação de cor. O desfoque gaussiano faz uma suavização passa-baixa. E a detecção de bordas isola os contornos da imagem.
Além dessas, foram avaliadas a binarização adaptativa, o CLAHE, que equaliza o histograma por regiões locais, a redução de ruído por médias não locais e o filtro de mediana.
Quatro variantes são híbridas, combinando o realce de contraste com o CLAHE ou com a equalização de histograma, em ordens diferentes.
E a imagem original entra como amostra de controle, a linha de base sem processamento.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protocolo experimental isola uma única variável.
Foi implementada uma rede neural convolucional clássica e padronizada, com duas camadas convolucionais de 32 filtros, max-pooling, uma camada densa de 8 unidades e saída softmax. O treinamento usou o otimizador Adam por 50 épocas, com data augmentation em tempo de treino e imagens de 512 por 512 pixels. Com o modelo fixo, a única variável entre as execuções é o pré-processamento aplicado às imagens. Depois, a mesma varredura foi repetida com uma segunda arquitetura.
Para ler os resultados, é preciso um critério de referência, porque os dois conjuntos de teste são desbalanceados. Nesses casos, a acurácia sozinha pode ser enganosa, já que um modelo que sempre prevê a classe saudável alcança um valor alto sem detectar nenhuma falha. Esse critério é o piso majoritário: a acurácia obtida ao responder sempre a classe mais frequente, sem observar a imagem.
No CPLID, 32 das 43 imagens de teste são de isoladores normais, o que dá um piso de 74,42 por cento. No DRNPW, o piso é de 73,33 por cento. Um modelo abaixo desse valor não extrai informação útil das imagens.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Começo pelos resultados da rede convolucional no CPLID, o cenário das cadeias cerâmicas de linhas de transmissão com defeito estrutural. O gráfico mostra a acurácia de cada técnica, em ordem crescente, com a imagem tratada acima de cada barra.
No topo, três técnicas empataram em 95,35 por cento de acurácia, e todas ampliam o contraste: o realce de contraste simples, a combinação de CLAHE com realce e a combinação de realce com equalização de histograma. O realce simples teve ainda o maior F1-score do conjunto, 96,55 por cento, superando inclusive a imagem original sem tratamento, que alcançou 93,02 por cento de acurácia.
Esse resultado é coerente com a natureza do defeito. As assinaturas visuais do disco ausente e da fratura se concentram na estrutura física do isolador e são realçadas pela ampliação do intervalo tonal.
No outro extremo, as técnicas de suavização e desfoque reduziram consideravelmente o desempenho. O desfoque gaussiano ficou em apenas 67,44 por cento, abaixo da imagem original e abaixo do piso majoritário. Ou seja, um tratamento inadequado piorou o resultado em relação a não tratar a imagem.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DRNPW, o cenário de inspeção aérea em ambiente operacional real, o comportamento muda.
Com fundos de forte poluição visual, os melhores resultados vieram das combinações que ampliam o contraste. A combinação de realce de contraste e equalização de histograma teve o melhor desempenho, com 83,33 por cento de acurácia e 75,76 por cento de F1-score, contra 63,33 por cento de acurácia e 49,12 por cento de F1-score dos modelos treinados apenas com as imagens originais.
A leitura é que, nesse cenário, a combinação reforça o contraste entre o componente e o fundo. Já as técnicas que suprimem a cor, como a escala de cinza, ou que suavizam as texturas, como os desfoques, ficaram entre os piores resultados, por descartarem informação relevante à identificação do defeito.
Faço aqui uma ressalva: esse melhor resultado supera o piso de 73,33 por cento em 10 pontos percentuais, o equivalente a três imagens de teste, e seis das 14 técnicas ficaram no piso ou abaixo dele. Por isso, a inspeção em ambiente com forte poluição visual permanece como o caso mais desafiador.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Agrupando as 14 técnicas em simples e híbridas, as combinações se destacam com a rede convolucional.
No CPLID, a média de acurácia das técnicas híbridas foi 13,49 pontos percentuais superior à das técnicas simples. No DRNPW, a vantagem foi de 5,17 pontos.
Isso confirma a decisão da metodologia de avaliar também pipelines de técnicas combinadas, em que a saída de uma técnica serve de entrada para a próxima. Um pipeline pode reunir, por exemplo, normalização, redução de ruído, ajuste de contraste e aumento de nitidez.
E há um detalhe importante: a ordem das operações importa, porque sequências diferentes produzem resultados distintos. Por isso, as combinações foram avaliadas nas duas ordens possíveis: CLAHE seguido de realce e realce seguido de CLAHE, e equalização seguida de realce e realce seguido de equalização.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etapa de ajuste automático foi aplicada ao parâmetro do realce de contraste, o fator multiplicador, no DRNPW. Valores menores que 1 reduzem o contraste, e valores maiores que 1 o aumentam.
Primeiro, a busca em grade avaliou cinco valores entre 0,5 e 1,611. O melhor foi o fator 1,333, com 90 por cento de acurácia, 81 por cento de precisão e 85,3 por cento de F1-score. A redução excessiva de contraste, com fator 0,5, resultou na menor acurácia, 76,7 por cento.
Como complemento, a busca aleatória testou cinco valores entre 0,5 e 3. O melhor foi 1,4364, com 85,06 por cento de acurácia na validação, e contrastes muito altos degradaram o desempenho, com 71,26 por cento no fator 2,33.
Os dois métodos apontam para valores próximos, um pouco acima de 1. Essa convergência deve ser lida com reserva, porque as duas buscas foram avaliadas sobre conjuntos distintos: o de teste, com 30 imagens, e o de validação, com 87.
O ganho metodológico é que o ajuste deixa de depender de otimização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Até aqui, todas as avaliações usaram uma única arquitetura. Isso isola o pré-processamento, mas deixa uma pergunta em aberto: os efeitos observados vêm das imagens ou do modelo usado para avaliá-las?
Como a metodologia trata o modelo como um bloco substituível, a mesma varredura foi repetida com o YOLOv8n-cls, a variante de classificação da família YOLO, com pesos iniciais do COCO e cerca de 1,4 milhão de parâmetros treináveis. Foram 28 treinamentos completos, mantendo os conjuntos, as 14 técnicas e as 50 épocas.
O YOLOv8n-cls não superou a rede convolucional. No CPLID, a sua acurácia média foi de 66,28 por cento, contra 84,55, e ele superou o piso em apenas 1 das 14 técnicas. No DRNPW, as duas arquiteturas ficaram na vizinhança do piso.
E a ordem de mérito das técnicas se inverteu. A combinação de CLAHE com realce caiu de 95,35 para 51,16 por cento. A melhor combinação do DRNPW caiu de 83,33 para 53,33. E a escala de cinza subiu de 76,74 para 81,40 por cento.
Uma explicação plausível é que os pesos do COCO carregam as estatísticas de cor e contraste de fotografias naturais, e transformações que se afastam dessa distribuição degradam a utilidade dos filtros já aprendidos. A consequência é que a escolha do pré-processamento não é independente do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Reunindo os resultados, destaco o que a metodologia entrega para quem desenvolve um sistema de inspeção de isoladores.
Primeiro, ganho de desempenho. No cenário de campo, a escolha do tratamento levou o F1-score de 49,12 por cento, com as imagens originais, para 75,76 por cento, com a mesma rede.
Segundo, proteção contra a escolha errada. No CPLID, o desfoque gaussiano derrubou a acurácia de 93,02 para 67,44 por cento.
Terceiro, uma indicação sobre onde investir. Em regime de poucos dados, a arquitetura maior e pré-treinada não superou a rede convolucional simples, porque o aumento da capacidade do modelo não compensou as limitações do conjunto de dados.
E quarto, um procedimento. Como a melhor técnica muda com a arquitetura e com o conjunto de dados, a seleção precisa ser refeita a cada mudança, e a estrutura iterativa da metodologia viabiliza essa reexecução controlada.
Em síntese, o tratamento adequado das imagens brutas, ajustado a cada conjunto de dados e ao modelo adotado, é condição essencial para o bom desempenho.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Voltando ao sistema elétrico, a inspeção automatizada por imagem, que este trabalho ajuda a tornar mais confiável, traz vantagens em seis frentes.
A continuidade do fornecimento, porque a detecção precoce de falhas evita interrupções.
O custo, porque identificar a falha cedo reduz os custos de manutenção.
A segurança, porque o uso de imagens evita intervenções manuais em locais de difícil acesso.
A abrangência, porque os drones facilitam a inspeção de grandes extensões de linhas.
A reprodutibilidade, porque o diagnóstico automatizado é mais rápido, econômico e menos sujeito à subjetividade e ao erro humano.
E a manutenção preditiva, porque as técnicas modernas permitem monitorar os equipamentos e identificar danos antes que se tornem críticos.
Em todas essas frentes, o ganho depende de o modelo acertar, e o acerto do modelo depende, como vimos, do tratamento dado às imagens.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Concluindo.
Primeira conclusão: o pré-processamento das imagens exerce papel determinante no desempenho dos modelos em cenários de inspeção de infraestrutura elétrica.
Segunda conclusão: não há um processamento universalmente superior. Para defeitos estruturais em cadeias de isoladores de linhas de transmissão, no CPLID, o realce de contraste foi a estratégia de maior êxito. Para a inspeção aérea com fundos heterogêneos e poluídos, no DRNPW, as combinações de realce de contraste e equalização de histograma foram mais eficazes. A eficácia de cada técnica depende das características do conjunto de dados e do contexto de captura das falhas.
Terceira conclusão: a ordem de mérito das técnicas se altera conforme a arquitetura, de modo que a seleção do pré-processamento não é independente do modelo nem da forma de inicialização dos seus pesos. Por isso, ela precisa ser refeita a cada mudança de arquitetura ou de conjunto de dados, e é essa reexecução controlada que a metodologia proposta busca viabilizar.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trabalho enfrentou limitações.
A principal foi a quantidade e a disponibilidade de dados. Há grande escassez de bancos de imagens públicos focados em redes de distribuição, com número expressivo de componentes defeituosos e anotações rigorosas, o que obriga o uso de conjuntos fortemente desbalanceados.
Outra limitação foi o custo computacional. Otimizar todos os parâmetros do pipeline ao mesmo tempo leva à explosão combinatória, o que inviabiliza a avaliação exaustiva em tempo hábil.
A partir dessas limitações, sugiro cinco trabalhos futuros. Usar a otimização bayesiana para explorar vários parâmetros simultaneamente. Gerar exemplos sintéticos de defeitos com redes generativas adversariais. Estender o método para arquiteturas de detecção, avaliando a localização espacial das falhas. Adotar métricas mais robustas ao desbalanceamento, como o F1-score macro e a acurácia balanceada. E avaliar o desempenho do pipeline em dispositivos embarcados, como drones, para viabilizar a inspeção dinâmica em campo.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Encerro voltando ao ponto de partida, o Sistema Elétrico de Potência.
A principal contribuição deste trabalho é uma metodologia estruturada para a inspeção automatizada de linhas de transmissão, que mapeia de forma sistemática o impacto do processamento das imagens aéreas.
O impacto aparece em três frentes. Na confiabilidade do sistema, porque um modelo que identifica melhor a falha no isolador contribui para encontrá-la antes que ela cause uma interrupção no fornecimento. Na manutenção das linhas, porque fortalece a inspeção por drone e inteligência artificial, que é mais rápida, econômica, segura e reprodutível que a inspeção manual. E na própria inspeção automatizada, porque oferece um procedimento sistemático para escolher e ajustar o tratamento das imagens, que pode ser repetido a cada novo conjunto de dados ou nova arquitetura.
A mensagem final é que o tratamento adequado das imagens brutas é tão relevante quanto a escolha da arquitetura da rede neural.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Muito obrigado pela atenção. Fico à disposição da banca para as arguições.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jpe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image" Target="../media/image-5-3.jpe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png"/><Relationship Id="rId4" Type="http://schemas.openxmlformats.org/officeDocument/2006/relationships/image" Target="../media/image-9-4.jpe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jpeg"/><Relationship Id="rId3" Type="http://schemas.openxmlformats.org/officeDocument/2006/relationships/image" Target="../media/image-16-3.jpeg"/><Relationship Id="rId4" Type="http://schemas.openxmlformats.org/officeDocument/2006/relationships/image" Target="../media/image-16-4.jpeg"/><Relationship Id="rId5" Type="http://schemas.openxmlformats.org/officeDocument/2006/relationships/image" Target="../media/image-16-5.jpeg"/><Relationship Id="rId6" Type="http://schemas.openxmlformats.org/officeDocument/2006/relationships/image" Target="../media/image-16-6.jpe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0-1.jpeg"/><Relationship Id="rId3" Type="http://schemas.openxmlformats.org/officeDocument/2006/relationships/image" Target="../media/image-20-2.jpe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502920"/>
            <a:ext cx="5303520" cy="237744"/>
          </a:xfrm>
          <a:prstGeom prst="rect">
            <a:avLst/>
          </a:prstGeom>
          <a:noFill/>
          <a:ln/>
        </p:spPr>
        <p:txBody>
          <a:bodyPr wrap="square" lIns="0" tIns="0" rIns="0" bIns="0" rtlCol="0" anchor="ctr"/>
          <a:lstStyle/>
          <a:p>
            <a:pPr indent="0" marL="0">
              <a:buNone/>
            </a:pPr>
            <a:r>
              <a:rPr lang="en-US" sz="1200" b="1" dirty="0">
                <a:solidFill>
                  <a:srgbClr val="F5A54A"/>
                </a:solidFill>
                <a:latin typeface="Calibri" pitchFamily="34" charset="0"/>
                <a:ea typeface="Calibri" pitchFamily="34" charset="-122"/>
                <a:cs typeface="Calibri" pitchFamily="34" charset="-120"/>
              </a:rPr>
              <a:t>Universidade Federal de Santa Maria</a:t>
            </a:r>
            <a:endParaRPr lang="en-US" sz="1200" dirty="0"/>
          </a:p>
        </p:txBody>
      </p:sp>
      <p:sp>
        <p:nvSpPr>
          <p:cNvPr id="4" name="Text 1"/>
          <p:cNvSpPr/>
          <p:nvPr/>
        </p:nvSpPr>
        <p:spPr>
          <a:xfrm>
            <a:off x="502920" y="740664"/>
            <a:ext cx="5303520" cy="237744"/>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Programa de Pós-Graduação em Engenharia Elétrica</a:t>
            </a:r>
            <a:endParaRPr lang="en-US" sz="1100" dirty="0"/>
          </a:p>
        </p:txBody>
      </p:sp>
      <p:sp>
        <p:nvSpPr>
          <p:cNvPr id="5" name="Text 2"/>
          <p:cNvSpPr/>
          <p:nvPr/>
        </p:nvSpPr>
        <p:spPr>
          <a:xfrm>
            <a:off x="502920" y="1280160"/>
            <a:ext cx="5120640" cy="1783080"/>
          </a:xfrm>
          <a:prstGeom prst="rect">
            <a:avLst/>
          </a:prstGeom>
          <a:noFill/>
          <a:ln/>
        </p:spPr>
        <p:txBody>
          <a:bodyPr wrap="square" lIns="0" tIns="0" rIns="0" bIns="0" rtlCol="0" anchor="ctr"/>
          <a:lstStyle/>
          <a:p>
            <a:pPr indent="0" marL="0">
              <a:lnSpc>
                <a:spcPct val="105000"/>
              </a:lnSpc>
              <a:buNone/>
            </a:pPr>
            <a:r>
              <a:rPr lang="en-US" sz="2300" b="1" dirty="0">
                <a:solidFill>
                  <a:srgbClr val="FFFFFF"/>
                </a:solidFill>
                <a:latin typeface="Cambria" pitchFamily="34" charset="0"/>
                <a:ea typeface="Cambria" pitchFamily="34" charset="-122"/>
                <a:cs typeface="Cambria" pitchFamily="34" charset="-120"/>
              </a:rPr>
              <a:t>Método de aprimoramento de processamentos de imagens aplicados à detecção e classificação de falhas em cadeias de isoladores</a:t>
            </a:r>
            <a:endParaRPr lang="en-US" sz="2300" dirty="0"/>
          </a:p>
        </p:txBody>
      </p:sp>
      <p:sp>
        <p:nvSpPr>
          <p:cNvPr id="6" name="Text 3"/>
          <p:cNvSpPr/>
          <p:nvPr/>
        </p:nvSpPr>
        <p:spPr>
          <a:xfrm>
            <a:off x="502920" y="3154680"/>
            <a:ext cx="5120640" cy="256032"/>
          </a:xfrm>
          <a:prstGeom prst="rect">
            <a:avLst/>
          </a:prstGeom>
          <a:noFill/>
          <a:ln/>
        </p:spPr>
        <p:txBody>
          <a:bodyPr wrap="square" lIns="0" tIns="0" rIns="0" bIns="0" rtlCol="0" anchor="ctr"/>
          <a:lstStyle/>
          <a:p>
            <a:pPr indent="0" marL="0">
              <a:buNone/>
            </a:pPr>
            <a:r>
              <a:rPr lang="en-US" sz="1200" i="1" dirty="0">
                <a:solidFill>
                  <a:srgbClr val="FFD9A8"/>
                </a:solidFill>
                <a:latin typeface="Calibri" pitchFamily="34" charset="0"/>
                <a:ea typeface="Calibri" pitchFamily="34" charset="-122"/>
                <a:cs typeface="Calibri" pitchFamily="34" charset="-120"/>
              </a:rPr>
              <a:t>Defesa de Dissertação de Mestrado</a:t>
            </a:r>
            <a:endParaRPr lang="en-US" sz="1200" dirty="0"/>
          </a:p>
        </p:txBody>
      </p:sp>
      <p:sp>
        <p:nvSpPr>
          <p:cNvPr id="7" name="Text 4"/>
          <p:cNvSpPr/>
          <p:nvPr/>
        </p:nvSpPr>
        <p:spPr>
          <a:xfrm>
            <a:off x="502920" y="3611880"/>
            <a:ext cx="5303520" cy="914400"/>
          </a:xfrm>
          <a:prstGeom prst="rect">
            <a:avLst/>
          </a:prstGeom>
          <a:noFill/>
          <a:ln/>
        </p:spPr>
        <p:txBody>
          <a:bodyPr wrap="square" lIns="0" tIns="0" rIns="0" bIns="0" rtlCol="0" anchor="ctr"/>
          <a:lstStyle/>
          <a:p>
            <a:pPr indent="0" marL="0">
              <a:lnSpc>
                <a:spcPct val="115000"/>
              </a:lnSpc>
              <a:buNone/>
            </a:pPr>
            <a:r>
              <a:rPr lang="en-US" sz="1200" dirty="0">
                <a:solidFill>
                  <a:srgbClr val="A9BCCC"/>
                </a:solidFill>
                <a:latin typeface="Calibri" pitchFamily="34" charset="0"/>
                <a:ea typeface="Calibri" pitchFamily="34" charset="-122"/>
                <a:cs typeface="Calibri" pitchFamily="34" charset="-120"/>
              </a:rPr>
              <a:t>Mestrando: </a:t>
            </a:r>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Luan Willig Silveira</a:t>
            </a:r>
            <a:endParaRPr lang="en-US" sz="1200" dirty="0"/>
          </a:p>
          <a:p>
            <a:pPr indent="0" marL="0">
              <a:lnSpc>
                <a:spcPct val="115000"/>
              </a:lnSpc>
              <a:buNone/>
            </a:pPr>
            <a:r>
              <a:rPr lang="en-US" sz="1200" dirty="0">
                <a:solidFill>
                  <a:srgbClr val="A9BCCC"/>
                </a:solidFill>
                <a:latin typeface="Calibri" pitchFamily="34" charset="0"/>
                <a:ea typeface="Calibri" pitchFamily="34" charset="-122"/>
                <a:cs typeface="Calibri" pitchFamily="34" charset="-120"/>
              </a:rPr>
              <a:t>Orientador: </a:t>
            </a:r>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Prof. Dr. Daniel Pinheiro Bernardon</a:t>
            </a:r>
            <a:endParaRPr lang="en-US" sz="1200" dirty="0"/>
          </a:p>
          <a:p>
            <a:pPr indent="0" marL="0">
              <a:lnSpc>
                <a:spcPct val="115000"/>
              </a:lnSpc>
              <a:buNone/>
            </a:pPr>
            <a:r>
              <a:rPr lang="en-US" sz="1200" dirty="0">
                <a:solidFill>
                  <a:srgbClr val="A9BCCC"/>
                </a:solidFill>
                <a:latin typeface="Calibri" pitchFamily="34" charset="0"/>
                <a:ea typeface="Calibri" pitchFamily="34" charset="-122"/>
                <a:cs typeface="Calibri" pitchFamily="34" charset="-120"/>
              </a:rPr>
              <a:t>Coorientador: </a:t>
            </a:r>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Prof. Dr. Paulo César Vargas Luz</a:t>
            </a:r>
            <a:endParaRPr lang="en-US" sz="1200" dirty="0"/>
          </a:p>
        </p:txBody>
      </p:sp>
      <p:sp>
        <p:nvSpPr>
          <p:cNvPr id="8" name="Text 5"/>
          <p:cNvSpPr/>
          <p:nvPr/>
        </p:nvSpPr>
        <p:spPr>
          <a:xfrm>
            <a:off x="502920" y="4732020"/>
            <a:ext cx="3657600" cy="228600"/>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Santa Maria, RS</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ROTEIRO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Do sistema elétrico de volta ao sistema elétrico</a:t>
            </a:r>
            <a:endParaRPr lang="en-US" sz="2800" dirty="0"/>
          </a:p>
        </p:txBody>
      </p:sp>
      <p:pic>
        <p:nvPicPr>
          <p:cNvPr id="4" name="Image 0" descr="preencoded.png">    </p:cNvPr>
          <p:cNvPicPr>
            <a:picLocks noChangeAspect="1"/>
          </p:cNvPicPr>
          <p:nvPr/>
        </p:nvPicPr>
        <p:blipFill>
          <a:blip r:embed="rId1"/>
          <a:stretch>
            <a:fillRect/>
          </a:stretch>
        </p:blipFill>
        <p:spPr>
          <a:xfrm>
            <a:off x="502920" y="1234440"/>
            <a:ext cx="1828800" cy="1828800"/>
          </a:xfrm>
          <a:prstGeom prst="rect">
            <a:avLst/>
          </a:prstGeom>
        </p:spPr>
      </p:pic>
      <p:sp>
        <p:nvSpPr>
          <p:cNvPr id="5" name="Shape 2"/>
          <p:cNvSpPr/>
          <p:nvPr/>
        </p:nvSpPr>
        <p:spPr>
          <a:xfrm>
            <a:off x="612648" y="1344168"/>
            <a:ext cx="402336" cy="402336"/>
          </a:xfrm>
          <a:prstGeom prst="ellipse">
            <a:avLst/>
          </a:prstGeom>
          <a:solidFill>
            <a:srgbClr val="1C7293"/>
          </a:solidFill>
          <a:ln w="12700">
            <a:solidFill>
              <a:srgbClr val="1C7293"/>
            </a:solidFill>
            <a:prstDash val="solid"/>
          </a:ln>
        </p:spPr>
      </p:sp>
      <p:sp>
        <p:nvSpPr>
          <p:cNvPr id="6" name="Text 3"/>
          <p:cNvSpPr/>
          <p:nvPr/>
        </p:nvSpPr>
        <p:spPr>
          <a:xfrm>
            <a:off x="612648" y="13441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4"/>
          <p:cNvSpPr/>
          <p:nvPr/>
        </p:nvSpPr>
        <p:spPr>
          <a:xfrm>
            <a:off x="502920" y="3200400"/>
            <a:ext cx="1828800" cy="274320"/>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O problema elétrico</a:t>
            </a:r>
            <a:endParaRPr lang="en-US" sz="1400" dirty="0"/>
          </a:p>
        </p:txBody>
      </p:sp>
      <p:sp>
        <p:nvSpPr>
          <p:cNvPr id="8" name="Text 5"/>
          <p:cNvSpPr/>
          <p:nvPr/>
        </p:nvSpPr>
        <p:spPr>
          <a:xfrm>
            <a:off x="502920" y="3493008"/>
            <a:ext cx="1828800" cy="457200"/>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Isoladores, falhas e inspeção</a:t>
            </a:r>
            <a:endParaRPr lang="en-US" sz="1050" dirty="0"/>
          </a:p>
        </p:txBody>
      </p:sp>
      <p:pic>
        <p:nvPicPr>
          <p:cNvPr id="9" name="Image 1" descr="preencoded.png">    </p:cNvPr>
          <p:cNvPicPr>
            <a:picLocks noChangeAspect="1"/>
          </p:cNvPicPr>
          <p:nvPr/>
        </p:nvPicPr>
        <p:blipFill>
          <a:blip r:embed="rId2"/>
          <a:stretch>
            <a:fillRect/>
          </a:stretch>
        </p:blipFill>
        <p:spPr>
          <a:xfrm>
            <a:off x="2606040" y="1234440"/>
            <a:ext cx="1828800" cy="1828800"/>
          </a:xfrm>
          <a:prstGeom prst="rect">
            <a:avLst/>
          </a:prstGeom>
        </p:spPr>
      </p:pic>
      <p:sp>
        <p:nvSpPr>
          <p:cNvPr id="10" name="Shape 6"/>
          <p:cNvSpPr/>
          <p:nvPr/>
        </p:nvSpPr>
        <p:spPr>
          <a:xfrm>
            <a:off x="2715768" y="1344168"/>
            <a:ext cx="402336" cy="402336"/>
          </a:xfrm>
          <a:prstGeom prst="ellipse">
            <a:avLst/>
          </a:prstGeom>
          <a:solidFill>
            <a:srgbClr val="1C7293"/>
          </a:solidFill>
          <a:ln w="12700">
            <a:solidFill>
              <a:srgbClr val="1C7293"/>
            </a:solidFill>
            <a:prstDash val="solid"/>
          </a:ln>
        </p:spPr>
      </p:sp>
      <p:sp>
        <p:nvSpPr>
          <p:cNvPr id="11" name="Text 7"/>
          <p:cNvSpPr/>
          <p:nvPr/>
        </p:nvSpPr>
        <p:spPr>
          <a:xfrm>
            <a:off x="2715768" y="13441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8"/>
          <p:cNvSpPr/>
          <p:nvPr/>
        </p:nvSpPr>
        <p:spPr>
          <a:xfrm>
            <a:off x="2606040" y="3200400"/>
            <a:ext cx="1828800" cy="274320"/>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A proposta</a:t>
            </a:r>
            <a:endParaRPr lang="en-US" sz="1400" dirty="0"/>
          </a:p>
        </p:txBody>
      </p:sp>
      <p:sp>
        <p:nvSpPr>
          <p:cNvPr id="13" name="Text 9"/>
          <p:cNvSpPr/>
          <p:nvPr/>
        </p:nvSpPr>
        <p:spPr>
          <a:xfrm>
            <a:off x="2606040" y="3493008"/>
            <a:ext cx="1828800" cy="457200"/>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Metodologia de processamento</a:t>
            </a:r>
            <a:endParaRPr lang="en-US" sz="1050" dirty="0"/>
          </a:p>
        </p:txBody>
      </p:sp>
      <p:pic>
        <p:nvPicPr>
          <p:cNvPr id="14" name="Image 2" descr="preencoded.png">    </p:cNvPr>
          <p:cNvPicPr>
            <a:picLocks noChangeAspect="1"/>
          </p:cNvPicPr>
          <p:nvPr/>
        </p:nvPicPr>
        <p:blipFill>
          <a:blip r:embed="rId3"/>
          <a:stretch>
            <a:fillRect/>
          </a:stretch>
        </p:blipFill>
        <p:spPr>
          <a:xfrm>
            <a:off x="4709160" y="1234440"/>
            <a:ext cx="1828800" cy="1828800"/>
          </a:xfrm>
          <a:prstGeom prst="rect">
            <a:avLst/>
          </a:prstGeom>
        </p:spPr>
      </p:pic>
      <p:sp>
        <p:nvSpPr>
          <p:cNvPr id="15" name="Shape 10"/>
          <p:cNvSpPr/>
          <p:nvPr/>
        </p:nvSpPr>
        <p:spPr>
          <a:xfrm>
            <a:off x="4818888" y="1344168"/>
            <a:ext cx="402336" cy="402336"/>
          </a:xfrm>
          <a:prstGeom prst="ellipse">
            <a:avLst/>
          </a:prstGeom>
          <a:solidFill>
            <a:srgbClr val="1C7293"/>
          </a:solidFill>
          <a:ln w="12700">
            <a:solidFill>
              <a:srgbClr val="1C7293"/>
            </a:solidFill>
            <a:prstDash val="solid"/>
          </a:ln>
        </p:spPr>
      </p:sp>
      <p:sp>
        <p:nvSpPr>
          <p:cNvPr id="16" name="Text 11"/>
          <p:cNvSpPr/>
          <p:nvPr/>
        </p:nvSpPr>
        <p:spPr>
          <a:xfrm>
            <a:off x="4818888" y="13441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2"/>
          <p:cNvSpPr/>
          <p:nvPr/>
        </p:nvSpPr>
        <p:spPr>
          <a:xfrm>
            <a:off x="4709160" y="3200400"/>
            <a:ext cx="1828800" cy="274320"/>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Resultados</a:t>
            </a:r>
            <a:endParaRPr lang="en-US" sz="1400" dirty="0"/>
          </a:p>
        </p:txBody>
      </p:sp>
      <p:sp>
        <p:nvSpPr>
          <p:cNvPr id="18" name="Text 13"/>
          <p:cNvSpPr/>
          <p:nvPr/>
        </p:nvSpPr>
        <p:spPr>
          <a:xfrm>
            <a:off x="4709160" y="3493008"/>
            <a:ext cx="1828800" cy="457200"/>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Dois cenários, dois modelos</a:t>
            </a:r>
            <a:endParaRPr lang="en-US" sz="1050" dirty="0"/>
          </a:p>
        </p:txBody>
      </p:sp>
      <p:pic>
        <p:nvPicPr>
          <p:cNvPr id="19" name="Image 3" descr="preencoded.png">    </p:cNvPr>
          <p:cNvPicPr>
            <a:picLocks noChangeAspect="1"/>
          </p:cNvPicPr>
          <p:nvPr/>
        </p:nvPicPr>
        <p:blipFill>
          <a:blip r:embed="rId4"/>
          <a:stretch>
            <a:fillRect/>
          </a:stretch>
        </p:blipFill>
        <p:spPr>
          <a:xfrm>
            <a:off x="6812280" y="1234440"/>
            <a:ext cx="1828800" cy="1828800"/>
          </a:xfrm>
          <a:prstGeom prst="rect">
            <a:avLst/>
          </a:prstGeom>
        </p:spPr>
      </p:pic>
      <p:sp>
        <p:nvSpPr>
          <p:cNvPr id="20" name="Shape 14"/>
          <p:cNvSpPr/>
          <p:nvPr/>
        </p:nvSpPr>
        <p:spPr>
          <a:xfrm>
            <a:off x="6922008" y="1344168"/>
            <a:ext cx="402336" cy="402336"/>
          </a:xfrm>
          <a:prstGeom prst="ellipse">
            <a:avLst/>
          </a:prstGeom>
          <a:solidFill>
            <a:srgbClr val="F5A54A"/>
          </a:solidFill>
          <a:ln w="12700">
            <a:solidFill>
              <a:srgbClr val="F5A54A"/>
            </a:solidFill>
            <a:prstDash val="solid"/>
          </a:ln>
        </p:spPr>
      </p:sp>
      <p:sp>
        <p:nvSpPr>
          <p:cNvPr id="21" name="Text 15"/>
          <p:cNvSpPr/>
          <p:nvPr/>
        </p:nvSpPr>
        <p:spPr>
          <a:xfrm>
            <a:off x="6922008" y="1344168"/>
            <a:ext cx="402336" cy="402336"/>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4</a:t>
            </a:r>
            <a:endParaRPr lang="en-US" sz="1200" dirty="0"/>
          </a:p>
        </p:txBody>
      </p:sp>
      <p:sp>
        <p:nvSpPr>
          <p:cNvPr id="22" name="Text 16"/>
          <p:cNvSpPr/>
          <p:nvPr/>
        </p:nvSpPr>
        <p:spPr>
          <a:xfrm>
            <a:off x="6812280" y="3200400"/>
            <a:ext cx="1828800" cy="274320"/>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Impacto</a:t>
            </a:r>
            <a:endParaRPr lang="en-US" sz="1400" dirty="0"/>
          </a:p>
        </p:txBody>
      </p:sp>
      <p:sp>
        <p:nvSpPr>
          <p:cNvPr id="23" name="Text 17"/>
          <p:cNvSpPr/>
          <p:nvPr/>
        </p:nvSpPr>
        <p:spPr>
          <a:xfrm>
            <a:off x="6812280" y="3493008"/>
            <a:ext cx="1828800" cy="457200"/>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Vantagens para o sistema elétrico</a:t>
            </a:r>
            <a:endParaRPr lang="en-US" sz="1050" dirty="0"/>
          </a:p>
        </p:txBody>
      </p:sp>
      <p:sp>
        <p:nvSpPr>
          <p:cNvPr id="24"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Roteiro</a:t>
            </a:r>
            <a:endParaRPr lang="en-US" sz="900" dirty="0"/>
          </a:p>
        </p:txBody>
      </p:sp>
      <p:sp>
        <p:nvSpPr>
          <p:cNvPr id="25"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isolador no Sistema Elétrico de Potência</a:t>
            </a:r>
            <a:endParaRPr lang="en-US" sz="2800" dirty="0"/>
          </a:p>
        </p:txBody>
      </p:sp>
      <p:pic>
        <p:nvPicPr>
          <p:cNvPr id="4" name="Image 0" descr="preencoded.png">    </p:cNvPr>
          <p:cNvPicPr>
            <a:picLocks noChangeAspect="1"/>
          </p:cNvPicPr>
          <p:nvPr/>
        </p:nvPicPr>
        <p:blipFill>
          <a:blip r:embed="rId1"/>
          <a:stretch>
            <a:fillRect/>
          </a:stretch>
        </p:blipFill>
        <p:spPr>
          <a:xfrm>
            <a:off x="502920" y="1097280"/>
            <a:ext cx="8138160" cy="2278685"/>
          </a:xfrm>
          <a:prstGeom prst="rect">
            <a:avLst/>
          </a:prstGeom>
        </p:spPr>
      </p:pic>
      <p:sp>
        <p:nvSpPr>
          <p:cNvPr id="5" name="Shape 2"/>
          <p:cNvSpPr/>
          <p:nvPr/>
        </p:nvSpPr>
        <p:spPr>
          <a:xfrm>
            <a:off x="502920" y="3611880"/>
            <a:ext cx="54864" cy="777240"/>
          </a:xfrm>
          <a:prstGeom prst="rect">
            <a:avLst/>
          </a:prstGeom>
          <a:solidFill>
            <a:srgbClr val="1C7293"/>
          </a:solidFill>
          <a:ln/>
        </p:spPr>
      </p:sp>
      <p:sp>
        <p:nvSpPr>
          <p:cNvPr id="6" name="Text 3"/>
          <p:cNvSpPr/>
          <p:nvPr/>
        </p:nvSpPr>
        <p:spPr>
          <a:xfrm>
            <a:off x="685800" y="3593592"/>
            <a:ext cx="2468880" cy="310896"/>
          </a:xfrm>
          <a:prstGeom prst="rect">
            <a:avLst/>
          </a:prstGeom>
          <a:noFill/>
          <a:ln/>
        </p:spPr>
        <p:txBody>
          <a:bodyPr wrap="square" lIns="0" tIns="0" rIns="0" bIns="0" rtlCol="0" anchor="ctr"/>
          <a:lstStyle/>
          <a:p>
            <a:pPr indent="0" marL="0">
              <a:buNone/>
            </a:pPr>
            <a:r>
              <a:rPr lang="en-US" sz="1350" b="1" dirty="0">
                <a:solidFill>
                  <a:srgbClr val="1C7293"/>
                </a:solidFill>
                <a:latin typeface="Calibri" pitchFamily="34" charset="0"/>
                <a:ea typeface="Calibri" pitchFamily="34" charset="-122"/>
                <a:cs typeface="Calibri" pitchFamily="34" charset="-120"/>
              </a:rPr>
              <a:t>Transmissão e distribuição</a:t>
            </a:r>
            <a:endParaRPr lang="en-US" sz="1350" dirty="0"/>
          </a:p>
        </p:txBody>
      </p:sp>
      <p:sp>
        <p:nvSpPr>
          <p:cNvPr id="7" name="Text 4"/>
          <p:cNvSpPr/>
          <p:nvPr/>
        </p:nvSpPr>
        <p:spPr>
          <a:xfrm>
            <a:off x="685800" y="3931920"/>
            <a:ext cx="2377440" cy="457200"/>
          </a:xfrm>
          <a:prstGeom prst="rect">
            <a:avLst/>
          </a:prstGeom>
          <a:noFill/>
          <a:ln/>
        </p:spPr>
        <p:txBody>
          <a:bodyPr wrap="square" lIns="0" tIns="0" rIns="0" bIns="0" rtlCol="0" anchor="ctr"/>
          <a:lstStyle/>
          <a:p>
            <a:pPr indent="0" marL="0">
              <a:buNone/>
            </a:pPr>
            <a:r>
              <a:rPr lang="en-US" sz="1100" dirty="0">
                <a:solidFill>
                  <a:srgbClr val="1B2A3A"/>
                </a:solidFill>
                <a:latin typeface="Calibri" pitchFamily="34" charset="0"/>
                <a:ea typeface="Calibri" pitchFamily="34" charset="-122"/>
                <a:cs typeface="Calibri" pitchFamily="34" charset="-120"/>
              </a:rPr>
              <a:t>Linhas que levam a energia até os consumidores</a:t>
            </a:r>
            <a:endParaRPr lang="en-US" sz="1100" dirty="0"/>
          </a:p>
        </p:txBody>
      </p:sp>
      <p:sp>
        <p:nvSpPr>
          <p:cNvPr id="8" name="Shape 5"/>
          <p:cNvSpPr/>
          <p:nvPr/>
        </p:nvSpPr>
        <p:spPr>
          <a:xfrm>
            <a:off x="3291840" y="3611880"/>
            <a:ext cx="54864" cy="777240"/>
          </a:xfrm>
          <a:prstGeom prst="rect">
            <a:avLst/>
          </a:prstGeom>
          <a:solidFill>
            <a:srgbClr val="1C7293"/>
          </a:solidFill>
          <a:ln/>
        </p:spPr>
      </p:sp>
      <p:sp>
        <p:nvSpPr>
          <p:cNvPr id="9" name="Text 6"/>
          <p:cNvSpPr/>
          <p:nvPr/>
        </p:nvSpPr>
        <p:spPr>
          <a:xfrm>
            <a:off x="3474720" y="3593592"/>
            <a:ext cx="2468880" cy="310896"/>
          </a:xfrm>
          <a:prstGeom prst="rect">
            <a:avLst/>
          </a:prstGeom>
          <a:noFill/>
          <a:ln/>
        </p:spPr>
        <p:txBody>
          <a:bodyPr wrap="square" lIns="0" tIns="0" rIns="0" bIns="0" rtlCol="0" anchor="ctr"/>
          <a:lstStyle/>
          <a:p>
            <a:pPr indent="0" marL="0">
              <a:buNone/>
            </a:pPr>
            <a:r>
              <a:rPr lang="en-US" sz="1350" b="1" dirty="0">
                <a:solidFill>
                  <a:srgbClr val="1C7293"/>
                </a:solidFill>
                <a:latin typeface="Calibri" pitchFamily="34" charset="0"/>
                <a:ea typeface="Calibri" pitchFamily="34" charset="-122"/>
                <a:cs typeface="Calibri" pitchFamily="34" charset="-120"/>
              </a:rPr>
              <a:t>Isoladores, fixadores e suportes</a:t>
            </a:r>
            <a:endParaRPr lang="en-US" sz="1350" dirty="0"/>
          </a:p>
        </p:txBody>
      </p:sp>
      <p:sp>
        <p:nvSpPr>
          <p:cNvPr id="10" name="Text 7"/>
          <p:cNvSpPr/>
          <p:nvPr/>
        </p:nvSpPr>
        <p:spPr>
          <a:xfrm>
            <a:off x="3474720" y="3931920"/>
            <a:ext cx="2377440" cy="457200"/>
          </a:xfrm>
          <a:prstGeom prst="rect">
            <a:avLst/>
          </a:prstGeom>
          <a:noFill/>
          <a:ln/>
        </p:spPr>
        <p:txBody>
          <a:bodyPr wrap="square" lIns="0" tIns="0" rIns="0" bIns="0" rtlCol="0" anchor="ctr"/>
          <a:lstStyle/>
          <a:p>
            <a:pPr indent="0" marL="0">
              <a:buNone/>
            </a:pPr>
            <a:r>
              <a:rPr lang="en-US" sz="1100" dirty="0">
                <a:solidFill>
                  <a:srgbClr val="1B2A3A"/>
                </a:solidFill>
                <a:latin typeface="Calibri" pitchFamily="34" charset="0"/>
                <a:ea typeface="Calibri" pitchFamily="34" charset="-122"/>
                <a:cs typeface="Calibri" pitchFamily="34" charset="-120"/>
              </a:rPr>
              <a:t>Componentes inspecionados ao longo das linhas</a:t>
            </a:r>
            <a:endParaRPr lang="en-US" sz="1100" dirty="0"/>
          </a:p>
        </p:txBody>
      </p:sp>
      <p:sp>
        <p:nvSpPr>
          <p:cNvPr id="11" name="Shape 8"/>
          <p:cNvSpPr/>
          <p:nvPr/>
        </p:nvSpPr>
        <p:spPr>
          <a:xfrm>
            <a:off x="6080760" y="3611880"/>
            <a:ext cx="54864" cy="777240"/>
          </a:xfrm>
          <a:prstGeom prst="rect">
            <a:avLst/>
          </a:prstGeom>
          <a:solidFill>
            <a:srgbClr val="F5A54A"/>
          </a:solidFill>
          <a:ln/>
        </p:spPr>
      </p:sp>
      <p:sp>
        <p:nvSpPr>
          <p:cNvPr id="12" name="Text 9"/>
          <p:cNvSpPr/>
          <p:nvPr/>
        </p:nvSpPr>
        <p:spPr>
          <a:xfrm>
            <a:off x="6263640" y="3593592"/>
            <a:ext cx="2468880" cy="310896"/>
          </a:xfrm>
          <a:prstGeom prst="rect">
            <a:avLst/>
          </a:prstGeom>
          <a:noFill/>
          <a:ln/>
        </p:spPr>
        <p:txBody>
          <a:bodyPr wrap="square" lIns="0" tIns="0" rIns="0" bIns="0" rtlCol="0" anchor="ctr"/>
          <a:lstStyle/>
          <a:p>
            <a:pPr indent="0" marL="0">
              <a:buNone/>
            </a:pPr>
            <a:r>
              <a:rPr lang="en-US" sz="1350" b="1" dirty="0">
                <a:solidFill>
                  <a:srgbClr val="F5A54A"/>
                </a:solidFill>
                <a:latin typeface="Calibri" pitchFamily="34" charset="0"/>
                <a:ea typeface="Calibri" pitchFamily="34" charset="-122"/>
                <a:cs typeface="Calibri" pitchFamily="34" charset="-120"/>
              </a:rPr>
              <a:t>Falha não tratada</a:t>
            </a:r>
            <a:endParaRPr lang="en-US" sz="1350" dirty="0"/>
          </a:p>
        </p:txBody>
      </p:sp>
      <p:sp>
        <p:nvSpPr>
          <p:cNvPr id="13" name="Text 10"/>
          <p:cNvSpPr/>
          <p:nvPr/>
        </p:nvSpPr>
        <p:spPr>
          <a:xfrm>
            <a:off x="6263640" y="3931920"/>
            <a:ext cx="2377440" cy="457200"/>
          </a:xfrm>
          <a:prstGeom prst="rect">
            <a:avLst/>
          </a:prstGeom>
          <a:noFill/>
          <a:ln/>
        </p:spPr>
        <p:txBody>
          <a:bodyPr wrap="square" lIns="0" tIns="0" rIns="0" bIns="0" rtlCol="0" anchor="ctr"/>
          <a:lstStyle/>
          <a:p>
            <a:pPr indent="0" marL="0">
              <a:buNone/>
            </a:pPr>
            <a:r>
              <a:rPr lang="en-US" sz="1100" dirty="0">
                <a:solidFill>
                  <a:srgbClr val="1B2A3A"/>
                </a:solidFill>
                <a:latin typeface="Calibri" pitchFamily="34" charset="0"/>
                <a:ea typeface="Calibri" pitchFamily="34" charset="-122"/>
                <a:cs typeface="Calibri" pitchFamily="34" charset="-120"/>
              </a:rPr>
              <a:t>Pode causar interrupções no fornecimento de energia</a:t>
            </a:r>
            <a:endParaRPr lang="en-US" sz="1100" dirty="0"/>
          </a:p>
        </p:txBody>
      </p:sp>
      <p:sp>
        <p:nvSpPr>
          <p:cNvPr id="14" name="Text 11"/>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5" name="Text 12"/>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143500" cy="5143500"/>
          </a:xfrm>
          <a:prstGeom prst="rect">
            <a:avLst/>
          </a:prstGeom>
        </p:spPr>
      </p:pic>
      <p:sp>
        <p:nvSpPr>
          <p:cNvPr id="3" name="Text 0"/>
          <p:cNvSpPr/>
          <p:nvPr/>
        </p:nvSpPr>
        <p:spPr>
          <a:xfrm>
            <a:off x="5486400" y="274320"/>
            <a:ext cx="320040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4" name="Text 1"/>
          <p:cNvSpPr/>
          <p:nvPr/>
        </p:nvSpPr>
        <p:spPr>
          <a:xfrm>
            <a:off x="5486400" y="512064"/>
            <a:ext cx="3200400" cy="914400"/>
          </a:xfrm>
          <a:prstGeom prst="rect">
            <a:avLst/>
          </a:prstGeom>
          <a:noFill/>
          <a:ln/>
        </p:spPr>
        <p:txBody>
          <a:bodyPr wrap="square" lIns="0" tIns="0" rIns="0" bIns="0" rtlCol="0" anchor="t"/>
          <a:lstStyle/>
          <a:p>
            <a:pPr indent="0" marL="0">
              <a:buNone/>
            </a:pPr>
            <a:r>
              <a:rPr lang="en-US" sz="2400" b="1" dirty="0">
                <a:solidFill>
                  <a:srgbClr val="1B2A3A"/>
                </a:solidFill>
                <a:latin typeface="Cambria" pitchFamily="34" charset="0"/>
                <a:ea typeface="Cambria" pitchFamily="34" charset="-122"/>
                <a:cs typeface="Cambria" pitchFamily="34" charset="-120"/>
              </a:rPr>
              <a:t>Isolador: sustentação e isolamento</a:t>
            </a:r>
            <a:endParaRPr lang="en-US" sz="2400" dirty="0"/>
          </a:p>
        </p:txBody>
      </p:sp>
      <p:sp>
        <p:nvSpPr>
          <p:cNvPr id="5" name="Shape 2"/>
          <p:cNvSpPr/>
          <p:nvPr/>
        </p:nvSpPr>
        <p:spPr>
          <a:xfrm>
            <a:off x="5486400" y="1691640"/>
            <a:ext cx="457200" cy="457200"/>
          </a:xfrm>
          <a:prstGeom prst="ellipse">
            <a:avLst/>
          </a:prstGeom>
          <a:solidFill>
            <a:srgbClr val="1C7293"/>
          </a:solidFill>
          <a:ln w="12700">
            <a:solidFill>
              <a:srgbClr val="1C7293"/>
            </a:solidFill>
            <a:prstDash val="solid"/>
          </a:ln>
        </p:spPr>
      </p:sp>
      <p:sp>
        <p:nvSpPr>
          <p:cNvPr id="6" name="Text 3"/>
          <p:cNvSpPr/>
          <p:nvPr/>
        </p:nvSpPr>
        <p:spPr>
          <a:xfrm>
            <a:off x="5486400" y="169164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4"/>
          <p:cNvSpPr/>
          <p:nvPr/>
        </p:nvSpPr>
        <p:spPr>
          <a:xfrm>
            <a:off x="6080760" y="1655064"/>
            <a:ext cx="2560320" cy="292608"/>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Sustenta</a:t>
            </a:r>
            <a:endParaRPr lang="en-US" sz="1500" dirty="0"/>
          </a:p>
        </p:txBody>
      </p:sp>
      <p:sp>
        <p:nvSpPr>
          <p:cNvPr id="8" name="Text 5"/>
          <p:cNvSpPr/>
          <p:nvPr/>
        </p:nvSpPr>
        <p:spPr>
          <a:xfrm>
            <a:off x="6080760" y="1947672"/>
            <a:ext cx="2560320" cy="457200"/>
          </a:xfrm>
          <a:prstGeom prst="rect">
            <a:avLst/>
          </a:prstGeom>
          <a:noFill/>
          <a:ln/>
        </p:spPr>
        <p:txBody>
          <a:bodyPr wrap="square" lIns="0" tIns="0" rIns="0" bIns="0" rtlCol="0" anchor="ctr"/>
          <a:lstStyle/>
          <a:p>
            <a:pPr indent="0" marL="0">
              <a:buNone/>
            </a:pPr>
            <a:r>
              <a:rPr lang="en-US" sz="1100" dirty="0">
                <a:solidFill>
                  <a:srgbClr val="5C6F80"/>
                </a:solidFill>
                <a:latin typeface="Calibri" pitchFamily="34" charset="0"/>
                <a:ea typeface="Calibri" pitchFamily="34" charset="-122"/>
                <a:cs typeface="Calibri" pitchFamily="34" charset="-120"/>
              </a:rPr>
              <a:t>mecanicamente os condutores</a:t>
            </a:r>
            <a:endParaRPr lang="en-US" sz="1100" dirty="0"/>
          </a:p>
        </p:txBody>
      </p:sp>
      <p:sp>
        <p:nvSpPr>
          <p:cNvPr id="9" name="Shape 6"/>
          <p:cNvSpPr/>
          <p:nvPr/>
        </p:nvSpPr>
        <p:spPr>
          <a:xfrm>
            <a:off x="5486400" y="2624328"/>
            <a:ext cx="457200" cy="457200"/>
          </a:xfrm>
          <a:prstGeom prst="ellipse">
            <a:avLst/>
          </a:prstGeom>
          <a:solidFill>
            <a:srgbClr val="F5A54A"/>
          </a:solidFill>
          <a:ln w="12700">
            <a:solidFill>
              <a:srgbClr val="F5A54A"/>
            </a:solidFill>
            <a:prstDash val="solid"/>
          </a:ln>
        </p:spPr>
      </p:sp>
      <p:sp>
        <p:nvSpPr>
          <p:cNvPr id="10" name="Text 7"/>
          <p:cNvSpPr/>
          <p:nvPr/>
        </p:nvSpPr>
        <p:spPr>
          <a:xfrm>
            <a:off x="5486400" y="2624328"/>
            <a:ext cx="457200" cy="457200"/>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2</a:t>
            </a:r>
            <a:endParaRPr lang="en-US" sz="1200" dirty="0"/>
          </a:p>
        </p:txBody>
      </p:sp>
      <p:sp>
        <p:nvSpPr>
          <p:cNvPr id="11" name="Text 8"/>
          <p:cNvSpPr/>
          <p:nvPr/>
        </p:nvSpPr>
        <p:spPr>
          <a:xfrm>
            <a:off x="6080760" y="2587752"/>
            <a:ext cx="2560320" cy="292608"/>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Isola</a:t>
            </a:r>
            <a:endParaRPr lang="en-US" sz="1500" dirty="0"/>
          </a:p>
        </p:txBody>
      </p:sp>
      <p:sp>
        <p:nvSpPr>
          <p:cNvPr id="12" name="Text 9"/>
          <p:cNvSpPr/>
          <p:nvPr/>
        </p:nvSpPr>
        <p:spPr>
          <a:xfrm>
            <a:off x="6080760" y="2880360"/>
            <a:ext cx="2560320" cy="457200"/>
          </a:xfrm>
          <a:prstGeom prst="rect">
            <a:avLst/>
          </a:prstGeom>
          <a:noFill/>
          <a:ln/>
        </p:spPr>
        <p:txBody>
          <a:bodyPr wrap="square" lIns="0" tIns="0" rIns="0" bIns="0" rtlCol="0" anchor="ctr"/>
          <a:lstStyle/>
          <a:p>
            <a:pPr indent="0" marL="0">
              <a:buNone/>
            </a:pPr>
            <a:r>
              <a:rPr lang="en-US" sz="1100" dirty="0">
                <a:solidFill>
                  <a:srgbClr val="5C6F80"/>
                </a:solidFill>
                <a:latin typeface="Calibri" pitchFamily="34" charset="0"/>
                <a:ea typeface="Calibri" pitchFamily="34" charset="-122"/>
                <a:cs typeface="Calibri" pitchFamily="34" charset="-120"/>
              </a:rPr>
              <a:t>as partes energizadas das estruturas aterradas</a:t>
            </a:r>
            <a:endParaRPr lang="en-US" sz="1100" dirty="0"/>
          </a:p>
        </p:txBody>
      </p:sp>
      <p:sp>
        <p:nvSpPr>
          <p:cNvPr id="13" name="Shape 10"/>
          <p:cNvSpPr/>
          <p:nvPr/>
        </p:nvSpPr>
        <p:spPr>
          <a:xfrm>
            <a:off x="5486400" y="3557016"/>
            <a:ext cx="457200" cy="457200"/>
          </a:xfrm>
          <a:prstGeom prst="ellipse">
            <a:avLst/>
          </a:prstGeom>
          <a:solidFill>
            <a:srgbClr val="1C7293"/>
          </a:solidFill>
          <a:ln w="12700">
            <a:solidFill>
              <a:srgbClr val="1C7293"/>
            </a:solidFill>
            <a:prstDash val="solid"/>
          </a:ln>
        </p:spPr>
      </p:sp>
      <p:sp>
        <p:nvSpPr>
          <p:cNvPr id="14" name="Text 11"/>
          <p:cNvSpPr/>
          <p:nvPr/>
        </p:nvSpPr>
        <p:spPr>
          <a:xfrm>
            <a:off x="5486400" y="35570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2"/>
          <p:cNvSpPr/>
          <p:nvPr/>
        </p:nvSpPr>
        <p:spPr>
          <a:xfrm>
            <a:off x="6080760" y="3520440"/>
            <a:ext cx="2560320" cy="292608"/>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Fica exposto</a:t>
            </a:r>
            <a:endParaRPr lang="en-US" sz="1500" dirty="0"/>
          </a:p>
        </p:txBody>
      </p:sp>
      <p:sp>
        <p:nvSpPr>
          <p:cNvPr id="16" name="Text 13"/>
          <p:cNvSpPr/>
          <p:nvPr/>
        </p:nvSpPr>
        <p:spPr>
          <a:xfrm>
            <a:off x="6080760" y="3813048"/>
            <a:ext cx="2560320" cy="457200"/>
          </a:xfrm>
          <a:prstGeom prst="rect">
            <a:avLst/>
          </a:prstGeom>
          <a:noFill/>
          <a:ln/>
        </p:spPr>
        <p:txBody>
          <a:bodyPr wrap="square" lIns="0" tIns="0" rIns="0" bIns="0" rtlCol="0" anchor="ctr"/>
          <a:lstStyle/>
          <a:p>
            <a:pPr indent="0" marL="0">
              <a:buNone/>
            </a:pPr>
            <a:r>
              <a:rPr lang="en-US" sz="1100" dirty="0">
                <a:solidFill>
                  <a:srgbClr val="5C6F80"/>
                </a:solidFill>
                <a:latin typeface="Calibri" pitchFamily="34" charset="0"/>
                <a:ea typeface="Calibri" pitchFamily="34" charset="-122"/>
                <a:cs typeface="Calibri" pitchFamily="34" charset="-120"/>
              </a:rPr>
              <a:t>a temperatura, umidade, poluição e descargas atmosféricas</a:t>
            </a:r>
            <a:endParaRPr lang="en-US" sz="1100" dirty="0"/>
          </a:p>
        </p:txBody>
      </p:sp>
      <p:sp>
        <p:nvSpPr>
          <p:cNvPr id="17" name="Text 14"/>
          <p:cNvSpPr/>
          <p:nvPr/>
        </p:nvSpPr>
        <p:spPr>
          <a:xfrm>
            <a:off x="548640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8" name="Text 15"/>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Falhas que deixam marca na imagem</a:t>
            </a:r>
            <a:endParaRPr lang="en-US" sz="2800" dirty="0"/>
          </a:p>
        </p:txBody>
      </p:sp>
      <p:pic>
        <p:nvPicPr>
          <p:cNvPr id="4" name="Image 0" descr="preencoded.png">    </p:cNvPr>
          <p:cNvPicPr>
            <a:picLocks noChangeAspect="1"/>
          </p:cNvPicPr>
          <p:nvPr/>
        </p:nvPicPr>
        <p:blipFill>
          <a:blip r:embed="rId1"/>
          <a:stretch>
            <a:fillRect/>
          </a:stretch>
        </p:blipFill>
        <p:spPr>
          <a:xfrm>
            <a:off x="502920" y="1143000"/>
            <a:ext cx="2606040" cy="2606040"/>
          </a:xfrm>
          <a:prstGeom prst="rect">
            <a:avLst/>
          </a:prstGeom>
        </p:spPr>
      </p:pic>
      <p:sp>
        <p:nvSpPr>
          <p:cNvPr id="5" name="Text 2"/>
          <p:cNvSpPr/>
          <p:nvPr/>
        </p:nvSpPr>
        <p:spPr>
          <a:xfrm>
            <a:off x="502920" y="3840480"/>
            <a:ext cx="2606040" cy="274320"/>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Corrosão</a:t>
            </a:r>
            <a:endParaRPr lang="en-US" sz="1400" dirty="0"/>
          </a:p>
        </p:txBody>
      </p:sp>
      <p:sp>
        <p:nvSpPr>
          <p:cNvPr id="6" name="Text 3"/>
          <p:cNvSpPr/>
          <p:nvPr/>
        </p:nvSpPr>
        <p:spPr>
          <a:xfrm>
            <a:off x="502920" y="4114800"/>
            <a:ext cx="2606040" cy="274320"/>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Identificável em imagens de inspeção</a:t>
            </a:r>
            <a:endParaRPr lang="en-US" sz="1050" dirty="0"/>
          </a:p>
        </p:txBody>
      </p:sp>
      <p:pic>
        <p:nvPicPr>
          <p:cNvPr id="7" name="Image 1" descr="preencoded.png">    </p:cNvPr>
          <p:cNvPicPr>
            <a:picLocks noChangeAspect="1"/>
          </p:cNvPicPr>
          <p:nvPr/>
        </p:nvPicPr>
        <p:blipFill>
          <a:blip r:embed="rId2"/>
          <a:stretch>
            <a:fillRect/>
          </a:stretch>
        </p:blipFill>
        <p:spPr>
          <a:xfrm>
            <a:off x="3291840" y="1143000"/>
            <a:ext cx="2606040" cy="2606040"/>
          </a:xfrm>
          <a:prstGeom prst="rect">
            <a:avLst/>
          </a:prstGeom>
        </p:spPr>
      </p:pic>
      <p:sp>
        <p:nvSpPr>
          <p:cNvPr id="8" name="Text 4"/>
          <p:cNvSpPr/>
          <p:nvPr/>
        </p:nvSpPr>
        <p:spPr>
          <a:xfrm>
            <a:off x="3291840" y="3840480"/>
            <a:ext cx="2606040" cy="274320"/>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Contaminação superficial</a:t>
            </a:r>
            <a:endParaRPr lang="en-US" sz="1400" dirty="0"/>
          </a:p>
        </p:txBody>
      </p:sp>
      <p:sp>
        <p:nvSpPr>
          <p:cNvPr id="9" name="Text 5"/>
          <p:cNvSpPr/>
          <p:nvPr/>
        </p:nvSpPr>
        <p:spPr>
          <a:xfrm>
            <a:off x="3291840" y="4114800"/>
            <a:ext cx="2606040" cy="274320"/>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Relacionada aos flashovers por poluição</a:t>
            </a:r>
            <a:endParaRPr lang="en-US" sz="1050" dirty="0"/>
          </a:p>
        </p:txBody>
      </p:sp>
      <p:pic>
        <p:nvPicPr>
          <p:cNvPr id="10" name="Image 2" descr="preencoded.png">    </p:cNvPr>
          <p:cNvPicPr>
            <a:picLocks noChangeAspect="1"/>
          </p:cNvPicPr>
          <p:nvPr/>
        </p:nvPicPr>
        <p:blipFill>
          <a:blip r:embed="rId3"/>
          <a:stretch>
            <a:fillRect/>
          </a:stretch>
        </p:blipFill>
        <p:spPr>
          <a:xfrm>
            <a:off x="6080760" y="1143000"/>
            <a:ext cx="2606040" cy="2606040"/>
          </a:xfrm>
          <a:prstGeom prst="rect">
            <a:avLst/>
          </a:prstGeom>
        </p:spPr>
      </p:pic>
      <p:sp>
        <p:nvSpPr>
          <p:cNvPr id="11" name="Text 6"/>
          <p:cNvSpPr/>
          <p:nvPr/>
        </p:nvSpPr>
        <p:spPr>
          <a:xfrm>
            <a:off x="6080760" y="3840480"/>
            <a:ext cx="2606040" cy="274320"/>
          </a:xfrm>
          <a:prstGeom prst="rect">
            <a:avLst/>
          </a:prstGeom>
          <a:noFill/>
          <a:ln/>
        </p:spPr>
        <p:txBody>
          <a:bodyPr wrap="square" lIns="0" tIns="0" rIns="0" bIns="0" rtlCol="0" anchor="ctr"/>
          <a:lstStyle/>
          <a:p>
            <a:pPr indent="0" marL="0">
              <a:buNone/>
            </a:pPr>
            <a:r>
              <a:rPr lang="en-US" sz="1400" b="1" dirty="0">
                <a:solidFill>
                  <a:srgbClr val="F5A54A"/>
                </a:solidFill>
                <a:latin typeface="Calibri" pitchFamily="34" charset="0"/>
                <a:ea typeface="Calibri" pitchFamily="34" charset="-122"/>
                <a:cs typeface="Calibri" pitchFamily="34" charset="-120"/>
              </a:rPr>
              <a:t>Disco ausente e fraturas</a:t>
            </a:r>
            <a:endParaRPr lang="en-US" sz="1400" dirty="0"/>
          </a:p>
        </p:txBody>
      </p:sp>
      <p:sp>
        <p:nvSpPr>
          <p:cNvPr id="12" name="Text 7"/>
          <p:cNvSpPr/>
          <p:nvPr/>
        </p:nvSpPr>
        <p:spPr>
          <a:xfrm>
            <a:off x="6080760" y="4114800"/>
            <a:ext cx="2606040" cy="274320"/>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Comprometem a rigidez dielétrica da cadeia</a:t>
            </a:r>
            <a:endParaRPr lang="en-US" sz="1050" dirty="0"/>
          </a:p>
        </p:txBody>
      </p:sp>
      <p:sp>
        <p:nvSpPr>
          <p:cNvPr id="13" name="Text 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4" name="Text 9"/>
          <p:cNvSpPr/>
          <p:nvPr/>
        </p:nvSpPr>
        <p:spPr>
          <a:xfrm>
            <a:off x="2743200" y="4759452"/>
            <a:ext cx="5303520" cy="228600"/>
          </a:xfrm>
          <a:prstGeom prst="rect">
            <a:avLst/>
          </a:prstGeom>
          <a:noFill/>
          <a:ln/>
        </p:spPr>
        <p:txBody>
          <a:bodyPr wrap="square" lIns="0" tIns="0" rIns="0" bIns="0" rtlCol="0" anchor="ctr"/>
          <a:lstStyle/>
          <a:p>
            <a:pPr algn="r" indent="0" marL="0">
              <a:buNone/>
            </a:pPr>
            <a:r>
              <a:rPr lang="en-US" sz="750" i="1" dirty="0">
                <a:solidFill>
                  <a:srgbClr val="5C6F80"/>
                </a:solidFill>
                <a:latin typeface="Calibri" pitchFamily="34" charset="0"/>
                <a:ea typeface="Calibri" pitchFamily="34" charset="-122"/>
                <a:cs typeface="Calibri" pitchFamily="34" charset="-120"/>
              </a:rPr>
              <a:t>Fotos ilustrativas de cadeias de isoladores</a:t>
            </a:r>
            <a:endParaRPr lang="en-US" sz="750" dirty="0"/>
          </a:p>
        </p:txBody>
      </p:sp>
      <p:sp>
        <p:nvSpPr>
          <p:cNvPr id="15"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806440" y="1188720"/>
            <a:ext cx="2834640" cy="2834640"/>
          </a:xfrm>
          <a:prstGeom prst="rect">
            <a:avLst/>
          </a:prstGeom>
        </p:spPr>
      </p:pic>
      <p:sp>
        <p:nvSpPr>
          <p:cNvPr id="3" name="Text 0"/>
          <p:cNvSpPr/>
          <p:nvPr/>
        </p:nvSpPr>
        <p:spPr>
          <a:xfrm>
            <a:off x="502920" y="274320"/>
            <a:ext cx="512064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CONTEXTO ELÉTRICO</a:t>
            </a:r>
            <a:endParaRPr lang="en-US" sz="1050" dirty="0"/>
          </a:p>
        </p:txBody>
      </p:sp>
      <p:sp>
        <p:nvSpPr>
          <p:cNvPr id="4" name="Text 1"/>
          <p:cNvSpPr/>
          <p:nvPr/>
        </p:nvSpPr>
        <p:spPr>
          <a:xfrm>
            <a:off x="502920" y="512064"/>
            <a:ext cx="5120640" cy="91440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Detectar cedo protege o sistema elétrico</a:t>
            </a:r>
            <a:endParaRPr lang="en-US" sz="2600" dirty="0"/>
          </a:p>
        </p:txBody>
      </p:sp>
      <p:sp>
        <p:nvSpPr>
          <p:cNvPr id="5" name="Shape 2"/>
          <p:cNvSpPr/>
          <p:nvPr/>
        </p:nvSpPr>
        <p:spPr>
          <a:xfrm>
            <a:off x="502920" y="1554480"/>
            <a:ext cx="5074920" cy="694944"/>
          </a:xfrm>
          <a:prstGeom prst="roundRect">
            <a:avLst>
              <a:gd name="adj" fmla="val 9211"/>
            </a:avLst>
          </a:prstGeom>
          <a:solidFill>
            <a:srgbClr val="1C3550"/>
          </a:solidFill>
          <a:ln w="9525">
            <a:solidFill>
              <a:srgbClr val="1C3550"/>
            </a:solidFill>
            <a:prstDash val="solid"/>
          </a:ln>
        </p:spPr>
      </p:sp>
      <p:sp>
        <p:nvSpPr>
          <p:cNvPr id="6" name="Shape 3"/>
          <p:cNvSpPr/>
          <p:nvPr/>
        </p:nvSpPr>
        <p:spPr>
          <a:xfrm>
            <a:off x="667512" y="1700784"/>
            <a:ext cx="402336" cy="402336"/>
          </a:xfrm>
          <a:prstGeom prst="ellipse">
            <a:avLst/>
          </a:prstGeom>
          <a:solidFill>
            <a:srgbClr val="F5A54A"/>
          </a:solidFill>
          <a:ln w="12700">
            <a:solidFill>
              <a:srgbClr val="F5A54A"/>
            </a:solidFill>
            <a:prstDash val="solid"/>
          </a:ln>
        </p:spPr>
      </p:sp>
      <p:sp>
        <p:nvSpPr>
          <p:cNvPr id="7" name="Text 4"/>
          <p:cNvSpPr/>
          <p:nvPr/>
        </p:nvSpPr>
        <p:spPr>
          <a:xfrm>
            <a:off x="667512" y="1700784"/>
            <a:ext cx="402336" cy="402336"/>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1</a:t>
            </a:r>
            <a:endParaRPr lang="en-US" sz="1200" dirty="0"/>
          </a:p>
        </p:txBody>
      </p:sp>
      <p:sp>
        <p:nvSpPr>
          <p:cNvPr id="8" name="Text 5"/>
          <p:cNvSpPr/>
          <p:nvPr/>
        </p:nvSpPr>
        <p:spPr>
          <a:xfrm>
            <a:off x="1234440" y="1609344"/>
            <a:ext cx="4206240" cy="585216"/>
          </a:xfrm>
          <a:prstGeom prst="rect">
            <a:avLst/>
          </a:prstGeom>
          <a:noFill/>
          <a:ln/>
        </p:spPr>
        <p:txBody>
          <a:bodyPr wrap="square" lIns="0" tIns="0" rIns="0" bIns="0" rtlCol="0" anchor="ctr"/>
          <a:lstStyle/>
          <a:p>
            <a:pPr indent="0" marL="0">
              <a:buNone/>
            </a:pPr>
            <a:r>
              <a:rPr lang="en-US" sz="1250" b="1" dirty="0">
                <a:solidFill>
                  <a:srgbClr val="F5A54A"/>
                </a:solidFill>
                <a:latin typeface="Calibri" pitchFamily="34" charset="0"/>
                <a:ea typeface="Calibri" pitchFamily="34" charset="-122"/>
                <a:cs typeface="Calibri" pitchFamily="34" charset="-120"/>
              </a:rPr>
              <a:t>Continuidade</a:t>
            </a: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Evita interrupções no fornecimento de energia</a:t>
            </a:r>
            <a:endParaRPr lang="en-US" sz="1250" dirty="0"/>
          </a:p>
        </p:txBody>
      </p:sp>
      <p:sp>
        <p:nvSpPr>
          <p:cNvPr id="9" name="Shape 6"/>
          <p:cNvSpPr/>
          <p:nvPr/>
        </p:nvSpPr>
        <p:spPr>
          <a:xfrm>
            <a:off x="502920" y="2377440"/>
            <a:ext cx="5074920" cy="694944"/>
          </a:xfrm>
          <a:prstGeom prst="roundRect">
            <a:avLst>
              <a:gd name="adj" fmla="val 9211"/>
            </a:avLst>
          </a:prstGeom>
          <a:solidFill>
            <a:srgbClr val="1C3550"/>
          </a:solidFill>
          <a:ln w="9525">
            <a:solidFill>
              <a:srgbClr val="1C3550"/>
            </a:solidFill>
            <a:prstDash val="solid"/>
          </a:ln>
        </p:spPr>
      </p:sp>
      <p:sp>
        <p:nvSpPr>
          <p:cNvPr id="10" name="Shape 7"/>
          <p:cNvSpPr/>
          <p:nvPr/>
        </p:nvSpPr>
        <p:spPr>
          <a:xfrm>
            <a:off x="667512" y="2523744"/>
            <a:ext cx="402336" cy="402336"/>
          </a:xfrm>
          <a:prstGeom prst="ellipse">
            <a:avLst/>
          </a:prstGeom>
          <a:solidFill>
            <a:srgbClr val="F5A54A"/>
          </a:solidFill>
          <a:ln w="12700">
            <a:solidFill>
              <a:srgbClr val="F5A54A"/>
            </a:solidFill>
            <a:prstDash val="solid"/>
          </a:ln>
        </p:spPr>
      </p:sp>
      <p:sp>
        <p:nvSpPr>
          <p:cNvPr id="11" name="Text 8"/>
          <p:cNvSpPr/>
          <p:nvPr/>
        </p:nvSpPr>
        <p:spPr>
          <a:xfrm>
            <a:off x="667512" y="2523744"/>
            <a:ext cx="402336" cy="402336"/>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2</a:t>
            </a:r>
            <a:endParaRPr lang="en-US" sz="1200" dirty="0"/>
          </a:p>
        </p:txBody>
      </p:sp>
      <p:sp>
        <p:nvSpPr>
          <p:cNvPr id="12" name="Text 9"/>
          <p:cNvSpPr/>
          <p:nvPr/>
        </p:nvSpPr>
        <p:spPr>
          <a:xfrm>
            <a:off x="1234440" y="2432304"/>
            <a:ext cx="4206240" cy="585216"/>
          </a:xfrm>
          <a:prstGeom prst="rect">
            <a:avLst/>
          </a:prstGeom>
          <a:noFill/>
          <a:ln/>
        </p:spPr>
        <p:txBody>
          <a:bodyPr wrap="square" lIns="0" tIns="0" rIns="0" bIns="0" rtlCol="0" anchor="ctr"/>
          <a:lstStyle/>
          <a:p>
            <a:pPr indent="0" marL="0">
              <a:buNone/>
            </a:pPr>
            <a:r>
              <a:rPr lang="en-US" sz="1250" b="1" dirty="0">
                <a:solidFill>
                  <a:srgbClr val="F5A54A"/>
                </a:solidFill>
                <a:latin typeface="Calibri" pitchFamily="34" charset="0"/>
                <a:ea typeface="Calibri" pitchFamily="34" charset="-122"/>
                <a:cs typeface="Calibri" pitchFamily="34" charset="-120"/>
              </a:rPr>
              <a:t>Custo</a:t>
            </a: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Reduz os custos de manutenção</a:t>
            </a:r>
            <a:endParaRPr lang="en-US" sz="1250" dirty="0"/>
          </a:p>
        </p:txBody>
      </p:sp>
      <p:sp>
        <p:nvSpPr>
          <p:cNvPr id="13" name="Shape 10"/>
          <p:cNvSpPr/>
          <p:nvPr/>
        </p:nvSpPr>
        <p:spPr>
          <a:xfrm>
            <a:off x="502920" y="3200400"/>
            <a:ext cx="5074920" cy="694944"/>
          </a:xfrm>
          <a:prstGeom prst="roundRect">
            <a:avLst>
              <a:gd name="adj" fmla="val 9211"/>
            </a:avLst>
          </a:prstGeom>
          <a:solidFill>
            <a:srgbClr val="1C3550"/>
          </a:solidFill>
          <a:ln w="9525">
            <a:solidFill>
              <a:srgbClr val="1C3550"/>
            </a:solidFill>
            <a:prstDash val="solid"/>
          </a:ln>
        </p:spPr>
      </p:sp>
      <p:sp>
        <p:nvSpPr>
          <p:cNvPr id="14" name="Shape 11"/>
          <p:cNvSpPr/>
          <p:nvPr/>
        </p:nvSpPr>
        <p:spPr>
          <a:xfrm>
            <a:off x="667512" y="3346704"/>
            <a:ext cx="402336" cy="402336"/>
          </a:xfrm>
          <a:prstGeom prst="ellipse">
            <a:avLst/>
          </a:prstGeom>
          <a:solidFill>
            <a:srgbClr val="F5A54A"/>
          </a:solidFill>
          <a:ln w="12700">
            <a:solidFill>
              <a:srgbClr val="F5A54A"/>
            </a:solidFill>
            <a:prstDash val="solid"/>
          </a:ln>
        </p:spPr>
      </p:sp>
      <p:sp>
        <p:nvSpPr>
          <p:cNvPr id="15" name="Text 12"/>
          <p:cNvSpPr/>
          <p:nvPr/>
        </p:nvSpPr>
        <p:spPr>
          <a:xfrm>
            <a:off x="667512" y="3346704"/>
            <a:ext cx="402336" cy="402336"/>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3</a:t>
            </a:r>
            <a:endParaRPr lang="en-US" sz="1200" dirty="0"/>
          </a:p>
        </p:txBody>
      </p:sp>
      <p:sp>
        <p:nvSpPr>
          <p:cNvPr id="16" name="Text 13"/>
          <p:cNvSpPr/>
          <p:nvPr/>
        </p:nvSpPr>
        <p:spPr>
          <a:xfrm>
            <a:off x="1234440" y="3255264"/>
            <a:ext cx="4206240" cy="585216"/>
          </a:xfrm>
          <a:prstGeom prst="rect">
            <a:avLst/>
          </a:prstGeom>
          <a:noFill/>
          <a:ln/>
        </p:spPr>
        <p:txBody>
          <a:bodyPr wrap="square" lIns="0" tIns="0" rIns="0" bIns="0" rtlCol="0" anchor="ctr"/>
          <a:lstStyle/>
          <a:p>
            <a:pPr indent="0" marL="0">
              <a:buNone/>
            </a:pPr>
            <a:r>
              <a:rPr lang="en-US" sz="1250" b="1" dirty="0">
                <a:solidFill>
                  <a:srgbClr val="F5A54A"/>
                </a:solidFill>
                <a:latin typeface="Calibri" pitchFamily="34" charset="0"/>
                <a:ea typeface="Calibri" pitchFamily="34" charset="-122"/>
                <a:cs typeface="Calibri" pitchFamily="34" charset="-120"/>
              </a:rPr>
              <a:t>Segurança</a:t>
            </a: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Previne riscos às instalações e às pessoas</a:t>
            </a:r>
            <a:endParaRPr lang="en-US" sz="1250" dirty="0"/>
          </a:p>
        </p:txBody>
      </p:sp>
      <p:sp>
        <p:nvSpPr>
          <p:cNvPr id="17" name="Text 14"/>
          <p:cNvSpPr/>
          <p:nvPr/>
        </p:nvSpPr>
        <p:spPr>
          <a:xfrm>
            <a:off x="502920" y="4114800"/>
            <a:ext cx="5120640" cy="365760"/>
          </a:xfrm>
          <a:prstGeom prst="rect">
            <a:avLst/>
          </a:prstGeom>
          <a:noFill/>
          <a:ln/>
        </p:spPr>
        <p:txBody>
          <a:bodyPr wrap="square" lIns="0" tIns="0" rIns="0" bIns="0" rtlCol="0" anchor="ctr"/>
          <a:lstStyle/>
          <a:p>
            <a:pPr indent="0" marL="0">
              <a:buNone/>
            </a:pPr>
            <a:r>
              <a:rPr lang="en-US" sz="1400" b="1" i="1" dirty="0">
                <a:solidFill>
                  <a:srgbClr val="FFFFFF"/>
                </a:solidFill>
                <a:latin typeface="Cambria" pitchFamily="34" charset="0"/>
                <a:ea typeface="Cambria" pitchFamily="34" charset="-122"/>
                <a:cs typeface="Cambria" pitchFamily="34" charset="-120"/>
              </a:rPr>
              <a:t>Falhas não detectadas podem ter consequências graves.</a:t>
            </a:r>
            <a:endParaRPr lang="en-US" sz="1400" dirty="0"/>
          </a:p>
        </p:txBody>
      </p:sp>
      <p:sp>
        <p:nvSpPr>
          <p:cNvPr id="18" name="Text 15"/>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Contexto elétrico</a:t>
            </a:r>
            <a:endParaRPr lang="en-US" sz="900" dirty="0"/>
          </a:p>
        </p:txBody>
      </p:sp>
      <p:sp>
        <p:nvSpPr>
          <p:cNvPr id="19" name="Text 16"/>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Da inspeção manual à inspeção automatizada</a:t>
            </a:r>
            <a:endParaRPr lang="en-US" sz="2800" dirty="0"/>
          </a:p>
        </p:txBody>
      </p:sp>
      <p:pic>
        <p:nvPicPr>
          <p:cNvPr id="4" name="Image 0" descr="preencoded.png">    </p:cNvPr>
          <p:cNvPicPr>
            <a:picLocks noChangeAspect="1"/>
          </p:cNvPicPr>
          <p:nvPr/>
        </p:nvPicPr>
        <p:blipFill>
          <a:blip r:embed="rId1"/>
          <a:stretch>
            <a:fillRect/>
          </a:stretch>
        </p:blipFill>
        <p:spPr>
          <a:xfrm>
            <a:off x="502920" y="1325880"/>
            <a:ext cx="3931920" cy="2134471"/>
          </a:xfrm>
          <a:prstGeom prst="rect">
            <a:avLst/>
          </a:prstGeom>
        </p:spPr>
      </p:pic>
      <p:sp>
        <p:nvSpPr>
          <p:cNvPr id="5" name="Text 2"/>
          <p:cNvSpPr/>
          <p:nvPr/>
        </p:nvSpPr>
        <p:spPr>
          <a:xfrm>
            <a:off x="502920" y="3611880"/>
            <a:ext cx="3840480" cy="411480"/>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Imagens capturadas por drones facilitam a inspeção de grandes extensões de linhas.</a:t>
            </a:r>
            <a:endParaRPr lang="en-US" sz="950" dirty="0"/>
          </a:p>
        </p:txBody>
      </p:sp>
      <p:sp>
        <p:nvSpPr>
          <p:cNvPr id="6" name="Shape 3"/>
          <p:cNvSpPr/>
          <p:nvPr/>
        </p:nvSpPr>
        <p:spPr>
          <a:xfrm>
            <a:off x="4709160" y="1188720"/>
            <a:ext cx="3931920" cy="1481328"/>
          </a:xfrm>
          <a:prstGeom prst="roundRect">
            <a:avLst>
              <a:gd name="adj" fmla="val 4321"/>
            </a:avLst>
          </a:prstGeom>
          <a:solidFill>
            <a:srgbClr val="F1F4F7"/>
          </a:solidFill>
          <a:ln w="9525">
            <a:solidFill>
              <a:srgbClr val="E4EAF0"/>
            </a:solidFill>
            <a:prstDash val="solid"/>
          </a:ln>
        </p:spPr>
      </p:sp>
      <p:sp>
        <p:nvSpPr>
          <p:cNvPr id="7" name="Text 4"/>
          <p:cNvSpPr/>
          <p:nvPr/>
        </p:nvSpPr>
        <p:spPr>
          <a:xfrm>
            <a:off x="4919472" y="1280160"/>
            <a:ext cx="3566160" cy="274320"/>
          </a:xfrm>
          <a:prstGeom prst="rect">
            <a:avLst/>
          </a:prstGeom>
          <a:noFill/>
          <a:ln/>
        </p:spPr>
        <p:txBody>
          <a:bodyPr wrap="square" lIns="0" tIns="0" rIns="0" bIns="0" rtlCol="0" anchor="ctr"/>
          <a:lstStyle/>
          <a:p>
            <a:pPr indent="0" marL="0">
              <a:buNone/>
            </a:pPr>
            <a:r>
              <a:rPr lang="en-US" sz="1350" b="1" dirty="0">
                <a:solidFill>
                  <a:srgbClr val="5C6F80"/>
                </a:solidFill>
                <a:latin typeface="Calibri" pitchFamily="34" charset="0"/>
                <a:ea typeface="Calibri" pitchFamily="34" charset="-122"/>
                <a:cs typeface="Calibri" pitchFamily="34" charset="-120"/>
              </a:rPr>
              <a:t>Inspeção visual e manual</a:t>
            </a:r>
            <a:endParaRPr lang="en-US" sz="1350" dirty="0"/>
          </a:p>
        </p:txBody>
      </p:sp>
      <p:sp>
        <p:nvSpPr>
          <p:cNvPr id="8" name="Text 5"/>
          <p:cNvSpPr/>
          <p:nvPr/>
        </p:nvSpPr>
        <p:spPr>
          <a:xfrm>
            <a:off x="4937760" y="1609344"/>
            <a:ext cx="3566160" cy="100584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Lenta e custosa</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Sujeita à subjetividade e a erros humanos</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Feita por equipes especializadas</a:t>
            </a:r>
            <a:endParaRPr lang="en-US" sz="1150" dirty="0"/>
          </a:p>
        </p:txBody>
      </p:sp>
      <p:sp>
        <p:nvSpPr>
          <p:cNvPr id="9" name="Shape 6"/>
          <p:cNvSpPr/>
          <p:nvPr/>
        </p:nvSpPr>
        <p:spPr>
          <a:xfrm>
            <a:off x="4709160" y="2834640"/>
            <a:ext cx="3931920" cy="1645920"/>
          </a:xfrm>
          <a:prstGeom prst="roundRect">
            <a:avLst>
              <a:gd name="adj" fmla="val 3889"/>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4919472" y="2926080"/>
            <a:ext cx="3566160" cy="274320"/>
          </a:xfrm>
          <a:prstGeom prst="rect">
            <a:avLst/>
          </a:prstGeom>
          <a:noFill/>
          <a:ln/>
        </p:spPr>
        <p:txBody>
          <a:bodyPr wrap="square" lIns="0" tIns="0" rIns="0" bIns="0" rtlCol="0" anchor="ctr"/>
          <a:lstStyle/>
          <a:p>
            <a:pPr indent="0" marL="0">
              <a:buNone/>
            </a:pPr>
            <a:r>
              <a:rPr lang="en-US" sz="1350" b="1" dirty="0">
                <a:solidFill>
                  <a:srgbClr val="F5A54A"/>
                </a:solidFill>
                <a:latin typeface="Calibri" pitchFamily="34" charset="0"/>
                <a:ea typeface="Calibri" pitchFamily="34" charset="-122"/>
                <a:cs typeface="Calibri" pitchFamily="34" charset="-120"/>
              </a:rPr>
              <a:t>Inspeção por imagem com IA</a:t>
            </a:r>
            <a:endParaRPr lang="en-US" sz="1350" dirty="0"/>
          </a:p>
        </p:txBody>
      </p:sp>
      <p:sp>
        <p:nvSpPr>
          <p:cNvPr id="11" name="Text 8"/>
          <p:cNvSpPr/>
          <p:nvPr/>
        </p:nvSpPr>
        <p:spPr>
          <a:xfrm>
            <a:off x="4937760" y="3255264"/>
            <a:ext cx="3566160" cy="11887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FFFFFF"/>
                </a:solidFill>
                <a:latin typeface="Calibri" pitchFamily="34" charset="0"/>
                <a:ea typeface="Calibri" pitchFamily="34" charset="-122"/>
                <a:cs typeface="Calibri" pitchFamily="34" charset="-120"/>
              </a:rPr>
              <a:t>Mais rápida, econômica e reprodutível</a:t>
            </a:r>
            <a:endParaRPr lang="en-US" sz="1150" dirty="0"/>
          </a:p>
          <a:p>
            <a:pPr marL="342900" indent="-342900">
              <a:spcAft>
                <a:spcPts val="300"/>
              </a:spcAft>
              <a:buSzPct val="100000"/>
              <a:buChar char="•"/>
            </a:pPr>
            <a:r>
              <a:rPr lang="en-US" sz="1150" dirty="0">
                <a:solidFill>
                  <a:srgbClr val="FFFFFF"/>
                </a:solidFill>
                <a:latin typeface="Calibri" pitchFamily="34" charset="0"/>
                <a:ea typeface="Calibri" pitchFamily="34" charset="-122"/>
                <a:cs typeface="Calibri" pitchFamily="34" charset="-120"/>
              </a:rPr>
              <a:t>Evita intervenções manuais em locais de difícil acesso</a:t>
            </a:r>
            <a:endParaRPr lang="en-US" sz="1150" dirty="0"/>
          </a:p>
          <a:p>
            <a:pPr marL="342900" indent="-342900">
              <a:spcAft>
                <a:spcPts val="300"/>
              </a:spcAft>
              <a:buSzPct val="100000"/>
              <a:buChar char="•"/>
            </a:pPr>
            <a:r>
              <a:rPr lang="en-US" sz="1150" dirty="0">
                <a:solidFill>
                  <a:srgbClr val="FFFFFF"/>
                </a:solidFill>
                <a:latin typeface="Calibri" pitchFamily="34" charset="0"/>
                <a:ea typeface="Calibri" pitchFamily="34" charset="-122"/>
                <a:cs typeface="Calibri" pitchFamily="34" charset="-120"/>
              </a:rPr>
              <a:t>Reconhece padrões de falha em condições adversas</a:t>
            </a:r>
            <a:endParaRPr lang="en-US" sz="1150" dirty="0"/>
          </a:p>
        </p:txBody>
      </p:sp>
      <p:sp>
        <p:nvSpPr>
          <p:cNvPr id="12" name="Text 9"/>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3"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desafio: muitas imagens e fundos complexos</a:t>
            </a:r>
            <a:endParaRPr lang="en-US" sz="2800" dirty="0"/>
          </a:p>
        </p:txBody>
      </p:sp>
      <p:pic>
        <p:nvPicPr>
          <p:cNvPr id="4" name="Image 0" descr="preencoded.png">    </p:cNvPr>
          <p:cNvPicPr>
            <a:picLocks noChangeAspect="1"/>
          </p:cNvPicPr>
          <p:nvPr/>
        </p:nvPicPr>
        <p:blipFill>
          <a:blip r:embed="rId1"/>
          <a:stretch>
            <a:fillRect/>
          </a:stretch>
        </p:blipFill>
        <p:spPr>
          <a:xfrm>
            <a:off x="502920" y="1188720"/>
            <a:ext cx="4983480" cy="2501910"/>
          </a:xfrm>
          <a:prstGeom prst="rect">
            <a:avLst/>
          </a:prstGeom>
        </p:spPr>
      </p:pic>
      <p:sp>
        <p:nvSpPr>
          <p:cNvPr id="5" name="Text 2"/>
          <p:cNvSpPr/>
          <p:nvPr/>
        </p:nvSpPr>
        <p:spPr>
          <a:xfrm>
            <a:off x="502920" y="3749040"/>
            <a:ext cx="4983480" cy="219456"/>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Imagens ilustrativas de inspeção de cadeias de isoladores</a:t>
            </a:r>
            <a:endParaRPr lang="en-US" sz="950" dirty="0"/>
          </a:p>
        </p:txBody>
      </p:sp>
      <p:sp>
        <p:nvSpPr>
          <p:cNvPr id="6" name="Shape 3"/>
          <p:cNvSpPr/>
          <p:nvPr/>
        </p:nvSpPr>
        <p:spPr>
          <a:xfrm>
            <a:off x="5760720" y="1188720"/>
            <a:ext cx="2880360" cy="749808"/>
          </a:xfrm>
          <a:prstGeom prst="roundRect">
            <a:avLst>
              <a:gd name="adj" fmla="val 8537"/>
            </a:avLst>
          </a:prstGeom>
          <a:solidFill>
            <a:srgbClr val="F1F4F7"/>
          </a:solidFill>
          <a:ln w="9525">
            <a:solidFill>
              <a:srgbClr val="E4EAF0"/>
            </a:solidFill>
            <a:prstDash val="solid"/>
          </a:ln>
        </p:spPr>
      </p:sp>
      <p:sp>
        <p:nvSpPr>
          <p:cNvPr id="7" name="Text 4"/>
          <p:cNvSpPr/>
          <p:nvPr/>
        </p:nvSpPr>
        <p:spPr>
          <a:xfrm>
            <a:off x="5925312" y="1234440"/>
            <a:ext cx="2606040" cy="658368"/>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Alto volume de dados</a:t>
            </a:r>
            <a:endParaRPr lang="en-US" sz="1250" dirty="0"/>
          </a:p>
          <a:p>
            <a:pPr indent="0" marL="0">
              <a:buNone/>
            </a:pPr>
            <a:r>
              <a:rPr lang="en-US" sz="1050" dirty="0">
                <a:solidFill>
                  <a:srgbClr val="1B2A3A"/>
                </a:solidFill>
                <a:latin typeface="Calibri" pitchFamily="34" charset="0"/>
                <a:ea typeface="Calibri" pitchFamily="34" charset="-122"/>
                <a:cs typeface="Calibri" pitchFamily="34" charset="-120"/>
              </a:rPr>
              <a:t>Torna a inspeção manual ineficaz</a:t>
            </a:r>
            <a:endParaRPr lang="en-US" sz="1250" dirty="0"/>
          </a:p>
        </p:txBody>
      </p:sp>
      <p:sp>
        <p:nvSpPr>
          <p:cNvPr id="8" name="Shape 5"/>
          <p:cNvSpPr/>
          <p:nvPr/>
        </p:nvSpPr>
        <p:spPr>
          <a:xfrm>
            <a:off x="5760720" y="2057400"/>
            <a:ext cx="2880360" cy="749808"/>
          </a:xfrm>
          <a:prstGeom prst="roundRect">
            <a:avLst>
              <a:gd name="adj" fmla="val 8537"/>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9" name="Text 6"/>
          <p:cNvSpPr/>
          <p:nvPr/>
        </p:nvSpPr>
        <p:spPr>
          <a:xfrm>
            <a:off x="5925312" y="2103120"/>
            <a:ext cx="2606040" cy="658368"/>
          </a:xfrm>
          <a:prstGeom prst="rect">
            <a:avLst/>
          </a:prstGeom>
          <a:noFill/>
          <a:ln/>
        </p:spPr>
        <p:txBody>
          <a:bodyPr wrap="square" lIns="0" tIns="0" rIns="0" bIns="0" rtlCol="0" anchor="ctr"/>
          <a:lstStyle/>
          <a:p>
            <a:pPr indent="0" marL="0">
              <a:buNone/>
            </a:pPr>
            <a:r>
              <a:rPr lang="en-US" sz="1250" b="1" dirty="0">
                <a:solidFill>
                  <a:srgbClr val="F5A54A"/>
                </a:solidFill>
                <a:latin typeface="Calibri" pitchFamily="34" charset="0"/>
                <a:ea typeface="Calibri" pitchFamily="34" charset="-122"/>
                <a:cs typeface="Calibri" pitchFamily="34" charset="-120"/>
              </a:rPr>
              <a:t>Fundos complexos</a:t>
            </a:r>
            <a:endParaRPr lang="en-US" sz="1250" dirty="0"/>
          </a:p>
          <a:p>
            <a:pPr indent="0" marL="0">
              <a:buNone/>
            </a:pPr>
            <a:r>
              <a:rPr lang="en-US" sz="1050" dirty="0">
                <a:solidFill>
                  <a:srgbClr val="FFFFFF"/>
                </a:solidFill>
                <a:latin typeface="Calibri" pitchFamily="34" charset="0"/>
                <a:ea typeface="Calibri" pitchFamily="34" charset="-122"/>
                <a:cs typeface="Calibri" pitchFamily="34" charset="-120"/>
              </a:rPr>
              <a:t>Vegetação, rios e ocupação urbana ao redor do isolador</a:t>
            </a:r>
            <a:endParaRPr lang="en-US" sz="1250" dirty="0"/>
          </a:p>
        </p:txBody>
      </p:sp>
      <p:sp>
        <p:nvSpPr>
          <p:cNvPr id="10" name="Shape 7"/>
          <p:cNvSpPr/>
          <p:nvPr/>
        </p:nvSpPr>
        <p:spPr>
          <a:xfrm>
            <a:off x="5760720" y="2926080"/>
            <a:ext cx="2880360" cy="749808"/>
          </a:xfrm>
          <a:prstGeom prst="roundRect">
            <a:avLst>
              <a:gd name="adj" fmla="val 8537"/>
            </a:avLst>
          </a:prstGeom>
          <a:solidFill>
            <a:srgbClr val="F1F4F7"/>
          </a:solidFill>
          <a:ln w="9525">
            <a:solidFill>
              <a:srgbClr val="E4EAF0"/>
            </a:solidFill>
            <a:prstDash val="solid"/>
          </a:ln>
        </p:spPr>
      </p:sp>
      <p:sp>
        <p:nvSpPr>
          <p:cNvPr id="11" name="Text 8"/>
          <p:cNvSpPr/>
          <p:nvPr/>
        </p:nvSpPr>
        <p:spPr>
          <a:xfrm>
            <a:off x="5925312" y="2971800"/>
            <a:ext cx="2606040" cy="658368"/>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Anotação manual</a:t>
            </a:r>
            <a:endParaRPr lang="en-US" sz="1250" dirty="0"/>
          </a:p>
          <a:p>
            <a:pPr indent="0" marL="0">
              <a:buNone/>
            </a:pPr>
            <a:r>
              <a:rPr lang="en-US" sz="1050" dirty="0">
                <a:solidFill>
                  <a:srgbClr val="1B2A3A"/>
                </a:solidFill>
                <a:latin typeface="Calibri" pitchFamily="34" charset="0"/>
                <a:ea typeface="Calibri" pitchFamily="34" charset="-122"/>
                <a:cs typeface="Calibri" pitchFamily="34" charset="-120"/>
              </a:rPr>
              <a:t>Demorada e propensa a erros</a:t>
            </a:r>
            <a:endParaRPr lang="en-US" sz="1250" dirty="0"/>
          </a:p>
        </p:txBody>
      </p:sp>
      <p:sp>
        <p:nvSpPr>
          <p:cNvPr id="12" name="Text 9"/>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3"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PROPOSTA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A IA depende da imagem que recebe</a:t>
            </a:r>
            <a:endParaRPr lang="en-US" sz="2800" dirty="0"/>
          </a:p>
        </p:txBody>
      </p:sp>
      <p:pic>
        <p:nvPicPr>
          <p:cNvPr id="4" name="Image 0" descr="preencoded.png">    </p:cNvPr>
          <p:cNvPicPr>
            <a:picLocks noChangeAspect="1"/>
          </p:cNvPicPr>
          <p:nvPr/>
        </p:nvPicPr>
        <p:blipFill>
          <a:blip r:embed="rId1"/>
          <a:stretch>
            <a:fillRect/>
          </a:stretch>
        </p:blipFill>
        <p:spPr>
          <a:xfrm>
            <a:off x="502920" y="1280160"/>
            <a:ext cx="1783080" cy="1337310"/>
          </a:xfrm>
          <a:prstGeom prst="rect">
            <a:avLst/>
          </a:prstGeom>
        </p:spPr>
      </p:pic>
      <p:sp>
        <p:nvSpPr>
          <p:cNvPr id="5" name="Text 2"/>
          <p:cNvSpPr/>
          <p:nvPr/>
        </p:nvSpPr>
        <p:spPr>
          <a:xfrm>
            <a:off x="502920" y="2743200"/>
            <a:ext cx="1783080" cy="274320"/>
          </a:xfrm>
          <a:prstGeom prst="rect">
            <a:avLst/>
          </a:prstGeom>
          <a:noFill/>
          <a:ln/>
        </p:spPr>
        <p:txBody>
          <a:bodyPr wrap="square" lIns="0" tIns="0" rIns="0" bIns="0" rtlCol="0" anchor="ctr"/>
          <a:lstStyle/>
          <a:p>
            <a:pPr algn="ctr" indent="0" marL="0">
              <a:buNone/>
            </a:pPr>
            <a:r>
              <a:rPr lang="en-US" sz="1300" b="1" dirty="0">
                <a:solidFill>
                  <a:srgbClr val="1B2A3A"/>
                </a:solidFill>
                <a:latin typeface="Calibri" pitchFamily="34" charset="0"/>
                <a:ea typeface="Calibri" pitchFamily="34" charset="-122"/>
                <a:cs typeface="Calibri" pitchFamily="34" charset="-120"/>
              </a:rPr>
              <a:t>Aquisição</a:t>
            </a:r>
            <a:endParaRPr lang="en-US" sz="1300" dirty="0"/>
          </a:p>
        </p:txBody>
      </p:sp>
      <p:sp>
        <p:nvSpPr>
          <p:cNvPr id="6" name="Text 3"/>
          <p:cNvSpPr/>
          <p:nvPr/>
        </p:nvSpPr>
        <p:spPr>
          <a:xfrm>
            <a:off x="502920" y="3017520"/>
            <a:ext cx="1783080" cy="237744"/>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Imagem da cadeia</a:t>
            </a:r>
            <a:endParaRPr lang="en-US" sz="1050" dirty="0"/>
          </a:p>
        </p:txBody>
      </p:sp>
      <p:sp>
        <p:nvSpPr>
          <p:cNvPr id="7" name="Text 4"/>
          <p:cNvSpPr/>
          <p:nvPr/>
        </p:nvSpPr>
        <p:spPr>
          <a:xfrm>
            <a:off x="2286000" y="1783080"/>
            <a:ext cx="338328" cy="320040"/>
          </a:xfrm>
          <a:prstGeom prst="rect">
            <a:avLst/>
          </a:prstGeom>
          <a:noFill/>
          <a:ln/>
        </p:spPr>
        <p:txBody>
          <a:bodyPr wrap="square" lIns="0" tIns="0" rIns="0" bIns="0" rtlCol="0" anchor="ctr"/>
          <a:lstStyle/>
          <a:p>
            <a:pPr algn="ctr" indent="0" marL="0">
              <a:buNone/>
            </a:pPr>
            <a:r>
              <a:rPr lang="en-US" sz="1300" dirty="0">
                <a:solidFill>
                  <a:srgbClr val="A9BCCC"/>
                </a:solidFill>
                <a:latin typeface="Calibri" pitchFamily="34" charset="0"/>
                <a:ea typeface="Calibri" pitchFamily="34" charset="-122"/>
                <a:cs typeface="Calibri" pitchFamily="34" charset="-120"/>
              </a:rPr>
              <a:t>▶</a:t>
            </a:r>
            <a:endParaRPr lang="en-US" sz="1300" dirty="0"/>
          </a:p>
        </p:txBody>
      </p:sp>
      <p:pic>
        <p:nvPicPr>
          <p:cNvPr id="8" name="Image 1" descr="preencoded.png">    </p:cNvPr>
          <p:cNvPicPr>
            <a:picLocks noChangeAspect="1"/>
          </p:cNvPicPr>
          <p:nvPr/>
        </p:nvPicPr>
        <p:blipFill>
          <a:blip r:embed="rId2"/>
          <a:stretch>
            <a:fillRect/>
          </a:stretch>
        </p:blipFill>
        <p:spPr>
          <a:xfrm>
            <a:off x="2624328" y="1280160"/>
            <a:ext cx="1783080" cy="1337310"/>
          </a:xfrm>
          <a:prstGeom prst="rect">
            <a:avLst/>
          </a:prstGeom>
        </p:spPr>
      </p:pic>
      <p:sp>
        <p:nvSpPr>
          <p:cNvPr id="9" name="Shape 5"/>
          <p:cNvSpPr/>
          <p:nvPr/>
        </p:nvSpPr>
        <p:spPr>
          <a:xfrm>
            <a:off x="2624328" y="1280160"/>
            <a:ext cx="1783080" cy="1337310"/>
          </a:xfrm>
          <a:prstGeom prst="rect">
            <a:avLst/>
          </a:prstGeom>
          <a:ln w="44450">
            <a:solidFill>
              <a:srgbClr val="F5A54A"/>
            </a:solidFill>
            <a:prstDash val="solid"/>
          </a:ln>
        </p:spPr>
      </p:sp>
      <p:sp>
        <p:nvSpPr>
          <p:cNvPr id="10" name="Text 6"/>
          <p:cNvSpPr/>
          <p:nvPr/>
        </p:nvSpPr>
        <p:spPr>
          <a:xfrm>
            <a:off x="2624328" y="2743200"/>
            <a:ext cx="1783080" cy="274320"/>
          </a:xfrm>
          <a:prstGeom prst="rect">
            <a:avLst/>
          </a:prstGeom>
          <a:noFill/>
          <a:ln/>
        </p:spPr>
        <p:txBody>
          <a:bodyPr wrap="square" lIns="0" tIns="0" rIns="0" bIns="0" rtlCol="0" anchor="ctr"/>
          <a:lstStyle/>
          <a:p>
            <a:pPr algn="ctr" indent="0" marL="0">
              <a:buNone/>
            </a:pPr>
            <a:r>
              <a:rPr lang="en-US" sz="1300" b="1" dirty="0">
                <a:solidFill>
                  <a:srgbClr val="F5A54A"/>
                </a:solidFill>
                <a:latin typeface="Calibri" pitchFamily="34" charset="0"/>
                <a:ea typeface="Calibri" pitchFamily="34" charset="-122"/>
                <a:cs typeface="Calibri" pitchFamily="34" charset="-120"/>
              </a:rPr>
              <a:t>Pré-processamento</a:t>
            </a:r>
            <a:endParaRPr lang="en-US" sz="1300" dirty="0"/>
          </a:p>
        </p:txBody>
      </p:sp>
      <p:sp>
        <p:nvSpPr>
          <p:cNvPr id="11" name="Text 7"/>
          <p:cNvSpPr/>
          <p:nvPr/>
        </p:nvSpPr>
        <p:spPr>
          <a:xfrm>
            <a:off x="2624328" y="3017520"/>
            <a:ext cx="1783080" cy="237744"/>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Tratamento da imagem</a:t>
            </a:r>
            <a:endParaRPr lang="en-US" sz="1050" dirty="0"/>
          </a:p>
        </p:txBody>
      </p:sp>
      <p:sp>
        <p:nvSpPr>
          <p:cNvPr id="12" name="Text 8"/>
          <p:cNvSpPr/>
          <p:nvPr/>
        </p:nvSpPr>
        <p:spPr>
          <a:xfrm>
            <a:off x="4407408" y="1783080"/>
            <a:ext cx="338328" cy="320040"/>
          </a:xfrm>
          <a:prstGeom prst="rect">
            <a:avLst/>
          </a:prstGeom>
          <a:noFill/>
          <a:ln/>
        </p:spPr>
        <p:txBody>
          <a:bodyPr wrap="square" lIns="0" tIns="0" rIns="0" bIns="0" rtlCol="0" anchor="ctr"/>
          <a:lstStyle/>
          <a:p>
            <a:pPr algn="ctr" indent="0" marL="0">
              <a:buNone/>
            </a:pPr>
            <a:r>
              <a:rPr lang="en-US" sz="1300" dirty="0">
                <a:solidFill>
                  <a:srgbClr val="A9BCCC"/>
                </a:solidFill>
                <a:latin typeface="Calibri" pitchFamily="34" charset="0"/>
                <a:ea typeface="Calibri" pitchFamily="34" charset="-122"/>
                <a:cs typeface="Calibri" pitchFamily="34" charset="-120"/>
              </a:rPr>
              <a:t>▶</a:t>
            </a:r>
            <a:endParaRPr lang="en-US" sz="1300" dirty="0"/>
          </a:p>
        </p:txBody>
      </p:sp>
      <p:pic>
        <p:nvPicPr>
          <p:cNvPr id="13" name="Image 2" descr="preencoded.png">    </p:cNvPr>
          <p:cNvPicPr>
            <a:picLocks noChangeAspect="1"/>
          </p:cNvPicPr>
          <p:nvPr/>
        </p:nvPicPr>
        <p:blipFill>
          <a:blip r:embed="rId3"/>
          <a:stretch>
            <a:fillRect/>
          </a:stretch>
        </p:blipFill>
        <p:spPr>
          <a:xfrm>
            <a:off x="4745736" y="1280160"/>
            <a:ext cx="1783080" cy="1337310"/>
          </a:xfrm>
          <a:prstGeom prst="rect">
            <a:avLst/>
          </a:prstGeom>
        </p:spPr>
      </p:pic>
      <p:sp>
        <p:nvSpPr>
          <p:cNvPr id="14" name="Text 9"/>
          <p:cNvSpPr/>
          <p:nvPr/>
        </p:nvSpPr>
        <p:spPr>
          <a:xfrm>
            <a:off x="4745736" y="2743200"/>
            <a:ext cx="1783080" cy="274320"/>
          </a:xfrm>
          <a:prstGeom prst="rect">
            <a:avLst/>
          </a:prstGeom>
          <a:noFill/>
          <a:ln/>
        </p:spPr>
        <p:txBody>
          <a:bodyPr wrap="square" lIns="0" tIns="0" rIns="0" bIns="0" rtlCol="0" anchor="ctr"/>
          <a:lstStyle/>
          <a:p>
            <a:pPr algn="ctr" indent="0" marL="0">
              <a:buNone/>
            </a:pPr>
            <a:r>
              <a:rPr lang="en-US" sz="1300" b="1" dirty="0">
                <a:solidFill>
                  <a:srgbClr val="1B2A3A"/>
                </a:solidFill>
                <a:latin typeface="Calibri" pitchFamily="34" charset="0"/>
                <a:ea typeface="Calibri" pitchFamily="34" charset="-122"/>
                <a:cs typeface="Calibri" pitchFamily="34" charset="-120"/>
              </a:rPr>
              <a:t>Modelo</a:t>
            </a:r>
            <a:endParaRPr lang="en-US" sz="1300" dirty="0"/>
          </a:p>
        </p:txBody>
      </p:sp>
      <p:sp>
        <p:nvSpPr>
          <p:cNvPr id="15" name="Text 10"/>
          <p:cNvSpPr/>
          <p:nvPr/>
        </p:nvSpPr>
        <p:spPr>
          <a:xfrm>
            <a:off x="4745736" y="3017520"/>
            <a:ext cx="1783080" cy="237744"/>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Rede neural</a:t>
            </a:r>
            <a:endParaRPr lang="en-US" sz="1050" dirty="0"/>
          </a:p>
        </p:txBody>
      </p:sp>
      <p:sp>
        <p:nvSpPr>
          <p:cNvPr id="16" name="Text 11"/>
          <p:cNvSpPr/>
          <p:nvPr/>
        </p:nvSpPr>
        <p:spPr>
          <a:xfrm>
            <a:off x="6528816" y="1783080"/>
            <a:ext cx="338328" cy="320040"/>
          </a:xfrm>
          <a:prstGeom prst="rect">
            <a:avLst/>
          </a:prstGeom>
          <a:noFill/>
          <a:ln/>
        </p:spPr>
        <p:txBody>
          <a:bodyPr wrap="square" lIns="0" tIns="0" rIns="0" bIns="0" rtlCol="0" anchor="ctr"/>
          <a:lstStyle/>
          <a:p>
            <a:pPr algn="ctr" indent="0" marL="0">
              <a:buNone/>
            </a:pPr>
            <a:r>
              <a:rPr lang="en-US" sz="1300" dirty="0">
                <a:solidFill>
                  <a:srgbClr val="A9BCCC"/>
                </a:solidFill>
                <a:latin typeface="Calibri" pitchFamily="34" charset="0"/>
                <a:ea typeface="Calibri" pitchFamily="34" charset="-122"/>
                <a:cs typeface="Calibri" pitchFamily="34" charset="-120"/>
              </a:rPr>
              <a:t>▶</a:t>
            </a:r>
            <a:endParaRPr lang="en-US" sz="1300" dirty="0"/>
          </a:p>
        </p:txBody>
      </p:sp>
      <p:pic>
        <p:nvPicPr>
          <p:cNvPr id="17" name="Image 3" descr="preencoded.png">    </p:cNvPr>
          <p:cNvPicPr>
            <a:picLocks noChangeAspect="1"/>
          </p:cNvPicPr>
          <p:nvPr/>
        </p:nvPicPr>
        <p:blipFill>
          <a:blip r:embed="rId4"/>
          <a:stretch>
            <a:fillRect/>
          </a:stretch>
        </p:blipFill>
        <p:spPr>
          <a:xfrm>
            <a:off x="6867144" y="1280160"/>
            <a:ext cx="1783080" cy="1337310"/>
          </a:xfrm>
          <a:prstGeom prst="rect">
            <a:avLst/>
          </a:prstGeom>
        </p:spPr>
      </p:pic>
      <p:sp>
        <p:nvSpPr>
          <p:cNvPr id="18" name="Text 12"/>
          <p:cNvSpPr/>
          <p:nvPr/>
        </p:nvSpPr>
        <p:spPr>
          <a:xfrm>
            <a:off x="6867144" y="2743200"/>
            <a:ext cx="1783080" cy="274320"/>
          </a:xfrm>
          <a:prstGeom prst="rect">
            <a:avLst/>
          </a:prstGeom>
          <a:noFill/>
          <a:ln/>
        </p:spPr>
        <p:txBody>
          <a:bodyPr wrap="square" lIns="0" tIns="0" rIns="0" bIns="0" rtlCol="0" anchor="ctr"/>
          <a:lstStyle/>
          <a:p>
            <a:pPr algn="ctr" indent="0" marL="0">
              <a:buNone/>
            </a:pPr>
            <a:r>
              <a:rPr lang="en-US" sz="1300" b="1" dirty="0">
                <a:solidFill>
                  <a:srgbClr val="1B2A3A"/>
                </a:solidFill>
                <a:latin typeface="Calibri" pitchFamily="34" charset="0"/>
                <a:ea typeface="Calibri" pitchFamily="34" charset="-122"/>
                <a:cs typeface="Calibri" pitchFamily="34" charset="-120"/>
              </a:rPr>
              <a:t>Diagnóstico</a:t>
            </a:r>
            <a:endParaRPr lang="en-US" sz="1300" dirty="0"/>
          </a:p>
        </p:txBody>
      </p:sp>
      <p:sp>
        <p:nvSpPr>
          <p:cNvPr id="19" name="Text 13"/>
          <p:cNvSpPr/>
          <p:nvPr/>
        </p:nvSpPr>
        <p:spPr>
          <a:xfrm>
            <a:off x="6867144" y="3017520"/>
            <a:ext cx="1783080" cy="237744"/>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Com falha ou sem falha</a:t>
            </a:r>
            <a:endParaRPr lang="en-US" sz="1050" dirty="0"/>
          </a:p>
        </p:txBody>
      </p:sp>
      <p:sp>
        <p:nvSpPr>
          <p:cNvPr id="20" name="Shape 14"/>
          <p:cNvSpPr/>
          <p:nvPr/>
        </p:nvSpPr>
        <p:spPr>
          <a:xfrm>
            <a:off x="2807208" y="3328416"/>
            <a:ext cx="1417320" cy="292608"/>
          </a:xfrm>
          <a:prstGeom prst="roundRect">
            <a:avLst>
              <a:gd name="adj" fmla="val 25000"/>
            </a:avLst>
          </a:prstGeom>
          <a:solidFill>
            <a:srgbClr val="F5A54A"/>
          </a:solidFill>
          <a:ln/>
        </p:spPr>
      </p:sp>
      <p:sp>
        <p:nvSpPr>
          <p:cNvPr id="21" name="Text 15"/>
          <p:cNvSpPr/>
          <p:nvPr/>
        </p:nvSpPr>
        <p:spPr>
          <a:xfrm>
            <a:off x="2807208" y="3328416"/>
            <a:ext cx="1417320" cy="292608"/>
          </a:xfrm>
          <a:prstGeom prst="rect">
            <a:avLst/>
          </a:prstGeom>
          <a:noFill/>
          <a:ln/>
        </p:spPr>
        <p:txBody>
          <a:bodyPr wrap="square" lIns="0" tIns="0" rIns="0" bIns="0" rtlCol="0" anchor="ctr"/>
          <a:lstStyle/>
          <a:p>
            <a:pPr algn="ctr" indent="0" marL="0">
              <a:buNone/>
            </a:pPr>
            <a:r>
              <a:rPr lang="en-US" sz="1000" b="1" dirty="0">
                <a:solidFill>
                  <a:srgbClr val="12263A"/>
                </a:solidFill>
                <a:latin typeface="Calibri" pitchFamily="34" charset="0"/>
                <a:ea typeface="Calibri" pitchFamily="34" charset="-122"/>
                <a:cs typeface="Calibri" pitchFamily="34" charset="-120"/>
              </a:rPr>
              <a:t>Foco deste trabalho</a:t>
            </a:r>
            <a:endParaRPr lang="en-US" sz="1000" dirty="0"/>
          </a:p>
        </p:txBody>
      </p:sp>
      <p:sp>
        <p:nvSpPr>
          <p:cNvPr id="22" name="Shape 16"/>
          <p:cNvSpPr/>
          <p:nvPr/>
        </p:nvSpPr>
        <p:spPr>
          <a:xfrm>
            <a:off x="502920" y="3840480"/>
            <a:ext cx="8138160" cy="621792"/>
          </a:xfrm>
          <a:prstGeom prst="roundRect">
            <a:avLst>
              <a:gd name="adj" fmla="val 10294"/>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3" name="Text 17"/>
          <p:cNvSpPr/>
          <p:nvPr/>
        </p:nvSpPr>
        <p:spPr>
          <a:xfrm>
            <a:off x="777240" y="3840480"/>
            <a:ext cx="7589520" cy="62179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Não basta investir em arquiteturas complexas se a imagem oculta o defeito.</a:t>
            </a:r>
            <a:endParaRPr lang="en-US" sz="1500" dirty="0"/>
          </a:p>
        </p:txBody>
      </p:sp>
      <p:sp>
        <p:nvSpPr>
          <p:cNvPr id="24"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25"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ESTADO DA ARTE</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A literatura não chega a um consenso</a:t>
            </a:r>
            <a:endParaRPr lang="en-US" sz="2800" dirty="0"/>
          </a:p>
        </p:txBody>
      </p:sp>
      <p:sp>
        <p:nvSpPr>
          <p:cNvPr id="4" name="Shape 2"/>
          <p:cNvSpPr/>
          <p:nvPr/>
        </p:nvSpPr>
        <p:spPr>
          <a:xfrm>
            <a:off x="502920" y="1234440"/>
            <a:ext cx="2606040" cy="2514600"/>
          </a:xfrm>
          <a:prstGeom prst="roundRect">
            <a:avLst>
              <a:gd name="adj" fmla="val 2545"/>
            </a:avLst>
          </a:prstGeom>
          <a:solidFill>
            <a:srgbClr val="F1F4F7"/>
          </a:solidFill>
          <a:ln w="9525">
            <a:solidFill>
              <a:srgbClr val="E4EAF0"/>
            </a:solidFill>
            <a:prstDash val="solid"/>
          </a:ln>
        </p:spPr>
      </p:sp>
      <p:sp>
        <p:nvSpPr>
          <p:cNvPr id="5" name="Shape 3"/>
          <p:cNvSpPr/>
          <p:nvPr/>
        </p:nvSpPr>
        <p:spPr>
          <a:xfrm>
            <a:off x="1389888" y="1463040"/>
            <a:ext cx="822960" cy="822960"/>
          </a:xfrm>
          <a:prstGeom prst="ellipse">
            <a:avLst/>
          </a:prstGeom>
          <a:solidFill>
            <a:srgbClr val="5C6F80"/>
          </a:solidFill>
          <a:ln w="12700">
            <a:solidFill>
              <a:srgbClr val="5C6F80"/>
            </a:solidFill>
            <a:prstDash val="solid"/>
          </a:ln>
        </p:spPr>
      </p:sp>
      <p:sp>
        <p:nvSpPr>
          <p:cNvPr id="6" name="Text 4"/>
          <p:cNvSpPr/>
          <p:nvPr/>
        </p:nvSpPr>
        <p:spPr>
          <a:xfrm>
            <a:off x="1389888" y="1463040"/>
            <a:ext cx="822960" cy="82296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a:t>
            </a:r>
            <a:endParaRPr lang="en-US" sz="2600" dirty="0"/>
          </a:p>
        </p:txBody>
      </p:sp>
      <p:sp>
        <p:nvSpPr>
          <p:cNvPr id="7" name="Text 5"/>
          <p:cNvSpPr/>
          <p:nvPr/>
        </p:nvSpPr>
        <p:spPr>
          <a:xfrm>
            <a:off x="640080" y="2423160"/>
            <a:ext cx="2331720" cy="292608"/>
          </a:xfrm>
          <a:prstGeom prst="rect">
            <a:avLst/>
          </a:prstGeom>
          <a:noFill/>
          <a:ln/>
        </p:spPr>
        <p:txBody>
          <a:bodyPr wrap="square" lIns="0" tIns="0" rIns="0" bIns="0" rtlCol="0" anchor="ctr"/>
          <a:lstStyle/>
          <a:p>
            <a:pPr algn="ctr" indent="0" marL="0">
              <a:buNone/>
            </a:pPr>
            <a:r>
              <a:rPr lang="en-US" sz="1400" b="1" dirty="0">
                <a:solidFill>
                  <a:srgbClr val="1B2A3A"/>
                </a:solidFill>
                <a:latin typeface="Calibri" pitchFamily="34" charset="0"/>
                <a:ea typeface="Calibri" pitchFamily="34" charset="-122"/>
                <a:cs typeface="Calibri" pitchFamily="34" charset="-120"/>
              </a:rPr>
              <a:t>Sem impacto significativo</a:t>
            </a:r>
            <a:endParaRPr lang="en-US" sz="1400" dirty="0"/>
          </a:p>
        </p:txBody>
      </p:sp>
      <p:sp>
        <p:nvSpPr>
          <p:cNvPr id="8" name="Text 6"/>
          <p:cNvSpPr/>
          <p:nvPr/>
        </p:nvSpPr>
        <p:spPr>
          <a:xfrm>
            <a:off x="640080" y="2788920"/>
            <a:ext cx="2331720" cy="731520"/>
          </a:xfrm>
          <a:prstGeom prst="rect">
            <a:avLst/>
          </a:prstGeom>
          <a:noFill/>
          <a:ln/>
        </p:spPr>
        <p:txBody>
          <a:bodyPr wrap="square" lIns="0" tIns="0" rIns="0" bIns="0" rtlCol="0" anchor="ctr"/>
          <a:lstStyle/>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Liu et al. (2021)</a:t>
            </a:r>
            <a:endParaRPr lang="en-US" sz="1150" dirty="0"/>
          </a:p>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Wang et al. (2023)</a:t>
            </a:r>
            <a:endParaRPr lang="en-US" sz="1150" dirty="0"/>
          </a:p>
        </p:txBody>
      </p:sp>
      <p:sp>
        <p:nvSpPr>
          <p:cNvPr id="9" name="Shape 7"/>
          <p:cNvSpPr/>
          <p:nvPr/>
        </p:nvSpPr>
        <p:spPr>
          <a:xfrm>
            <a:off x="3291840" y="1234440"/>
            <a:ext cx="2606040" cy="2514600"/>
          </a:xfrm>
          <a:prstGeom prst="roundRect">
            <a:avLst>
              <a:gd name="adj" fmla="val 2545"/>
            </a:avLst>
          </a:prstGeom>
          <a:solidFill>
            <a:srgbClr val="F1F4F7"/>
          </a:solidFill>
          <a:ln w="9525">
            <a:solidFill>
              <a:srgbClr val="E4EAF0"/>
            </a:solidFill>
            <a:prstDash val="solid"/>
          </a:ln>
        </p:spPr>
      </p:sp>
      <p:sp>
        <p:nvSpPr>
          <p:cNvPr id="10" name="Shape 8"/>
          <p:cNvSpPr/>
          <p:nvPr/>
        </p:nvSpPr>
        <p:spPr>
          <a:xfrm>
            <a:off x="4178808" y="1463040"/>
            <a:ext cx="822960" cy="822960"/>
          </a:xfrm>
          <a:prstGeom prst="ellipse">
            <a:avLst/>
          </a:prstGeom>
          <a:solidFill>
            <a:srgbClr val="1C7293"/>
          </a:solidFill>
          <a:ln w="12700">
            <a:solidFill>
              <a:srgbClr val="1C7293"/>
            </a:solidFill>
            <a:prstDash val="solid"/>
          </a:ln>
        </p:spPr>
      </p:sp>
      <p:sp>
        <p:nvSpPr>
          <p:cNvPr id="11" name="Text 9"/>
          <p:cNvSpPr/>
          <p:nvPr/>
        </p:nvSpPr>
        <p:spPr>
          <a:xfrm>
            <a:off x="4178808" y="1463040"/>
            <a:ext cx="822960" cy="82296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a:t>
            </a:r>
            <a:endParaRPr lang="en-US" sz="2600" dirty="0"/>
          </a:p>
        </p:txBody>
      </p:sp>
      <p:sp>
        <p:nvSpPr>
          <p:cNvPr id="12" name="Text 10"/>
          <p:cNvSpPr/>
          <p:nvPr/>
        </p:nvSpPr>
        <p:spPr>
          <a:xfrm>
            <a:off x="3429000" y="2423160"/>
            <a:ext cx="2331720" cy="292608"/>
          </a:xfrm>
          <a:prstGeom prst="rect">
            <a:avLst/>
          </a:prstGeom>
          <a:noFill/>
          <a:ln/>
        </p:spPr>
        <p:txBody>
          <a:bodyPr wrap="square" lIns="0" tIns="0" rIns="0" bIns="0" rtlCol="0" anchor="ctr"/>
          <a:lstStyle/>
          <a:p>
            <a:pPr algn="ctr" indent="0" marL="0">
              <a:buNone/>
            </a:pPr>
            <a:r>
              <a:rPr lang="en-US" sz="1400" b="1" dirty="0">
                <a:solidFill>
                  <a:srgbClr val="1C7293"/>
                </a:solidFill>
                <a:latin typeface="Calibri" pitchFamily="34" charset="0"/>
                <a:ea typeface="Calibri" pitchFamily="34" charset="-122"/>
                <a:cs typeface="Calibri" pitchFamily="34" charset="-120"/>
              </a:rPr>
              <a:t>Melhorou o desempenho</a:t>
            </a:r>
            <a:endParaRPr lang="en-US" sz="1400" dirty="0"/>
          </a:p>
        </p:txBody>
      </p:sp>
      <p:sp>
        <p:nvSpPr>
          <p:cNvPr id="13" name="Text 11"/>
          <p:cNvSpPr/>
          <p:nvPr/>
        </p:nvSpPr>
        <p:spPr>
          <a:xfrm>
            <a:off x="3429000" y="2788920"/>
            <a:ext cx="2331720" cy="731520"/>
          </a:xfrm>
          <a:prstGeom prst="rect">
            <a:avLst/>
          </a:prstGeom>
          <a:noFill/>
          <a:ln/>
        </p:spPr>
        <p:txBody>
          <a:bodyPr wrap="square" lIns="0" tIns="0" rIns="0" bIns="0" rtlCol="0" anchor="ctr"/>
          <a:lstStyle/>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Zhang et al. (2022)</a:t>
            </a:r>
            <a:endParaRPr lang="en-US" sz="1150" dirty="0"/>
          </a:p>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Salvi et al. (2021)</a:t>
            </a:r>
            <a:endParaRPr lang="en-US" sz="1150" dirty="0"/>
          </a:p>
        </p:txBody>
      </p:sp>
      <p:sp>
        <p:nvSpPr>
          <p:cNvPr id="14" name="Shape 12"/>
          <p:cNvSpPr/>
          <p:nvPr/>
        </p:nvSpPr>
        <p:spPr>
          <a:xfrm>
            <a:off x="6080760" y="1234440"/>
            <a:ext cx="2606040" cy="2514600"/>
          </a:xfrm>
          <a:prstGeom prst="roundRect">
            <a:avLst>
              <a:gd name="adj" fmla="val 2545"/>
            </a:avLst>
          </a:prstGeom>
          <a:solidFill>
            <a:srgbClr val="F1F4F7"/>
          </a:solidFill>
          <a:ln w="9525">
            <a:solidFill>
              <a:srgbClr val="E4EAF0"/>
            </a:solidFill>
            <a:prstDash val="solid"/>
          </a:ln>
        </p:spPr>
      </p:sp>
      <p:sp>
        <p:nvSpPr>
          <p:cNvPr id="15" name="Shape 13"/>
          <p:cNvSpPr/>
          <p:nvPr/>
        </p:nvSpPr>
        <p:spPr>
          <a:xfrm>
            <a:off x="6967728" y="1463040"/>
            <a:ext cx="822960" cy="822960"/>
          </a:xfrm>
          <a:prstGeom prst="ellipse">
            <a:avLst/>
          </a:prstGeom>
          <a:solidFill>
            <a:srgbClr val="F5A54A"/>
          </a:solidFill>
          <a:ln w="12700">
            <a:solidFill>
              <a:srgbClr val="F5A54A"/>
            </a:solidFill>
            <a:prstDash val="solid"/>
          </a:ln>
        </p:spPr>
      </p:sp>
      <p:sp>
        <p:nvSpPr>
          <p:cNvPr id="16" name="Text 14"/>
          <p:cNvSpPr/>
          <p:nvPr/>
        </p:nvSpPr>
        <p:spPr>
          <a:xfrm>
            <a:off x="6967728" y="1463040"/>
            <a:ext cx="822960" cy="822960"/>
          </a:xfrm>
          <a:prstGeom prst="rect">
            <a:avLst/>
          </a:prstGeom>
          <a:noFill/>
          <a:ln/>
        </p:spPr>
        <p:txBody>
          <a:bodyPr wrap="square" lIns="0" tIns="0" rIns="0" bIns="0" rtlCol="0" anchor="ctr"/>
          <a:lstStyle/>
          <a:p>
            <a:pPr algn="ctr" indent="0" marL="0">
              <a:buNone/>
            </a:pPr>
            <a:r>
              <a:rPr lang="en-US" sz="2600" b="1" dirty="0">
                <a:solidFill>
                  <a:srgbClr val="12263A"/>
                </a:solidFill>
                <a:latin typeface="Calibri" pitchFamily="34" charset="0"/>
                <a:ea typeface="Calibri" pitchFamily="34" charset="-122"/>
                <a:cs typeface="Calibri" pitchFamily="34" charset="-120"/>
              </a:rPr>
              <a:t>▼</a:t>
            </a:r>
            <a:endParaRPr lang="en-US" sz="2600" dirty="0"/>
          </a:p>
        </p:txBody>
      </p:sp>
      <p:sp>
        <p:nvSpPr>
          <p:cNvPr id="17" name="Text 15"/>
          <p:cNvSpPr/>
          <p:nvPr/>
        </p:nvSpPr>
        <p:spPr>
          <a:xfrm>
            <a:off x="6217920" y="2423160"/>
            <a:ext cx="2331720" cy="292608"/>
          </a:xfrm>
          <a:prstGeom prst="rect">
            <a:avLst/>
          </a:prstGeom>
          <a:noFill/>
          <a:ln/>
        </p:spPr>
        <p:txBody>
          <a:bodyPr wrap="square" lIns="0" tIns="0" rIns="0" bIns="0" rtlCol="0" anchor="ctr"/>
          <a:lstStyle/>
          <a:p>
            <a:pPr algn="ctr" indent="0" marL="0">
              <a:buNone/>
            </a:pPr>
            <a:r>
              <a:rPr lang="en-US" sz="1400" b="1" dirty="0">
                <a:solidFill>
                  <a:srgbClr val="F5A54A"/>
                </a:solidFill>
                <a:latin typeface="Calibri" pitchFamily="34" charset="0"/>
                <a:ea typeface="Calibri" pitchFamily="34" charset="-122"/>
                <a:cs typeface="Calibri" pitchFamily="34" charset="-120"/>
              </a:rPr>
              <a:t>Riscos e efeito negativo</a:t>
            </a:r>
            <a:endParaRPr lang="en-US" sz="1400" dirty="0"/>
          </a:p>
        </p:txBody>
      </p:sp>
      <p:sp>
        <p:nvSpPr>
          <p:cNvPr id="18" name="Text 16"/>
          <p:cNvSpPr/>
          <p:nvPr/>
        </p:nvSpPr>
        <p:spPr>
          <a:xfrm>
            <a:off x="6217920" y="2788920"/>
            <a:ext cx="2331720" cy="731520"/>
          </a:xfrm>
          <a:prstGeom prst="rect">
            <a:avLst/>
          </a:prstGeom>
          <a:noFill/>
          <a:ln/>
        </p:spPr>
        <p:txBody>
          <a:bodyPr wrap="square" lIns="0" tIns="0" rIns="0" bIns="0" rtlCol="0" anchor="ctr"/>
          <a:lstStyle/>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Öztürk e Akdemir (2018)</a:t>
            </a:r>
            <a:endParaRPr lang="en-US" sz="1150" dirty="0"/>
          </a:p>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Rodrigues et al. (2020)</a:t>
            </a:r>
            <a:endParaRPr lang="en-US" sz="1150" dirty="0"/>
          </a:p>
        </p:txBody>
      </p:sp>
      <p:sp>
        <p:nvSpPr>
          <p:cNvPr id="19" name="Shape 17"/>
          <p:cNvSpPr/>
          <p:nvPr/>
        </p:nvSpPr>
        <p:spPr>
          <a:xfrm>
            <a:off x="502920" y="3931920"/>
            <a:ext cx="8138160" cy="566928"/>
          </a:xfrm>
          <a:prstGeom prst="roundRect">
            <a:avLst>
              <a:gd name="adj" fmla="val 1129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0" name="Text 18"/>
          <p:cNvSpPr/>
          <p:nvPr/>
        </p:nvSpPr>
        <p:spPr>
          <a:xfrm>
            <a:off x="777240" y="3931920"/>
            <a:ext cx="758952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Nenhum estudo propõe um método para determinar os processamentos mais eficientes.</a:t>
            </a:r>
            <a:endParaRPr lang="en-US" sz="1400" dirty="0"/>
          </a:p>
        </p:txBody>
      </p:sp>
      <p:sp>
        <p:nvSpPr>
          <p:cNvPr id="21" name="Text 19"/>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22" name="Text 20"/>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806440" y="1143000"/>
            <a:ext cx="2834640" cy="2834640"/>
          </a:xfrm>
          <a:prstGeom prst="rect">
            <a:avLst/>
          </a:prstGeom>
        </p:spPr>
      </p:pic>
      <p:sp>
        <p:nvSpPr>
          <p:cNvPr id="3" name="Text 0"/>
          <p:cNvSpPr/>
          <p:nvPr/>
        </p:nvSpPr>
        <p:spPr>
          <a:xfrm>
            <a:off x="502920" y="274320"/>
            <a:ext cx="502920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OBJETIVO</a:t>
            </a:r>
            <a:endParaRPr lang="en-US" sz="1050" dirty="0"/>
          </a:p>
        </p:txBody>
      </p:sp>
      <p:sp>
        <p:nvSpPr>
          <p:cNvPr id="4" name="Text 1"/>
          <p:cNvSpPr/>
          <p:nvPr/>
        </p:nvSpPr>
        <p:spPr>
          <a:xfrm>
            <a:off x="502920" y="512064"/>
            <a:ext cx="5029200" cy="566928"/>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Objetivo geral</a:t>
            </a:r>
            <a:endParaRPr lang="en-US" sz="2800" dirty="0"/>
          </a:p>
        </p:txBody>
      </p:sp>
      <p:sp>
        <p:nvSpPr>
          <p:cNvPr id="5" name="Shape 2"/>
          <p:cNvSpPr/>
          <p:nvPr/>
        </p:nvSpPr>
        <p:spPr>
          <a:xfrm>
            <a:off x="502920" y="1325880"/>
            <a:ext cx="5029200" cy="1920240"/>
          </a:xfrm>
          <a:prstGeom prst="roundRect">
            <a:avLst>
              <a:gd name="adj" fmla="val 3333"/>
            </a:avLst>
          </a:prstGeom>
          <a:solidFill>
            <a:srgbClr val="1C3550"/>
          </a:solidFill>
          <a:ln w="9525">
            <a:solidFill>
              <a:srgbClr val="145A75"/>
            </a:solidFill>
            <a:prstDash val="solid"/>
          </a:ln>
        </p:spPr>
      </p:sp>
      <p:sp>
        <p:nvSpPr>
          <p:cNvPr id="6" name="Text 3"/>
          <p:cNvSpPr/>
          <p:nvPr/>
        </p:nvSpPr>
        <p:spPr>
          <a:xfrm>
            <a:off x="758952" y="1417320"/>
            <a:ext cx="4526280" cy="1737360"/>
          </a:xfrm>
          <a:prstGeom prst="rect">
            <a:avLst/>
          </a:prstGeom>
          <a:noFill/>
          <a:ln/>
        </p:spPr>
        <p:txBody>
          <a:bodyPr wrap="square" lIns="0" tIns="0" rIns="0" bIns="0" rtlCol="0" anchor="ctr"/>
          <a:lstStyle/>
          <a:p>
            <a:pPr indent="0" marL="0">
              <a:lnSpc>
                <a:spcPct val="108000"/>
              </a:lnSpc>
              <a:buNone/>
            </a:pPr>
            <a:r>
              <a:rPr lang="en-US" sz="1600" b="1" dirty="0">
                <a:solidFill>
                  <a:srgbClr val="FFFFFF"/>
                </a:solidFill>
                <a:latin typeface="Cambria" pitchFamily="34" charset="0"/>
                <a:ea typeface="Cambria" pitchFamily="34" charset="-122"/>
                <a:cs typeface="Cambria" pitchFamily="34" charset="-120"/>
              </a:rPr>
              <a:t>Desenvolver uma metodologia capaz de comparar, selecionar, combinar e aprimorar técnicas de processamento de imagem para a detecção e classificação de falhas em cadeias de isoladores.</a:t>
            </a:r>
            <a:endParaRPr lang="en-US" sz="1600" dirty="0"/>
          </a:p>
        </p:txBody>
      </p:sp>
      <p:sp>
        <p:nvSpPr>
          <p:cNvPr id="7" name="Shape 4"/>
          <p:cNvSpPr/>
          <p:nvPr/>
        </p:nvSpPr>
        <p:spPr>
          <a:xfrm>
            <a:off x="502920" y="3520440"/>
            <a:ext cx="1170432" cy="457200"/>
          </a:xfrm>
          <a:prstGeom prst="roundRect">
            <a:avLst>
              <a:gd name="adj" fmla="val 20000"/>
            </a:avLst>
          </a:prstGeom>
          <a:solidFill>
            <a:srgbClr val="12263A"/>
          </a:solidFill>
          <a:ln w="12700">
            <a:solidFill>
              <a:srgbClr val="F5A54A"/>
            </a:solidFill>
            <a:prstDash val="solid"/>
          </a:ln>
        </p:spPr>
      </p:sp>
      <p:sp>
        <p:nvSpPr>
          <p:cNvPr id="8" name="Text 5"/>
          <p:cNvSpPr/>
          <p:nvPr/>
        </p:nvSpPr>
        <p:spPr>
          <a:xfrm>
            <a:off x="502920" y="3520440"/>
            <a:ext cx="1170432" cy="457200"/>
          </a:xfrm>
          <a:prstGeom prst="rect">
            <a:avLst/>
          </a:prstGeom>
          <a:noFill/>
          <a:ln/>
        </p:spPr>
        <p:txBody>
          <a:bodyPr wrap="square" lIns="0" tIns="0" rIns="0" bIns="0" rtlCol="0" anchor="ctr"/>
          <a:lstStyle/>
          <a:p>
            <a:pPr algn="ctr" indent="0" marL="0">
              <a:buNone/>
            </a:pPr>
            <a:r>
              <a:rPr lang="en-US" sz="1150" b="1" dirty="0">
                <a:solidFill>
                  <a:srgbClr val="F5A54A"/>
                </a:solidFill>
                <a:latin typeface="Calibri" pitchFamily="34" charset="0"/>
                <a:ea typeface="Calibri" pitchFamily="34" charset="-122"/>
                <a:cs typeface="Calibri" pitchFamily="34" charset="-120"/>
              </a:rPr>
              <a:t>Comparar</a:t>
            </a:r>
            <a:endParaRPr lang="en-US" sz="1150" dirty="0"/>
          </a:p>
        </p:txBody>
      </p:sp>
      <p:sp>
        <p:nvSpPr>
          <p:cNvPr id="9" name="Shape 6"/>
          <p:cNvSpPr/>
          <p:nvPr/>
        </p:nvSpPr>
        <p:spPr>
          <a:xfrm>
            <a:off x="1783080" y="3520440"/>
            <a:ext cx="1170432" cy="457200"/>
          </a:xfrm>
          <a:prstGeom prst="roundRect">
            <a:avLst>
              <a:gd name="adj" fmla="val 20000"/>
            </a:avLst>
          </a:prstGeom>
          <a:solidFill>
            <a:srgbClr val="12263A"/>
          </a:solidFill>
          <a:ln w="12700">
            <a:solidFill>
              <a:srgbClr val="F5A54A"/>
            </a:solidFill>
            <a:prstDash val="solid"/>
          </a:ln>
        </p:spPr>
      </p:sp>
      <p:sp>
        <p:nvSpPr>
          <p:cNvPr id="10" name="Text 7"/>
          <p:cNvSpPr/>
          <p:nvPr/>
        </p:nvSpPr>
        <p:spPr>
          <a:xfrm>
            <a:off x="1783080" y="3520440"/>
            <a:ext cx="1170432" cy="457200"/>
          </a:xfrm>
          <a:prstGeom prst="rect">
            <a:avLst/>
          </a:prstGeom>
          <a:noFill/>
          <a:ln/>
        </p:spPr>
        <p:txBody>
          <a:bodyPr wrap="square" lIns="0" tIns="0" rIns="0" bIns="0" rtlCol="0" anchor="ctr"/>
          <a:lstStyle/>
          <a:p>
            <a:pPr algn="ctr" indent="0" marL="0">
              <a:buNone/>
            </a:pPr>
            <a:r>
              <a:rPr lang="en-US" sz="1150" b="1" dirty="0">
                <a:solidFill>
                  <a:srgbClr val="F5A54A"/>
                </a:solidFill>
                <a:latin typeface="Calibri" pitchFamily="34" charset="0"/>
                <a:ea typeface="Calibri" pitchFamily="34" charset="-122"/>
                <a:cs typeface="Calibri" pitchFamily="34" charset="-120"/>
              </a:rPr>
              <a:t>Selecionar</a:t>
            </a:r>
            <a:endParaRPr lang="en-US" sz="1150" dirty="0"/>
          </a:p>
        </p:txBody>
      </p:sp>
      <p:sp>
        <p:nvSpPr>
          <p:cNvPr id="11" name="Shape 8"/>
          <p:cNvSpPr/>
          <p:nvPr/>
        </p:nvSpPr>
        <p:spPr>
          <a:xfrm>
            <a:off x="3063240" y="3520440"/>
            <a:ext cx="1170432" cy="457200"/>
          </a:xfrm>
          <a:prstGeom prst="roundRect">
            <a:avLst>
              <a:gd name="adj" fmla="val 20000"/>
            </a:avLst>
          </a:prstGeom>
          <a:solidFill>
            <a:srgbClr val="12263A"/>
          </a:solidFill>
          <a:ln w="12700">
            <a:solidFill>
              <a:srgbClr val="F5A54A"/>
            </a:solidFill>
            <a:prstDash val="solid"/>
          </a:ln>
        </p:spPr>
      </p:sp>
      <p:sp>
        <p:nvSpPr>
          <p:cNvPr id="12" name="Text 9"/>
          <p:cNvSpPr/>
          <p:nvPr/>
        </p:nvSpPr>
        <p:spPr>
          <a:xfrm>
            <a:off x="3063240" y="3520440"/>
            <a:ext cx="1170432" cy="457200"/>
          </a:xfrm>
          <a:prstGeom prst="rect">
            <a:avLst/>
          </a:prstGeom>
          <a:noFill/>
          <a:ln/>
        </p:spPr>
        <p:txBody>
          <a:bodyPr wrap="square" lIns="0" tIns="0" rIns="0" bIns="0" rtlCol="0" anchor="ctr"/>
          <a:lstStyle/>
          <a:p>
            <a:pPr algn="ctr" indent="0" marL="0">
              <a:buNone/>
            </a:pPr>
            <a:r>
              <a:rPr lang="en-US" sz="1150" b="1" dirty="0">
                <a:solidFill>
                  <a:srgbClr val="F5A54A"/>
                </a:solidFill>
                <a:latin typeface="Calibri" pitchFamily="34" charset="0"/>
                <a:ea typeface="Calibri" pitchFamily="34" charset="-122"/>
                <a:cs typeface="Calibri" pitchFamily="34" charset="-120"/>
              </a:rPr>
              <a:t>Combinar</a:t>
            </a:r>
            <a:endParaRPr lang="en-US" sz="1150" dirty="0"/>
          </a:p>
        </p:txBody>
      </p:sp>
      <p:sp>
        <p:nvSpPr>
          <p:cNvPr id="13" name="Shape 10"/>
          <p:cNvSpPr/>
          <p:nvPr/>
        </p:nvSpPr>
        <p:spPr>
          <a:xfrm>
            <a:off x="4343400" y="3520440"/>
            <a:ext cx="1170432" cy="457200"/>
          </a:xfrm>
          <a:prstGeom prst="roundRect">
            <a:avLst>
              <a:gd name="adj" fmla="val 20000"/>
            </a:avLst>
          </a:prstGeom>
          <a:solidFill>
            <a:srgbClr val="12263A"/>
          </a:solidFill>
          <a:ln w="12700">
            <a:solidFill>
              <a:srgbClr val="F5A54A"/>
            </a:solidFill>
            <a:prstDash val="solid"/>
          </a:ln>
        </p:spPr>
      </p:sp>
      <p:sp>
        <p:nvSpPr>
          <p:cNvPr id="14" name="Text 11"/>
          <p:cNvSpPr/>
          <p:nvPr/>
        </p:nvSpPr>
        <p:spPr>
          <a:xfrm>
            <a:off x="4343400" y="3520440"/>
            <a:ext cx="1170432" cy="457200"/>
          </a:xfrm>
          <a:prstGeom prst="rect">
            <a:avLst/>
          </a:prstGeom>
          <a:noFill/>
          <a:ln/>
        </p:spPr>
        <p:txBody>
          <a:bodyPr wrap="square" lIns="0" tIns="0" rIns="0" bIns="0" rtlCol="0" anchor="ctr"/>
          <a:lstStyle/>
          <a:p>
            <a:pPr algn="ctr" indent="0" marL="0">
              <a:buNone/>
            </a:pPr>
            <a:r>
              <a:rPr lang="en-US" sz="1150" b="1" dirty="0">
                <a:solidFill>
                  <a:srgbClr val="F5A54A"/>
                </a:solidFill>
                <a:latin typeface="Calibri" pitchFamily="34" charset="0"/>
                <a:ea typeface="Calibri" pitchFamily="34" charset="-122"/>
                <a:cs typeface="Calibri" pitchFamily="34" charset="-120"/>
              </a:rPr>
              <a:t>Aprimorar</a:t>
            </a:r>
            <a:endParaRPr lang="en-US" sz="115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Proposta</a:t>
            </a:r>
            <a:endParaRPr lang="en-US"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OBJETIVO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Objetivos específicos</a:t>
            </a:r>
            <a:endParaRPr lang="en-US" sz="2800" dirty="0"/>
          </a:p>
        </p:txBody>
      </p:sp>
      <p:sp>
        <p:nvSpPr>
          <p:cNvPr id="4" name="Shape 2"/>
          <p:cNvSpPr/>
          <p:nvPr/>
        </p:nvSpPr>
        <p:spPr>
          <a:xfrm>
            <a:off x="502920" y="1207008"/>
            <a:ext cx="3977640" cy="731520"/>
          </a:xfrm>
          <a:prstGeom prst="roundRect">
            <a:avLst>
              <a:gd name="adj" fmla="val 8750"/>
            </a:avLst>
          </a:prstGeom>
          <a:solidFill>
            <a:srgbClr val="F1F4F7"/>
          </a:solidFill>
          <a:ln w="9525">
            <a:solidFill>
              <a:srgbClr val="E4EAF0"/>
            </a:solidFill>
            <a:prstDash val="solid"/>
          </a:ln>
        </p:spPr>
      </p:sp>
      <p:sp>
        <p:nvSpPr>
          <p:cNvPr id="5" name="Shape 3"/>
          <p:cNvSpPr/>
          <p:nvPr/>
        </p:nvSpPr>
        <p:spPr>
          <a:xfrm>
            <a:off x="685800" y="1371600"/>
            <a:ext cx="402336" cy="402336"/>
          </a:xfrm>
          <a:prstGeom prst="ellipse">
            <a:avLst/>
          </a:prstGeom>
          <a:solidFill>
            <a:srgbClr val="12263A"/>
          </a:solidFill>
          <a:ln w="12700">
            <a:solidFill>
              <a:srgbClr val="12263A"/>
            </a:solidFill>
            <a:prstDash val="solid"/>
          </a:ln>
        </p:spPr>
      </p:sp>
      <p:sp>
        <p:nvSpPr>
          <p:cNvPr id="6" name="Text 4"/>
          <p:cNvSpPr/>
          <p:nvPr/>
        </p:nvSpPr>
        <p:spPr>
          <a:xfrm>
            <a:off x="685800" y="137160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p:nvPr/>
        </p:nvSpPr>
        <p:spPr>
          <a:xfrm>
            <a:off x="1197864" y="128016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Métricas</a:t>
            </a:r>
            <a:endParaRPr lang="en-US" sz="1250" dirty="0"/>
          </a:p>
        </p:txBody>
      </p:sp>
      <p:sp>
        <p:nvSpPr>
          <p:cNvPr id="8" name="Text 6"/>
          <p:cNvSpPr/>
          <p:nvPr/>
        </p:nvSpPr>
        <p:spPr>
          <a:xfrm>
            <a:off x="1197864" y="153619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Estabelecer métricas para avaliar a eficácia dos processamentos</a:t>
            </a:r>
            <a:endParaRPr lang="en-US" sz="1050" dirty="0"/>
          </a:p>
        </p:txBody>
      </p:sp>
      <p:sp>
        <p:nvSpPr>
          <p:cNvPr id="9" name="Shape 7"/>
          <p:cNvSpPr/>
          <p:nvPr/>
        </p:nvSpPr>
        <p:spPr>
          <a:xfrm>
            <a:off x="4617720" y="1207008"/>
            <a:ext cx="3977640" cy="731520"/>
          </a:xfrm>
          <a:prstGeom prst="roundRect">
            <a:avLst>
              <a:gd name="adj" fmla="val 8750"/>
            </a:avLst>
          </a:prstGeom>
          <a:solidFill>
            <a:srgbClr val="F1F4F7"/>
          </a:solidFill>
          <a:ln w="9525">
            <a:solidFill>
              <a:srgbClr val="E4EAF0"/>
            </a:solidFill>
            <a:prstDash val="solid"/>
          </a:ln>
        </p:spPr>
      </p:sp>
      <p:sp>
        <p:nvSpPr>
          <p:cNvPr id="10" name="Shape 8"/>
          <p:cNvSpPr/>
          <p:nvPr/>
        </p:nvSpPr>
        <p:spPr>
          <a:xfrm>
            <a:off x="4800600" y="1371600"/>
            <a:ext cx="402336" cy="402336"/>
          </a:xfrm>
          <a:prstGeom prst="ellipse">
            <a:avLst/>
          </a:prstGeom>
          <a:solidFill>
            <a:srgbClr val="12263A"/>
          </a:solidFill>
          <a:ln w="12700">
            <a:solidFill>
              <a:srgbClr val="12263A"/>
            </a:solidFill>
            <a:prstDash val="solid"/>
          </a:ln>
        </p:spPr>
      </p:sp>
      <p:sp>
        <p:nvSpPr>
          <p:cNvPr id="11" name="Text 9"/>
          <p:cNvSpPr/>
          <p:nvPr/>
        </p:nvSpPr>
        <p:spPr>
          <a:xfrm>
            <a:off x="4800600" y="137160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10"/>
          <p:cNvSpPr/>
          <p:nvPr/>
        </p:nvSpPr>
        <p:spPr>
          <a:xfrm>
            <a:off x="5312664" y="128016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Tipo de modelo</a:t>
            </a:r>
            <a:endParaRPr lang="en-US" sz="1250" dirty="0"/>
          </a:p>
        </p:txBody>
      </p:sp>
      <p:sp>
        <p:nvSpPr>
          <p:cNvPr id="13" name="Text 11"/>
          <p:cNvSpPr/>
          <p:nvPr/>
        </p:nvSpPr>
        <p:spPr>
          <a:xfrm>
            <a:off x="5312664" y="153619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Determinar o tipo de rede neural para avaliar os processamentos</a:t>
            </a:r>
            <a:endParaRPr lang="en-US" sz="1050" dirty="0"/>
          </a:p>
        </p:txBody>
      </p:sp>
      <p:sp>
        <p:nvSpPr>
          <p:cNvPr id="14" name="Shape 12"/>
          <p:cNvSpPr/>
          <p:nvPr/>
        </p:nvSpPr>
        <p:spPr>
          <a:xfrm>
            <a:off x="502920" y="2029968"/>
            <a:ext cx="3977640" cy="731520"/>
          </a:xfrm>
          <a:prstGeom prst="roundRect">
            <a:avLst>
              <a:gd name="adj" fmla="val 8750"/>
            </a:avLst>
          </a:prstGeom>
          <a:solidFill>
            <a:srgbClr val="F1F4F7"/>
          </a:solidFill>
          <a:ln w="9525">
            <a:solidFill>
              <a:srgbClr val="E4EAF0"/>
            </a:solidFill>
            <a:prstDash val="solid"/>
          </a:ln>
        </p:spPr>
      </p:sp>
      <p:sp>
        <p:nvSpPr>
          <p:cNvPr id="15" name="Shape 13"/>
          <p:cNvSpPr/>
          <p:nvPr/>
        </p:nvSpPr>
        <p:spPr>
          <a:xfrm>
            <a:off x="685800" y="2194560"/>
            <a:ext cx="402336" cy="402336"/>
          </a:xfrm>
          <a:prstGeom prst="ellipse">
            <a:avLst/>
          </a:prstGeom>
          <a:solidFill>
            <a:srgbClr val="12263A"/>
          </a:solidFill>
          <a:ln w="12700">
            <a:solidFill>
              <a:srgbClr val="12263A"/>
            </a:solidFill>
            <a:prstDash val="solid"/>
          </a:ln>
        </p:spPr>
      </p:sp>
      <p:sp>
        <p:nvSpPr>
          <p:cNvPr id="16" name="Text 14"/>
          <p:cNvSpPr/>
          <p:nvPr/>
        </p:nvSpPr>
        <p:spPr>
          <a:xfrm>
            <a:off x="685800" y="219456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1197864" y="210312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Construção do modelo</a:t>
            </a:r>
            <a:endParaRPr lang="en-US" sz="1250" dirty="0"/>
          </a:p>
        </p:txBody>
      </p:sp>
      <p:sp>
        <p:nvSpPr>
          <p:cNvPr id="18" name="Text 16"/>
          <p:cNvSpPr/>
          <p:nvPr/>
        </p:nvSpPr>
        <p:spPr>
          <a:xfrm>
            <a:off x="1197864" y="235915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Construir redes de avaliação, sem buscar um modelo definitivo</a:t>
            </a:r>
            <a:endParaRPr lang="en-US" sz="1050" dirty="0"/>
          </a:p>
        </p:txBody>
      </p:sp>
      <p:sp>
        <p:nvSpPr>
          <p:cNvPr id="19" name="Shape 17"/>
          <p:cNvSpPr/>
          <p:nvPr/>
        </p:nvSpPr>
        <p:spPr>
          <a:xfrm>
            <a:off x="4617720" y="2029968"/>
            <a:ext cx="3977640" cy="731520"/>
          </a:xfrm>
          <a:prstGeom prst="roundRect">
            <a:avLst>
              <a:gd name="adj" fmla="val 8750"/>
            </a:avLst>
          </a:prstGeom>
          <a:solidFill>
            <a:srgbClr val="F1F4F7"/>
          </a:solidFill>
          <a:ln w="9525">
            <a:solidFill>
              <a:srgbClr val="E4EAF0"/>
            </a:solidFill>
            <a:prstDash val="solid"/>
          </a:ln>
        </p:spPr>
      </p:sp>
      <p:sp>
        <p:nvSpPr>
          <p:cNvPr id="20" name="Shape 18"/>
          <p:cNvSpPr/>
          <p:nvPr/>
        </p:nvSpPr>
        <p:spPr>
          <a:xfrm>
            <a:off x="4800600" y="2194560"/>
            <a:ext cx="402336" cy="402336"/>
          </a:xfrm>
          <a:prstGeom prst="ellipse">
            <a:avLst/>
          </a:prstGeom>
          <a:solidFill>
            <a:srgbClr val="12263A"/>
          </a:solidFill>
          <a:ln w="12700">
            <a:solidFill>
              <a:srgbClr val="12263A"/>
            </a:solidFill>
            <a:prstDash val="solid"/>
          </a:ln>
        </p:spPr>
      </p:sp>
      <p:sp>
        <p:nvSpPr>
          <p:cNvPr id="21" name="Text 19"/>
          <p:cNvSpPr/>
          <p:nvPr/>
        </p:nvSpPr>
        <p:spPr>
          <a:xfrm>
            <a:off x="4800600" y="219456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2" name="Text 20"/>
          <p:cNvSpPr/>
          <p:nvPr/>
        </p:nvSpPr>
        <p:spPr>
          <a:xfrm>
            <a:off x="5312664" y="210312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Efeito do modelo</a:t>
            </a:r>
            <a:endParaRPr lang="en-US" sz="1250" dirty="0"/>
          </a:p>
        </p:txBody>
      </p:sp>
      <p:sp>
        <p:nvSpPr>
          <p:cNvPr id="23" name="Text 21"/>
          <p:cNvSpPr/>
          <p:nvPr/>
        </p:nvSpPr>
        <p:spPr>
          <a:xfrm>
            <a:off x="5312664" y="235915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Analisar o impacto da escolha do modelo no processamento</a:t>
            </a:r>
            <a:endParaRPr lang="en-US" sz="1050" dirty="0"/>
          </a:p>
        </p:txBody>
      </p:sp>
      <p:sp>
        <p:nvSpPr>
          <p:cNvPr id="24" name="Shape 22"/>
          <p:cNvSpPr/>
          <p:nvPr/>
        </p:nvSpPr>
        <p:spPr>
          <a:xfrm>
            <a:off x="502920" y="2852928"/>
            <a:ext cx="3977640" cy="731520"/>
          </a:xfrm>
          <a:prstGeom prst="roundRect">
            <a:avLst>
              <a:gd name="adj" fmla="val 8750"/>
            </a:avLst>
          </a:prstGeom>
          <a:solidFill>
            <a:srgbClr val="F1F4F7"/>
          </a:solidFill>
          <a:ln w="9525">
            <a:solidFill>
              <a:srgbClr val="E4EAF0"/>
            </a:solidFill>
            <a:prstDash val="solid"/>
          </a:ln>
        </p:spPr>
      </p:sp>
      <p:sp>
        <p:nvSpPr>
          <p:cNvPr id="25" name="Shape 23"/>
          <p:cNvSpPr/>
          <p:nvPr/>
        </p:nvSpPr>
        <p:spPr>
          <a:xfrm>
            <a:off x="685800" y="3017520"/>
            <a:ext cx="402336" cy="402336"/>
          </a:xfrm>
          <a:prstGeom prst="ellipse">
            <a:avLst/>
          </a:prstGeom>
          <a:solidFill>
            <a:srgbClr val="12263A"/>
          </a:solidFill>
          <a:ln w="12700">
            <a:solidFill>
              <a:srgbClr val="12263A"/>
            </a:solidFill>
            <a:prstDash val="solid"/>
          </a:ln>
        </p:spPr>
      </p:sp>
      <p:sp>
        <p:nvSpPr>
          <p:cNvPr id="26" name="Text 24"/>
          <p:cNvSpPr/>
          <p:nvPr/>
        </p:nvSpPr>
        <p:spPr>
          <a:xfrm>
            <a:off x="685800" y="301752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7" name="Text 25"/>
          <p:cNvSpPr/>
          <p:nvPr/>
        </p:nvSpPr>
        <p:spPr>
          <a:xfrm>
            <a:off x="1197864" y="292608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Efeito do dataset</a:t>
            </a:r>
            <a:endParaRPr lang="en-US" sz="1250" dirty="0"/>
          </a:p>
        </p:txBody>
      </p:sp>
      <p:sp>
        <p:nvSpPr>
          <p:cNvPr id="28" name="Text 26"/>
          <p:cNvSpPr/>
          <p:nvPr/>
        </p:nvSpPr>
        <p:spPr>
          <a:xfrm>
            <a:off x="1197864" y="318211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Avaliar a influência do conjunto de dados na eficácia</a:t>
            </a:r>
            <a:endParaRPr lang="en-US" sz="1050" dirty="0"/>
          </a:p>
        </p:txBody>
      </p:sp>
      <p:sp>
        <p:nvSpPr>
          <p:cNvPr id="29" name="Shape 27"/>
          <p:cNvSpPr/>
          <p:nvPr/>
        </p:nvSpPr>
        <p:spPr>
          <a:xfrm>
            <a:off x="4617720" y="2852928"/>
            <a:ext cx="3977640" cy="731520"/>
          </a:xfrm>
          <a:prstGeom prst="roundRect">
            <a:avLst>
              <a:gd name="adj" fmla="val 8750"/>
            </a:avLst>
          </a:prstGeom>
          <a:solidFill>
            <a:srgbClr val="F1F4F7"/>
          </a:solidFill>
          <a:ln w="9525">
            <a:solidFill>
              <a:srgbClr val="E4EAF0"/>
            </a:solidFill>
            <a:prstDash val="solid"/>
          </a:ln>
        </p:spPr>
      </p:sp>
      <p:sp>
        <p:nvSpPr>
          <p:cNvPr id="30" name="Shape 28"/>
          <p:cNvSpPr/>
          <p:nvPr/>
        </p:nvSpPr>
        <p:spPr>
          <a:xfrm>
            <a:off x="4800600" y="3017520"/>
            <a:ext cx="402336" cy="402336"/>
          </a:xfrm>
          <a:prstGeom prst="ellipse">
            <a:avLst/>
          </a:prstGeom>
          <a:solidFill>
            <a:srgbClr val="12263A"/>
          </a:solidFill>
          <a:ln w="12700">
            <a:solidFill>
              <a:srgbClr val="12263A"/>
            </a:solidFill>
            <a:prstDash val="solid"/>
          </a:ln>
        </p:spPr>
      </p:sp>
      <p:sp>
        <p:nvSpPr>
          <p:cNvPr id="31" name="Text 29"/>
          <p:cNvSpPr/>
          <p:nvPr/>
        </p:nvSpPr>
        <p:spPr>
          <a:xfrm>
            <a:off x="4800600" y="301752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2" name="Text 30"/>
          <p:cNvSpPr/>
          <p:nvPr/>
        </p:nvSpPr>
        <p:spPr>
          <a:xfrm>
            <a:off x="5312664" y="292608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Combinação</a:t>
            </a:r>
            <a:endParaRPr lang="en-US" sz="1250" dirty="0"/>
          </a:p>
        </p:txBody>
      </p:sp>
      <p:sp>
        <p:nvSpPr>
          <p:cNvPr id="33" name="Text 31"/>
          <p:cNvSpPr/>
          <p:nvPr/>
        </p:nvSpPr>
        <p:spPr>
          <a:xfrm>
            <a:off x="5312664" y="318211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Aprimorar os processamentos combinando abordagens unitárias</a:t>
            </a:r>
            <a:endParaRPr lang="en-US" sz="1050" dirty="0"/>
          </a:p>
        </p:txBody>
      </p:sp>
      <p:sp>
        <p:nvSpPr>
          <p:cNvPr id="34" name="Shape 32"/>
          <p:cNvSpPr/>
          <p:nvPr/>
        </p:nvSpPr>
        <p:spPr>
          <a:xfrm>
            <a:off x="502920" y="3675888"/>
            <a:ext cx="8092440" cy="731520"/>
          </a:xfrm>
          <a:prstGeom prst="roundRect">
            <a:avLst>
              <a:gd name="adj" fmla="val 8750"/>
            </a:avLst>
          </a:prstGeom>
          <a:solidFill>
            <a:srgbClr val="F1F4F7"/>
          </a:solidFill>
          <a:ln w="9525">
            <a:solidFill>
              <a:srgbClr val="E4EAF0"/>
            </a:solidFill>
            <a:prstDash val="solid"/>
          </a:ln>
        </p:spPr>
      </p:sp>
      <p:sp>
        <p:nvSpPr>
          <p:cNvPr id="35" name="Shape 33"/>
          <p:cNvSpPr/>
          <p:nvPr/>
        </p:nvSpPr>
        <p:spPr>
          <a:xfrm>
            <a:off x="685800" y="3840480"/>
            <a:ext cx="402336" cy="402336"/>
          </a:xfrm>
          <a:prstGeom prst="ellipse">
            <a:avLst/>
          </a:prstGeom>
          <a:solidFill>
            <a:srgbClr val="F5A54A"/>
          </a:solidFill>
          <a:ln w="12700">
            <a:solidFill>
              <a:srgbClr val="F5A54A"/>
            </a:solidFill>
            <a:prstDash val="solid"/>
          </a:ln>
        </p:spPr>
      </p:sp>
      <p:sp>
        <p:nvSpPr>
          <p:cNvPr id="36" name="Text 34"/>
          <p:cNvSpPr/>
          <p:nvPr/>
        </p:nvSpPr>
        <p:spPr>
          <a:xfrm>
            <a:off x="685800" y="3840480"/>
            <a:ext cx="402336" cy="402336"/>
          </a:xfrm>
          <a:prstGeom prst="rect">
            <a:avLst/>
          </a:prstGeom>
          <a:noFill/>
          <a:ln/>
        </p:spPr>
        <p:txBody>
          <a:bodyPr wrap="square" lIns="0" tIns="0" rIns="0" bIns="0" rtlCol="0" anchor="ctr"/>
          <a:lstStyle/>
          <a:p>
            <a:pPr algn="ctr" indent="0" marL="0">
              <a:buNone/>
            </a:pPr>
            <a:r>
              <a:rPr lang="en-US" sz="1100" b="1" dirty="0">
                <a:solidFill>
                  <a:srgbClr val="12263A"/>
                </a:solidFill>
                <a:latin typeface="Calibri" pitchFamily="34" charset="0"/>
                <a:ea typeface="Calibri" pitchFamily="34" charset="-122"/>
                <a:cs typeface="Calibri" pitchFamily="34" charset="-120"/>
              </a:rPr>
              <a:t>7</a:t>
            </a:r>
            <a:endParaRPr lang="en-US" sz="1100" dirty="0"/>
          </a:p>
        </p:txBody>
      </p:sp>
      <p:sp>
        <p:nvSpPr>
          <p:cNvPr id="37" name="Text 35"/>
          <p:cNvSpPr/>
          <p:nvPr/>
        </p:nvSpPr>
        <p:spPr>
          <a:xfrm>
            <a:off x="1197864" y="3749040"/>
            <a:ext cx="72237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Ajuste automático</a:t>
            </a:r>
            <a:endParaRPr lang="en-US" sz="1250" dirty="0"/>
          </a:p>
        </p:txBody>
      </p:sp>
      <p:sp>
        <p:nvSpPr>
          <p:cNvPr id="38" name="Text 36"/>
          <p:cNvSpPr/>
          <p:nvPr/>
        </p:nvSpPr>
        <p:spPr>
          <a:xfrm>
            <a:off x="1197864" y="4005072"/>
            <a:ext cx="72511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Otimizar parâmetros sem intervenção manual extensa</a:t>
            </a:r>
            <a:endParaRPr lang="en-US" sz="1050" dirty="0"/>
          </a:p>
        </p:txBody>
      </p:sp>
      <p:sp>
        <p:nvSpPr>
          <p:cNvPr id="39" name="Text 37"/>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40" name="Text 38"/>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METODOLOGIA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Estruturada, iterativa e modular</a:t>
            </a:r>
            <a:endParaRPr lang="en-US" sz="2800" dirty="0"/>
          </a:p>
        </p:txBody>
      </p:sp>
      <p:sp>
        <p:nvSpPr>
          <p:cNvPr id="4" name="Shape 2"/>
          <p:cNvSpPr/>
          <p:nvPr/>
        </p:nvSpPr>
        <p:spPr>
          <a:xfrm>
            <a:off x="384048" y="1005840"/>
            <a:ext cx="1701784" cy="3621024"/>
          </a:xfrm>
          <a:prstGeom prst="roundRect">
            <a:avLst>
              <a:gd name="adj" fmla="val 2149"/>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457200" y="1078992"/>
            <a:ext cx="1555480" cy="3474720"/>
          </a:xfrm>
          <a:prstGeom prst="rect">
            <a:avLst/>
          </a:prstGeom>
        </p:spPr>
      </p:pic>
      <p:sp>
        <p:nvSpPr>
          <p:cNvPr id="6" name="Shape 3"/>
          <p:cNvSpPr/>
          <p:nvPr/>
        </p:nvSpPr>
        <p:spPr>
          <a:xfrm>
            <a:off x="2286000" y="1188720"/>
            <a:ext cx="3108960" cy="603504"/>
          </a:xfrm>
          <a:prstGeom prst="roundRect">
            <a:avLst>
              <a:gd name="adj" fmla="val 10606"/>
            </a:avLst>
          </a:prstGeom>
          <a:solidFill>
            <a:srgbClr val="F1F4F7"/>
          </a:solidFill>
          <a:ln w="9525">
            <a:solidFill>
              <a:srgbClr val="E4EAF0"/>
            </a:solidFill>
            <a:prstDash val="solid"/>
          </a:ln>
        </p:spPr>
      </p:sp>
      <p:sp>
        <p:nvSpPr>
          <p:cNvPr id="7" name="Shape 4"/>
          <p:cNvSpPr/>
          <p:nvPr/>
        </p:nvSpPr>
        <p:spPr>
          <a:xfrm>
            <a:off x="2414016" y="1325880"/>
            <a:ext cx="329184" cy="329184"/>
          </a:xfrm>
          <a:prstGeom prst="ellipse">
            <a:avLst/>
          </a:prstGeom>
          <a:solidFill>
            <a:srgbClr val="1C7293"/>
          </a:solidFill>
          <a:ln w="12700">
            <a:solidFill>
              <a:srgbClr val="1C7293"/>
            </a:solidFill>
            <a:prstDash val="solid"/>
          </a:ln>
        </p:spPr>
      </p:sp>
      <p:sp>
        <p:nvSpPr>
          <p:cNvPr id="8" name="Text 5"/>
          <p:cNvSpPr/>
          <p:nvPr/>
        </p:nvSpPr>
        <p:spPr>
          <a:xfrm>
            <a:off x="2414016" y="132588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9" name="Text 6"/>
          <p:cNvSpPr/>
          <p:nvPr/>
        </p:nvSpPr>
        <p:spPr>
          <a:xfrm>
            <a:off x="2834640" y="118872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Seleção e validação do dataset</a:t>
            </a:r>
            <a:endParaRPr lang="en-US" sz="1200" dirty="0"/>
          </a:p>
        </p:txBody>
      </p:sp>
      <p:sp>
        <p:nvSpPr>
          <p:cNvPr id="10" name="Shape 7"/>
          <p:cNvSpPr/>
          <p:nvPr/>
        </p:nvSpPr>
        <p:spPr>
          <a:xfrm>
            <a:off x="5577840" y="1188720"/>
            <a:ext cx="3108960" cy="603504"/>
          </a:xfrm>
          <a:prstGeom prst="roundRect">
            <a:avLst>
              <a:gd name="adj" fmla="val 10606"/>
            </a:avLst>
          </a:prstGeom>
          <a:solidFill>
            <a:srgbClr val="F1F4F7"/>
          </a:solidFill>
          <a:ln w="9525">
            <a:solidFill>
              <a:srgbClr val="E4EAF0"/>
            </a:solidFill>
            <a:prstDash val="solid"/>
          </a:ln>
        </p:spPr>
      </p:sp>
      <p:sp>
        <p:nvSpPr>
          <p:cNvPr id="11" name="Shape 8"/>
          <p:cNvSpPr/>
          <p:nvPr/>
        </p:nvSpPr>
        <p:spPr>
          <a:xfrm>
            <a:off x="5705856" y="1325880"/>
            <a:ext cx="329184" cy="329184"/>
          </a:xfrm>
          <a:prstGeom prst="ellipse">
            <a:avLst/>
          </a:prstGeom>
          <a:solidFill>
            <a:srgbClr val="1C7293"/>
          </a:solidFill>
          <a:ln w="12700">
            <a:solidFill>
              <a:srgbClr val="1C7293"/>
            </a:solidFill>
            <a:prstDash val="solid"/>
          </a:ln>
        </p:spPr>
      </p:sp>
      <p:sp>
        <p:nvSpPr>
          <p:cNvPr id="12" name="Text 9"/>
          <p:cNvSpPr/>
          <p:nvPr/>
        </p:nvSpPr>
        <p:spPr>
          <a:xfrm>
            <a:off x="5705856" y="132588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3" name="Text 10"/>
          <p:cNvSpPr/>
          <p:nvPr/>
        </p:nvSpPr>
        <p:spPr>
          <a:xfrm>
            <a:off x="6126480" y="118872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Pré-processamento</a:t>
            </a:r>
            <a:endParaRPr lang="en-US" sz="1200" dirty="0"/>
          </a:p>
        </p:txBody>
      </p:sp>
      <p:sp>
        <p:nvSpPr>
          <p:cNvPr id="14" name="Shape 11"/>
          <p:cNvSpPr/>
          <p:nvPr/>
        </p:nvSpPr>
        <p:spPr>
          <a:xfrm>
            <a:off x="2286000" y="1920240"/>
            <a:ext cx="3108960" cy="603504"/>
          </a:xfrm>
          <a:prstGeom prst="roundRect">
            <a:avLst>
              <a:gd name="adj" fmla="val 10606"/>
            </a:avLst>
          </a:prstGeom>
          <a:solidFill>
            <a:srgbClr val="F1F4F7"/>
          </a:solidFill>
          <a:ln w="9525">
            <a:solidFill>
              <a:srgbClr val="E4EAF0"/>
            </a:solidFill>
            <a:prstDash val="solid"/>
          </a:ln>
        </p:spPr>
      </p:sp>
      <p:sp>
        <p:nvSpPr>
          <p:cNvPr id="15" name="Shape 12"/>
          <p:cNvSpPr/>
          <p:nvPr/>
        </p:nvSpPr>
        <p:spPr>
          <a:xfrm>
            <a:off x="2414016" y="2057400"/>
            <a:ext cx="329184" cy="329184"/>
          </a:xfrm>
          <a:prstGeom prst="ellipse">
            <a:avLst/>
          </a:prstGeom>
          <a:solidFill>
            <a:srgbClr val="1C7293"/>
          </a:solidFill>
          <a:ln w="12700">
            <a:solidFill>
              <a:srgbClr val="1C7293"/>
            </a:solidFill>
            <a:prstDash val="solid"/>
          </a:ln>
        </p:spPr>
      </p:sp>
      <p:sp>
        <p:nvSpPr>
          <p:cNvPr id="16" name="Text 13"/>
          <p:cNvSpPr/>
          <p:nvPr/>
        </p:nvSpPr>
        <p:spPr>
          <a:xfrm>
            <a:off x="2414016" y="205740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7" name="Text 14"/>
          <p:cNvSpPr/>
          <p:nvPr/>
        </p:nvSpPr>
        <p:spPr>
          <a:xfrm>
            <a:off x="2834640" y="192024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Ajuste de parâmetros</a:t>
            </a:r>
            <a:endParaRPr lang="en-US" sz="1200" dirty="0"/>
          </a:p>
        </p:txBody>
      </p:sp>
      <p:sp>
        <p:nvSpPr>
          <p:cNvPr id="18" name="Shape 15"/>
          <p:cNvSpPr/>
          <p:nvPr/>
        </p:nvSpPr>
        <p:spPr>
          <a:xfrm>
            <a:off x="5577840" y="1920240"/>
            <a:ext cx="3108960" cy="603504"/>
          </a:xfrm>
          <a:prstGeom prst="roundRect">
            <a:avLst>
              <a:gd name="adj" fmla="val 10606"/>
            </a:avLst>
          </a:prstGeom>
          <a:solidFill>
            <a:srgbClr val="F1F4F7"/>
          </a:solidFill>
          <a:ln w="9525">
            <a:solidFill>
              <a:srgbClr val="E4EAF0"/>
            </a:solidFill>
            <a:prstDash val="solid"/>
          </a:ln>
        </p:spPr>
      </p:sp>
      <p:sp>
        <p:nvSpPr>
          <p:cNvPr id="19" name="Shape 16"/>
          <p:cNvSpPr/>
          <p:nvPr/>
        </p:nvSpPr>
        <p:spPr>
          <a:xfrm>
            <a:off x="5705856" y="2057400"/>
            <a:ext cx="329184" cy="329184"/>
          </a:xfrm>
          <a:prstGeom prst="ellipse">
            <a:avLst/>
          </a:prstGeom>
          <a:solidFill>
            <a:srgbClr val="1C7293"/>
          </a:solidFill>
          <a:ln w="12700">
            <a:solidFill>
              <a:srgbClr val="1C7293"/>
            </a:solidFill>
            <a:prstDash val="solid"/>
          </a:ln>
        </p:spPr>
      </p:sp>
      <p:sp>
        <p:nvSpPr>
          <p:cNvPr id="20" name="Text 17"/>
          <p:cNvSpPr/>
          <p:nvPr/>
        </p:nvSpPr>
        <p:spPr>
          <a:xfrm>
            <a:off x="5705856" y="205740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1" name="Text 18"/>
          <p:cNvSpPr/>
          <p:nvPr/>
        </p:nvSpPr>
        <p:spPr>
          <a:xfrm>
            <a:off x="6126480" y="192024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Escolha e construção do modelo</a:t>
            </a:r>
            <a:endParaRPr lang="en-US" sz="1200" dirty="0"/>
          </a:p>
        </p:txBody>
      </p:sp>
      <p:sp>
        <p:nvSpPr>
          <p:cNvPr id="22" name="Shape 19"/>
          <p:cNvSpPr/>
          <p:nvPr/>
        </p:nvSpPr>
        <p:spPr>
          <a:xfrm>
            <a:off x="2286000" y="2651760"/>
            <a:ext cx="3108960" cy="603504"/>
          </a:xfrm>
          <a:prstGeom prst="roundRect">
            <a:avLst>
              <a:gd name="adj" fmla="val 10606"/>
            </a:avLst>
          </a:prstGeom>
          <a:solidFill>
            <a:srgbClr val="F1F4F7"/>
          </a:solidFill>
          <a:ln w="9525">
            <a:solidFill>
              <a:srgbClr val="E4EAF0"/>
            </a:solidFill>
            <a:prstDash val="solid"/>
          </a:ln>
        </p:spPr>
      </p:sp>
      <p:sp>
        <p:nvSpPr>
          <p:cNvPr id="23" name="Shape 20"/>
          <p:cNvSpPr/>
          <p:nvPr/>
        </p:nvSpPr>
        <p:spPr>
          <a:xfrm>
            <a:off x="2414016" y="2788920"/>
            <a:ext cx="329184" cy="329184"/>
          </a:xfrm>
          <a:prstGeom prst="ellipse">
            <a:avLst/>
          </a:prstGeom>
          <a:solidFill>
            <a:srgbClr val="1C7293"/>
          </a:solidFill>
          <a:ln w="12700">
            <a:solidFill>
              <a:srgbClr val="1C7293"/>
            </a:solidFill>
            <a:prstDash val="solid"/>
          </a:ln>
        </p:spPr>
      </p:sp>
      <p:sp>
        <p:nvSpPr>
          <p:cNvPr id="24" name="Text 21"/>
          <p:cNvSpPr/>
          <p:nvPr/>
        </p:nvSpPr>
        <p:spPr>
          <a:xfrm>
            <a:off x="2414016" y="278892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5" name="Text 22"/>
          <p:cNvSpPr/>
          <p:nvPr/>
        </p:nvSpPr>
        <p:spPr>
          <a:xfrm>
            <a:off x="2834640" y="265176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Treinamento</a:t>
            </a:r>
            <a:endParaRPr lang="en-US" sz="1200" dirty="0"/>
          </a:p>
        </p:txBody>
      </p:sp>
      <p:sp>
        <p:nvSpPr>
          <p:cNvPr id="26" name="Shape 23"/>
          <p:cNvSpPr/>
          <p:nvPr/>
        </p:nvSpPr>
        <p:spPr>
          <a:xfrm>
            <a:off x="5577840" y="2651760"/>
            <a:ext cx="3108960" cy="603504"/>
          </a:xfrm>
          <a:prstGeom prst="roundRect">
            <a:avLst>
              <a:gd name="adj" fmla="val 10606"/>
            </a:avLst>
          </a:prstGeom>
          <a:solidFill>
            <a:srgbClr val="F1F4F7"/>
          </a:solidFill>
          <a:ln w="9525">
            <a:solidFill>
              <a:srgbClr val="E4EAF0"/>
            </a:solidFill>
            <a:prstDash val="solid"/>
          </a:ln>
        </p:spPr>
      </p:sp>
      <p:sp>
        <p:nvSpPr>
          <p:cNvPr id="27" name="Shape 24"/>
          <p:cNvSpPr/>
          <p:nvPr/>
        </p:nvSpPr>
        <p:spPr>
          <a:xfrm>
            <a:off x="5705856" y="2788920"/>
            <a:ext cx="329184" cy="329184"/>
          </a:xfrm>
          <a:prstGeom prst="ellipse">
            <a:avLst/>
          </a:prstGeom>
          <a:solidFill>
            <a:srgbClr val="F5A54A"/>
          </a:solidFill>
          <a:ln w="12700">
            <a:solidFill>
              <a:srgbClr val="F5A54A"/>
            </a:solidFill>
            <a:prstDash val="solid"/>
          </a:ln>
        </p:spPr>
      </p:sp>
      <p:sp>
        <p:nvSpPr>
          <p:cNvPr id="28" name="Text 25"/>
          <p:cNvSpPr/>
          <p:nvPr/>
        </p:nvSpPr>
        <p:spPr>
          <a:xfrm>
            <a:off x="5705856" y="2788920"/>
            <a:ext cx="329184" cy="329184"/>
          </a:xfrm>
          <a:prstGeom prst="rect">
            <a:avLst/>
          </a:prstGeom>
          <a:noFill/>
          <a:ln/>
        </p:spPr>
        <p:txBody>
          <a:bodyPr wrap="square" lIns="0" tIns="0" rIns="0" bIns="0" rtlCol="0" anchor="ctr"/>
          <a:lstStyle/>
          <a:p>
            <a:pPr algn="ctr" indent="0" marL="0">
              <a:buNone/>
            </a:pPr>
            <a:r>
              <a:rPr lang="en-US" sz="1000" b="1" dirty="0">
                <a:solidFill>
                  <a:srgbClr val="12263A"/>
                </a:solidFill>
                <a:latin typeface="Calibri" pitchFamily="34" charset="0"/>
                <a:ea typeface="Calibri" pitchFamily="34" charset="-122"/>
                <a:cs typeface="Calibri" pitchFamily="34" charset="-120"/>
              </a:rPr>
              <a:t>6</a:t>
            </a:r>
            <a:endParaRPr lang="en-US" sz="1000" dirty="0"/>
          </a:p>
        </p:txBody>
      </p:sp>
      <p:sp>
        <p:nvSpPr>
          <p:cNvPr id="29" name="Text 26"/>
          <p:cNvSpPr/>
          <p:nvPr/>
        </p:nvSpPr>
        <p:spPr>
          <a:xfrm>
            <a:off x="6126480" y="265176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Avaliação e ajustes</a:t>
            </a:r>
            <a:endParaRPr lang="en-US" sz="1200" dirty="0"/>
          </a:p>
        </p:txBody>
      </p:sp>
      <p:sp>
        <p:nvSpPr>
          <p:cNvPr id="30" name="Shape 27"/>
          <p:cNvSpPr/>
          <p:nvPr/>
        </p:nvSpPr>
        <p:spPr>
          <a:xfrm>
            <a:off x="2286000" y="3520440"/>
            <a:ext cx="640080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31" name="Text 28"/>
          <p:cNvSpPr/>
          <p:nvPr/>
        </p:nvSpPr>
        <p:spPr>
          <a:xfrm>
            <a:off x="2514600" y="3520440"/>
            <a:ext cx="6035040" cy="914400"/>
          </a:xfrm>
          <a:prstGeom prst="rect">
            <a:avLst/>
          </a:prstGeom>
          <a:noFill/>
          <a:ln/>
        </p:spPr>
        <p:txBody>
          <a:bodyPr wrap="square" lIns="0" tIns="0" rIns="0" bIns="0" rtlCol="0" anchor="ctr"/>
          <a:lstStyle/>
          <a:p>
            <a:pPr indent="0" marL="0">
              <a:buNone/>
            </a:pPr>
            <a:r>
              <a:rPr lang="en-US" sz="2200" b="1" dirty="0">
                <a:solidFill>
                  <a:srgbClr val="F5A54A"/>
                </a:solidFill>
                <a:latin typeface="Calibri" pitchFamily="34" charset="0"/>
                <a:ea typeface="Calibri" pitchFamily="34" charset="-122"/>
                <a:cs typeface="Calibri" pitchFamily="34" charset="-120"/>
              </a:rPr>
              <a:t>↺  </a:t>
            </a:r>
            <a:pPr indent="0" marL="0">
              <a:buNone/>
            </a:pPr>
            <a:r>
              <a:rPr lang="en-US" sz="1350" dirty="0">
                <a:solidFill>
                  <a:srgbClr val="FFFFFF"/>
                </a:solidFill>
                <a:latin typeface="Calibri" pitchFamily="34" charset="0"/>
                <a:ea typeface="Calibri" pitchFamily="34" charset="-122"/>
                <a:cs typeface="Calibri" pitchFamily="34" charset="-120"/>
              </a:rPr>
              <a:t>A avaliação retroalimenta o pré-processamento e a escolha do modelo.</a:t>
            </a:r>
            <a:endParaRPr lang="en-US" sz="2200" dirty="0"/>
          </a:p>
        </p:txBody>
      </p:sp>
      <p:sp>
        <p:nvSpPr>
          <p:cNvPr id="32" name="Text 29"/>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33" name="Text 30"/>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METODOLOGIA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Quatro decisões conduzem o fluxo</a:t>
            </a:r>
            <a:endParaRPr lang="en-US" sz="2800" dirty="0"/>
          </a:p>
        </p:txBody>
      </p:sp>
      <p:sp>
        <p:nvSpPr>
          <p:cNvPr id="4" name="Shape 2"/>
          <p:cNvSpPr/>
          <p:nvPr/>
        </p:nvSpPr>
        <p:spPr>
          <a:xfrm>
            <a:off x="429768" y="978408"/>
            <a:ext cx="1391986" cy="3639312"/>
          </a:xfrm>
          <a:prstGeom prst="roundRect">
            <a:avLst>
              <a:gd name="adj" fmla="val 2628"/>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502920" y="1051560"/>
            <a:ext cx="1245682" cy="3493008"/>
          </a:xfrm>
          <a:prstGeom prst="rect">
            <a:avLst/>
          </a:prstGeom>
        </p:spPr>
      </p:pic>
      <p:sp>
        <p:nvSpPr>
          <p:cNvPr id="6" name="Shape 3"/>
          <p:cNvSpPr/>
          <p:nvPr/>
        </p:nvSpPr>
        <p:spPr>
          <a:xfrm>
            <a:off x="2331720" y="1225296"/>
            <a:ext cx="457200" cy="457200"/>
          </a:xfrm>
          <a:prstGeom prst="diamond">
            <a:avLst/>
          </a:prstGeom>
          <a:solidFill>
            <a:srgbClr val="1C7293"/>
          </a:solidFill>
          <a:ln/>
        </p:spPr>
      </p:sp>
      <p:sp>
        <p:nvSpPr>
          <p:cNvPr id="7" name="Text 4"/>
          <p:cNvSpPr/>
          <p:nvPr/>
        </p:nvSpPr>
        <p:spPr>
          <a:xfrm>
            <a:off x="2331720" y="1225296"/>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2971800" y="1188720"/>
            <a:ext cx="5669280" cy="530352"/>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Dataset está balanceado?</a:t>
            </a:r>
            <a:endParaRPr lang="en-US" sz="1500" dirty="0"/>
          </a:p>
        </p:txBody>
      </p:sp>
      <p:sp>
        <p:nvSpPr>
          <p:cNvPr id="9" name="Shape 6"/>
          <p:cNvSpPr/>
          <p:nvPr/>
        </p:nvSpPr>
        <p:spPr>
          <a:xfrm>
            <a:off x="2331720" y="1883664"/>
            <a:ext cx="457200" cy="457200"/>
          </a:xfrm>
          <a:prstGeom prst="diamond">
            <a:avLst/>
          </a:prstGeom>
          <a:solidFill>
            <a:srgbClr val="1C7293"/>
          </a:solidFill>
          <a:ln/>
        </p:spPr>
      </p:sp>
      <p:sp>
        <p:nvSpPr>
          <p:cNvPr id="10" name="Text 7"/>
          <p:cNvSpPr/>
          <p:nvPr/>
        </p:nvSpPr>
        <p:spPr>
          <a:xfrm>
            <a:off x="2331720" y="1883664"/>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p:nvPr/>
        </p:nvSpPr>
        <p:spPr>
          <a:xfrm>
            <a:off x="2971800" y="1847088"/>
            <a:ext cx="5669280" cy="530352"/>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Combinar técnicas?</a:t>
            </a:r>
            <a:endParaRPr lang="en-US" sz="1500" dirty="0"/>
          </a:p>
        </p:txBody>
      </p:sp>
      <p:sp>
        <p:nvSpPr>
          <p:cNvPr id="12" name="Shape 9"/>
          <p:cNvSpPr/>
          <p:nvPr/>
        </p:nvSpPr>
        <p:spPr>
          <a:xfrm>
            <a:off x="2331720" y="2542032"/>
            <a:ext cx="457200" cy="457200"/>
          </a:xfrm>
          <a:prstGeom prst="diamond">
            <a:avLst/>
          </a:prstGeom>
          <a:solidFill>
            <a:srgbClr val="1C7293"/>
          </a:solidFill>
          <a:ln/>
        </p:spPr>
      </p:sp>
      <p:sp>
        <p:nvSpPr>
          <p:cNvPr id="13" name="Text 10"/>
          <p:cNvSpPr/>
          <p:nvPr/>
        </p:nvSpPr>
        <p:spPr>
          <a:xfrm>
            <a:off x="2331720" y="2542032"/>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1"/>
          <p:cNvSpPr/>
          <p:nvPr/>
        </p:nvSpPr>
        <p:spPr>
          <a:xfrm>
            <a:off x="2971800" y="2505456"/>
            <a:ext cx="5669280" cy="530352"/>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Tipo de tarefa?</a:t>
            </a:r>
            <a:endParaRPr lang="en-US" sz="1500" dirty="0"/>
          </a:p>
        </p:txBody>
      </p:sp>
      <p:sp>
        <p:nvSpPr>
          <p:cNvPr id="15" name="Shape 12"/>
          <p:cNvSpPr/>
          <p:nvPr/>
        </p:nvSpPr>
        <p:spPr>
          <a:xfrm>
            <a:off x="2331720" y="3200400"/>
            <a:ext cx="457200" cy="457200"/>
          </a:xfrm>
          <a:prstGeom prst="diamond">
            <a:avLst/>
          </a:prstGeom>
          <a:solidFill>
            <a:srgbClr val="F5A54A"/>
          </a:solidFill>
          <a:ln/>
        </p:spPr>
      </p:sp>
      <p:sp>
        <p:nvSpPr>
          <p:cNvPr id="16" name="Text 13"/>
          <p:cNvSpPr/>
          <p:nvPr/>
        </p:nvSpPr>
        <p:spPr>
          <a:xfrm>
            <a:off x="2331720" y="3200400"/>
            <a:ext cx="457200" cy="457200"/>
          </a:xfrm>
          <a:prstGeom prst="rect">
            <a:avLst/>
          </a:prstGeom>
          <a:noFill/>
          <a:ln/>
        </p:spPr>
        <p:txBody>
          <a:bodyPr wrap="square" lIns="0" tIns="0" rIns="0" bIns="0" rtlCol="0" anchor="ctr"/>
          <a:lstStyle/>
          <a:p>
            <a:pPr algn="ctr" indent="0" marL="0">
              <a:buNone/>
            </a:pPr>
            <a:r>
              <a:rPr lang="en-US" sz="1100" b="1" dirty="0">
                <a:solidFill>
                  <a:srgbClr val="12263A"/>
                </a:solidFill>
                <a:latin typeface="Calibri" pitchFamily="34" charset="0"/>
                <a:ea typeface="Calibri" pitchFamily="34" charset="-122"/>
                <a:cs typeface="Calibri" pitchFamily="34" charset="-120"/>
              </a:rPr>
              <a:t>4</a:t>
            </a:r>
            <a:endParaRPr lang="en-US" sz="1100" dirty="0"/>
          </a:p>
        </p:txBody>
      </p:sp>
      <p:sp>
        <p:nvSpPr>
          <p:cNvPr id="17" name="Text 14"/>
          <p:cNvSpPr/>
          <p:nvPr/>
        </p:nvSpPr>
        <p:spPr>
          <a:xfrm>
            <a:off x="2971800" y="3163824"/>
            <a:ext cx="5669280" cy="530352"/>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Desempenho satisfatório?</a:t>
            </a:r>
            <a:endParaRPr lang="en-US" sz="1500" dirty="0"/>
          </a:p>
        </p:txBody>
      </p:sp>
      <p:sp>
        <p:nvSpPr>
          <p:cNvPr id="18" name="Shape 15"/>
          <p:cNvSpPr/>
          <p:nvPr/>
        </p:nvSpPr>
        <p:spPr>
          <a:xfrm>
            <a:off x="2286000" y="3931920"/>
            <a:ext cx="6400800" cy="566928"/>
          </a:xfrm>
          <a:prstGeom prst="roundRect">
            <a:avLst>
              <a:gd name="adj" fmla="val 11290"/>
            </a:avLst>
          </a:prstGeom>
          <a:solidFill>
            <a:srgbClr val="F1F4F7"/>
          </a:solidFill>
          <a:ln w="9525">
            <a:solidFill>
              <a:srgbClr val="E4EAF0"/>
            </a:solidFill>
            <a:prstDash val="solid"/>
          </a:ln>
        </p:spPr>
      </p:sp>
      <p:sp>
        <p:nvSpPr>
          <p:cNvPr id="19" name="Text 16"/>
          <p:cNvSpPr/>
          <p:nvPr/>
        </p:nvSpPr>
        <p:spPr>
          <a:xfrm>
            <a:off x="2468880" y="3931920"/>
            <a:ext cx="6035040" cy="566928"/>
          </a:xfrm>
          <a:prstGeom prst="rect">
            <a:avLst/>
          </a:prstGeom>
          <a:noFill/>
          <a:ln/>
        </p:spPr>
        <p:txBody>
          <a:bodyPr wrap="square" lIns="0" tIns="0" rIns="0" bIns="0" rtlCol="0" anchor="ctr"/>
          <a:lstStyle/>
          <a:p>
            <a:pPr indent="0" marL="0">
              <a:buNone/>
            </a:pPr>
            <a:r>
              <a:rPr lang="en-US" sz="1150" i="1" dirty="0">
                <a:solidFill>
                  <a:srgbClr val="1B2A3A"/>
                </a:solidFill>
                <a:latin typeface="Calibri" pitchFamily="34" charset="0"/>
                <a:ea typeface="Calibri" pitchFamily="34" charset="-122"/>
                <a:cs typeface="Calibri" pitchFamily="34" charset="-120"/>
              </a:rPr>
              <a:t>Neste trabalho: técnicas isoladas e combinadas, classificação e ajuste automático de parâmetros.</a:t>
            </a:r>
            <a:endParaRPr lang="en-US" sz="1150" dirty="0"/>
          </a:p>
        </p:txBody>
      </p:sp>
      <p:sp>
        <p:nvSpPr>
          <p:cNvPr id="20" name="Text 17"/>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21" name="Text 18"/>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MATERIAIS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Dois cenários de inspeção de isoladores</a:t>
            </a:r>
            <a:endParaRPr lang="en-US" sz="2800" dirty="0"/>
          </a:p>
        </p:txBody>
      </p:sp>
      <p:pic>
        <p:nvPicPr>
          <p:cNvPr id="4" name="Image 0" descr="preencoded.png">    </p:cNvPr>
          <p:cNvPicPr>
            <a:picLocks noChangeAspect="1"/>
          </p:cNvPicPr>
          <p:nvPr/>
        </p:nvPicPr>
        <p:blipFill>
          <a:blip r:embed="rId1"/>
          <a:stretch>
            <a:fillRect/>
          </a:stretch>
        </p:blipFill>
        <p:spPr>
          <a:xfrm>
            <a:off x="502920" y="1188720"/>
            <a:ext cx="3931920" cy="1828800"/>
          </a:xfrm>
          <a:prstGeom prst="rect">
            <a:avLst/>
          </a:prstGeom>
        </p:spPr>
      </p:pic>
      <p:sp>
        <p:nvSpPr>
          <p:cNvPr id="5" name="Text 2"/>
          <p:cNvSpPr/>
          <p:nvPr/>
        </p:nvSpPr>
        <p:spPr>
          <a:xfrm>
            <a:off x="502920" y="3127248"/>
            <a:ext cx="3931920" cy="329184"/>
          </a:xfrm>
          <a:prstGeom prst="rect">
            <a:avLst/>
          </a:prstGeom>
          <a:noFill/>
          <a:ln/>
        </p:spPr>
        <p:txBody>
          <a:bodyPr wrap="square" lIns="0" tIns="0" rIns="0" bIns="0" rtlCol="0" anchor="ctr"/>
          <a:lstStyle/>
          <a:p>
            <a:pPr indent="0" marL="0">
              <a:buNone/>
            </a:pPr>
            <a:r>
              <a:rPr lang="en-US" sz="1800" b="1" dirty="0">
                <a:solidFill>
                  <a:srgbClr val="1C7293"/>
                </a:solidFill>
                <a:latin typeface="Cambria" pitchFamily="34" charset="0"/>
                <a:ea typeface="Cambria" pitchFamily="34" charset="-122"/>
                <a:cs typeface="Cambria" pitchFamily="34" charset="-120"/>
              </a:rPr>
              <a:t>CPLID</a:t>
            </a:r>
            <a:endParaRPr lang="en-US" sz="1800" dirty="0"/>
          </a:p>
        </p:txBody>
      </p:sp>
      <p:sp>
        <p:nvSpPr>
          <p:cNvPr id="6" name="Text 3"/>
          <p:cNvSpPr/>
          <p:nvPr/>
        </p:nvSpPr>
        <p:spPr>
          <a:xfrm>
            <a:off x="521208" y="3493008"/>
            <a:ext cx="3886200" cy="9601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Linhas de transmissão, isoladores majoritariamente cerâmicos</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Defeito estrutural: disco ausente e fraturas</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678 imagens de treino e 43 de teste</a:t>
            </a:r>
            <a:endParaRPr lang="en-US" sz="1150" dirty="0"/>
          </a:p>
        </p:txBody>
      </p:sp>
      <p:pic>
        <p:nvPicPr>
          <p:cNvPr id="7" name="Image 1" descr="preencoded.png">    </p:cNvPr>
          <p:cNvPicPr>
            <a:picLocks noChangeAspect="1"/>
          </p:cNvPicPr>
          <p:nvPr/>
        </p:nvPicPr>
        <p:blipFill>
          <a:blip r:embed="rId2"/>
          <a:stretch>
            <a:fillRect/>
          </a:stretch>
        </p:blipFill>
        <p:spPr>
          <a:xfrm>
            <a:off x="4709160" y="1188720"/>
            <a:ext cx="3931920" cy="1828800"/>
          </a:xfrm>
          <a:prstGeom prst="rect">
            <a:avLst/>
          </a:prstGeom>
        </p:spPr>
      </p:pic>
      <p:sp>
        <p:nvSpPr>
          <p:cNvPr id="8" name="Text 4"/>
          <p:cNvSpPr/>
          <p:nvPr/>
        </p:nvSpPr>
        <p:spPr>
          <a:xfrm>
            <a:off x="4709160" y="3127248"/>
            <a:ext cx="3931920" cy="329184"/>
          </a:xfrm>
          <a:prstGeom prst="rect">
            <a:avLst/>
          </a:prstGeom>
          <a:noFill/>
          <a:ln/>
        </p:spPr>
        <p:txBody>
          <a:bodyPr wrap="square" lIns="0" tIns="0" rIns="0" bIns="0" rtlCol="0" anchor="ctr"/>
          <a:lstStyle/>
          <a:p>
            <a:pPr indent="0" marL="0">
              <a:buNone/>
            </a:pPr>
            <a:r>
              <a:rPr lang="en-US" sz="1800" b="1" dirty="0">
                <a:solidFill>
                  <a:srgbClr val="F5A54A"/>
                </a:solidFill>
                <a:latin typeface="Cambria" pitchFamily="34" charset="0"/>
                <a:ea typeface="Cambria" pitchFamily="34" charset="-122"/>
                <a:cs typeface="Cambria" pitchFamily="34" charset="-120"/>
              </a:rPr>
              <a:t>DRNPW</a:t>
            </a:r>
            <a:endParaRPr lang="en-US" sz="1800" dirty="0"/>
          </a:p>
        </p:txBody>
      </p:sp>
      <p:sp>
        <p:nvSpPr>
          <p:cNvPr id="9" name="Text 5"/>
          <p:cNvSpPr/>
          <p:nvPr/>
        </p:nvSpPr>
        <p:spPr>
          <a:xfrm>
            <a:off x="4727448" y="3493008"/>
            <a:ext cx="3886200" cy="9601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Imagens de drones disponibilizadas pela CPFL</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Fundos heterogêneos com forte poluição visual</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585 imagens, fortemente desbalanceado</a:t>
            </a:r>
            <a:endParaRPr lang="en-US" sz="1150" dirty="0"/>
          </a:p>
        </p:txBody>
      </p:sp>
      <p:sp>
        <p:nvSpPr>
          <p:cNvPr id="10" name="Text 6"/>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Materiais</a:t>
            </a:r>
            <a:endParaRPr lang="en-US" sz="900" dirty="0"/>
          </a:p>
        </p:txBody>
      </p:sp>
      <p:sp>
        <p:nvSpPr>
          <p:cNvPr id="11" name="Text 7"/>
          <p:cNvSpPr/>
          <p:nvPr/>
        </p:nvSpPr>
        <p:spPr>
          <a:xfrm>
            <a:off x="2743200" y="4759452"/>
            <a:ext cx="5303520" cy="228600"/>
          </a:xfrm>
          <a:prstGeom prst="rect">
            <a:avLst/>
          </a:prstGeom>
          <a:noFill/>
          <a:ln/>
        </p:spPr>
        <p:txBody>
          <a:bodyPr wrap="square" lIns="0" tIns="0" rIns="0" bIns="0" rtlCol="0" anchor="ctr"/>
          <a:lstStyle/>
          <a:p>
            <a:pPr algn="r" indent="0" marL="0">
              <a:buNone/>
            </a:pPr>
            <a:r>
              <a:rPr lang="en-US" sz="750" i="1" dirty="0">
                <a:solidFill>
                  <a:srgbClr val="5C6F80"/>
                </a:solidFill>
                <a:latin typeface="Calibri" pitchFamily="34" charset="0"/>
                <a:ea typeface="Calibri" pitchFamily="34" charset="-122"/>
                <a:cs typeface="Calibri" pitchFamily="34" charset="-120"/>
              </a:rPr>
              <a:t>Foto à direita: ilustrativa do cenário de campo</a:t>
            </a:r>
            <a:endParaRPr lang="en-US" sz="750" dirty="0"/>
          </a:p>
        </p:txBody>
      </p:sp>
      <p:sp>
        <p:nvSpPr>
          <p:cNvPr id="12" name="Text 8"/>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PRÉ-PROCESSAMENTO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que cada técnica faz com a imagem</a:t>
            </a:r>
            <a:endParaRPr lang="en-US" sz="2800" dirty="0"/>
          </a:p>
        </p:txBody>
      </p:sp>
      <p:pic>
        <p:nvPicPr>
          <p:cNvPr id="4" name="Image 0" descr="preencoded.png">    </p:cNvPr>
          <p:cNvPicPr>
            <a:picLocks noChangeAspect="1"/>
          </p:cNvPicPr>
          <p:nvPr/>
        </p:nvPicPr>
        <p:blipFill>
          <a:blip r:embed="rId1"/>
          <a:stretch>
            <a:fillRect/>
          </a:stretch>
        </p:blipFill>
        <p:spPr>
          <a:xfrm>
            <a:off x="502920" y="1115568"/>
            <a:ext cx="1920240" cy="1440180"/>
          </a:xfrm>
          <a:prstGeom prst="rect">
            <a:avLst/>
          </a:prstGeom>
        </p:spPr>
      </p:pic>
      <p:sp>
        <p:nvSpPr>
          <p:cNvPr id="5" name="Text 2"/>
          <p:cNvSpPr/>
          <p:nvPr/>
        </p:nvSpPr>
        <p:spPr>
          <a:xfrm>
            <a:off x="502920" y="258318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Imagem original</a:t>
            </a:r>
            <a:endParaRPr lang="en-US" sz="1050" dirty="0"/>
          </a:p>
        </p:txBody>
      </p:sp>
      <p:pic>
        <p:nvPicPr>
          <p:cNvPr id="6" name="Image 1" descr="preencoded.png">    </p:cNvPr>
          <p:cNvPicPr>
            <a:picLocks noChangeAspect="1"/>
          </p:cNvPicPr>
          <p:nvPr/>
        </p:nvPicPr>
        <p:blipFill>
          <a:blip r:embed="rId2"/>
          <a:stretch>
            <a:fillRect/>
          </a:stretch>
        </p:blipFill>
        <p:spPr>
          <a:xfrm>
            <a:off x="2606040" y="1115568"/>
            <a:ext cx="1920240" cy="1440180"/>
          </a:xfrm>
          <a:prstGeom prst="rect">
            <a:avLst/>
          </a:prstGeom>
        </p:spPr>
      </p:pic>
      <p:sp>
        <p:nvSpPr>
          <p:cNvPr id="7" name="Shape 3"/>
          <p:cNvSpPr/>
          <p:nvPr/>
        </p:nvSpPr>
        <p:spPr>
          <a:xfrm>
            <a:off x="2606040" y="1115568"/>
            <a:ext cx="1920240" cy="1440180"/>
          </a:xfrm>
          <a:prstGeom prst="rect">
            <a:avLst/>
          </a:prstGeom>
          <a:ln w="38100">
            <a:solidFill>
              <a:srgbClr val="F5A54A"/>
            </a:solidFill>
            <a:prstDash val="solid"/>
          </a:ln>
        </p:spPr>
      </p:sp>
      <p:sp>
        <p:nvSpPr>
          <p:cNvPr id="8" name="Text 4"/>
          <p:cNvSpPr/>
          <p:nvPr/>
        </p:nvSpPr>
        <p:spPr>
          <a:xfrm>
            <a:off x="2606040" y="2583180"/>
            <a:ext cx="1920240" cy="237744"/>
          </a:xfrm>
          <a:prstGeom prst="rect">
            <a:avLst/>
          </a:prstGeom>
          <a:noFill/>
          <a:ln/>
        </p:spPr>
        <p:txBody>
          <a:bodyPr wrap="square" lIns="0" tIns="0" rIns="0" bIns="0" rtlCol="0" anchor="ctr"/>
          <a:lstStyle/>
          <a:p>
            <a:pPr indent="0" marL="0">
              <a:buNone/>
            </a:pPr>
            <a:r>
              <a:rPr lang="en-US" sz="1050" b="1" dirty="0">
                <a:solidFill>
                  <a:srgbClr val="F5A54A"/>
                </a:solidFill>
                <a:latin typeface="Calibri" pitchFamily="34" charset="0"/>
                <a:ea typeface="Calibri" pitchFamily="34" charset="-122"/>
                <a:cs typeface="Calibri" pitchFamily="34" charset="-120"/>
              </a:rPr>
              <a:t>Realce de contraste</a:t>
            </a:r>
            <a:endParaRPr lang="en-US" sz="1050" dirty="0"/>
          </a:p>
        </p:txBody>
      </p:sp>
      <p:pic>
        <p:nvPicPr>
          <p:cNvPr id="9" name="Image 2" descr="preencoded.png">    </p:cNvPr>
          <p:cNvPicPr>
            <a:picLocks noChangeAspect="1"/>
          </p:cNvPicPr>
          <p:nvPr/>
        </p:nvPicPr>
        <p:blipFill>
          <a:blip r:embed="rId3"/>
          <a:stretch>
            <a:fillRect/>
          </a:stretch>
        </p:blipFill>
        <p:spPr>
          <a:xfrm>
            <a:off x="4709160" y="1115568"/>
            <a:ext cx="1920240" cy="1440180"/>
          </a:xfrm>
          <a:prstGeom prst="rect">
            <a:avLst/>
          </a:prstGeom>
        </p:spPr>
      </p:pic>
      <p:sp>
        <p:nvSpPr>
          <p:cNvPr id="10" name="Text 5"/>
          <p:cNvSpPr/>
          <p:nvPr/>
        </p:nvSpPr>
        <p:spPr>
          <a:xfrm>
            <a:off x="4709160" y="258318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Equalização de histograma</a:t>
            </a:r>
            <a:endParaRPr lang="en-US" sz="1050" dirty="0"/>
          </a:p>
        </p:txBody>
      </p:sp>
      <p:pic>
        <p:nvPicPr>
          <p:cNvPr id="11" name="Image 3" descr="preencoded.png">    </p:cNvPr>
          <p:cNvPicPr>
            <a:picLocks noChangeAspect="1"/>
          </p:cNvPicPr>
          <p:nvPr/>
        </p:nvPicPr>
        <p:blipFill>
          <a:blip r:embed="rId4"/>
          <a:stretch>
            <a:fillRect/>
          </a:stretch>
        </p:blipFill>
        <p:spPr>
          <a:xfrm>
            <a:off x="502920" y="2921508"/>
            <a:ext cx="1920240" cy="1440180"/>
          </a:xfrm>
          <a:prstGeom prst="rect">
            <a:avLst/>
          </a:prstGeom>
        </p:spPr>
      </p:pic>
      <p:sp>
        <p:nvSpPr>
          <p:cNvPr id="12" name="Text 6"/>
          <p:cNvSpPr/>
          <p:nvPr/>
        </p:nvSpPr>
        <p:spPr>
          <a:xfrm>
            <a:off x="502920" y="438912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Escala de cinza</a:t>
            </a:r>
            <a:endParaRPr lang="en-US" sz="1050" dirty="0"/>
          </a:p>
        </p:txBody>
      </p:sp>
      <p:pic>
        <p:nvPicPr>
          <p:cNvPr id="13" name="Image 4" descr="preencoded.png">    </p:cNvPr>
          <p:cNvPicPr>
            <a:picLocks noChangeAspect="1"/>
          </p:cNvPicPr>
          <p:nvPr/>
        </p:nvPicPr>
        <p:blipFill>
          <a:blip r:embed="rId5"/>
          <a:stretch>
            <a:fillRect/>
          </a:stretch>
        </p:blipFill>
        <p:spPr>
          <a:xfrm>
            <a:off x="2606040" y="2921508"/>
            <a:ext cx="1920240" cy="1440180"/>
          </a:xfrm>
          <a:prstGeom prst="rect">
            <a:avLst/>
          </a:prstGeom>
        </p:spPr>
      </p:pic>
      <p:sp>
        <p:nvSpPr>
          <p:cNvPr id="14" name="Text 7"/>
          <p:cNvSpPr/>
          <p:nvPr/>
        </p:nvSpPr>
        <p:spPr>
          <a:xfrm>
            <a:off x="2606040" y="438912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Desfoque gaussiano</a:t>
            </a:r>
            <a:endParaRPr lang="en-US" sz="1050" dirty="0"/>
          </a:p>
        </p:txBody>
      </p:sp>
      <p:pic>
        <p:nvPicPr>
          <p:cNvPr id="15" name="Image 5" descr="preencoded.png">    </p:cNvPr>
          <p:cNvPicPr>
            <a:picLocks noChangeAspect="1"/>
          </p:cNvPicPr>
          <p:nvPr/>
        </p:nvPicPr>
        <p:blipFill>
          <a:blip r:embed="rId6"/>
          <a:stretch>
            <a:fillRect/>
          </a:stretch>
        </p:blipFill>
        <p:spPr>
          <a:xfrm>
            <a:off x="4709160" y="2921508"/>
            <a:ext cx="1920240" cy="1440180"/>
          </a:xfrm>
          <a:prstGeom prst="rect">
            <a:avLst/>
          </a:prstGeom>
        </p:spPr>
      </p:pic>
      <p:sp>
        <p:nvSpPr>
          <p:cNvPr id="16" name="Text 8"/>
          <p:cNvSpPr/>
          <p:nvPr/>
        </p:nvSpPr>
        <p:spPr>
          <a:xfrm>
            <a:off x="4709160" y="438912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Detecção de bordas</a:t>
            </a:r>
            <a:endParaRPr lang="en-US" sz="1050" dirty="0"/>
          </a:p>
        </p:txBody>
      </p:sp>
      <p:sp>
        <p:nvSpPr>
          <p:cNvPr id="17" name="Shape 9"/>
          <p:cNvSpPr/>
          <p:nvPr/>
        </p:nvSpPr>
        <p:spPr>
          <a:xfrm>
            <a:off x="6812280" y="1115568"/>
            <a:ext cx="1828800" cy="3474720"/>
          </a:xfrm>
          <a:prstGeom prst="roundRect">
            <a:avLst>
              <a:gd name="adj" fmla="val 35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8" name="Text 10"/>
          <p:cNvSpPr/>
          <p:nvPr/>
        </p:nvSpPr>
        <p:spPr>
          <a:xfrm>
            <a:off x="6812280" y="1325880"/>
            <a:ext cx="1828800" cy="731520"/>
          </a:xfrm>
          <a:prstGeom prst="rect">
            <a:avLst/>
          </a:prstGeom>
          <a:noFill/>
          <a:ln/>
        </p:spPr>
        <p:txBody>
          <a:bodyPr wrap="square" lIns="0" tIns="0" rIns="0" bIns="0" rtlCol="0" anchor="ctr"/>
          <a:lstStyle/>
          <a:p>
            <a:pPr algn="ctr" indent="0" marL="0">
              <a:buNone/>
            </a:pPr>
            <a:r>
              <a:rPr lang="en-US" sz="4400" b="1" dirty="0">
                <a:solidFill>
                  <a:srgbClr val="F5A54A"/>
                </a:solidFill>
                <a:latin typeface="Cambria" pitchFamily="34" charset="0"/>
                <a:ea typeface="Cambria" pitchFamily="34" charset="-122"/>
                <a:cs typeface="Cambria" pitchFamily="34" charset="-120"/>
              </a:rPr>
              <a:t>14</a:t>
            </a:r>
            <a:endParaRPr lang="en-US" sz="4400" dirty="0"/>
          </a:p>
        </p:txBody>
      </p:sp>
      <p:sp>
        <p:nvSpPr>
          <p:cNvPr id="19" name="Text 11"/>
          <p:cNvSpPr/>
          <p:nvPr/>
        </p:nvSpPr>
        <p:spPr>
          <a:xfrm>
            <a:off x="6949440" y="2057400"/>
            <a:ext cx="155448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variantes avaliadas</a:t>
            </a:r>
            <a:endParaRPr lang="en-US" sz="1150" dirty="0"/>
          </a:p>
        </p:txBody>
      </p:sp>
      <p:sp>
        <p:nvSpPr>
          <p:cNvPr id="20" name="Text 12"/>
          <p:cNvSpPr/>
          <p:nvPr/>
        </p:nvSpPr>
        <p:spPr>
          <a:xfrm>
            <a:off x="6949440" y="2514600"/>
            <a:ext cx="1554480" cy="1828800"/>
          </a:xfrm>
          <a:prstGeom prst="rect">
            <a:avLst/>
          </a:prstGeom>
          <a:noFill/>
          <a:ln/>
        </p:spPr>
        <p:txBody>
          <a:bodyPr wrap="square" lIns="0" tIns="0" rIns="0" bIns="0" rtlCol="0" anchor="ctr"/>
          <a:lstStyle/>
          <a:p>
            <a:pPr algn="ctr" indent="0" marL="0">
              <a:buNone/>
            </a:pPr>
            <a:r>
              <a:rPr lang="en-US" sz="2200" b="1" dirty="0">
                <a:solidFill>
                  <a:srgbClr val="5BB4D6"/>
                </a:solidFill>
                <a:latin typeface="Calibri" pitchFamily="34" charset="0"/>
                <a:ea typeface="Calibri" pitchFamily="34" charset="-122"/>
                <a:cs typeface="Calibri" pitchFamily="34" charset="-120"/>
              </a:rPr>
              <a:t>4</a:t>
            </a:r>
            <a:endParaRPr lang="en-US" sz="2200" dirty="0"/>
          </a:p>
          <a:p>
            <a:pPr algn="ctr" indent="0" marL="0">
              <a:buNone/>
            </a:pPr>
            <a:r>
              <a:rPr lang="en-US" sz="1050" dirty="0">
                <a:solidFill>
                  <a:srgbClr val="FFFFFF"/>
                </a:solidFill>
                <a:latin typeface="Calibri" pitchFamily="34" charset="0"/>
                <a:ea typeface="Calibri" pitchFamily="34" charset="-122"/>
                <a:cs typeface="Calibri" pitchFamily="34" charset="-120"/>
              </a:rPr>
              <a:t>combinações híbridas</a:t>
            </a:r>
            <a:endParaRPr lang="en-US" sz="2200" dirty="0"/>
          </a:p>
          <a:p>
            <a:pPr algn="ctr" indent="0" marL="0">
              <a:buNone/>
            </a:pPr>
            <a:r>
              <a:rPr lang="en-US" sz="600" dirty="0">
                <a:solidFill>
                  <a:srgbClr val="000000"/>
                </a:solidFill>
                <a:latin typeface="Calibri" pitchFamily="34" charset="0"/>
                <a:ea typeface="Calibri" pitchFamily="34" charset="-122"/>
                <a:cs typeface="Calibri" pitchFamily="34" charset="-120"/>
              </a:rPr>
              <a:t> </a:t>
            </a:r>
            <a:endParaRPr lang="en-US" sz="2200" dirty="0"/>
          </a:p>
          <a:p>
            <a:pPr algn="ctr" indent="0" marL="0">
              <a:buNone/>
            </a:pPr>
            <a:r>
              <a:rPr lang="en-US" sz="2200" b="1" dirty="0">
                <a:solidFill>
                  <a:srgbClr val="5BB4D6"/>
                </a:solidFill>
                <a:latin typeface="Calibri" pitchFamily="34" charset="0"/>
                <a:ea typeface="Calibri" pitchFamily="34" charset="-122"/>
                <a:cs typeface="Calibri" pitchFamily="34" charset="-120"/>
              </a:rPr>
              <a:t>1</a:t>
            </a:r>
            <a:endParaRPr lang="en-US" sz="2200" dirty="0"/>
          </a:p>
          <a:p>
            <a:pPr algn="ctr" indent="0" marL="0">
              <a:buNone/>
            </a:pPr>
            <a:r>
              <a:rPr lang="en-US" sz="1050" dirty="0">
                <a:solidFill>
                  <a:srgbClr val="FFFFFF"/>
                </a:solidFill>
                <a:latin typeface="Calibri" pitchFamily="34" charset="0"/>
                <a:ea typeface="Calibri" pitchFamily="34" charset="-122"/>
                <a:cs typeface="Calibri" pitchFamily="34" charset="-120"/>
              </a:rPr>
              <a:t>controle sem processamento</a:t>
            </a:r>
            <a:endParaRPr lang="en-US" sz="2200" dirty="0"/>
          </a:p>
        </p:txBody>
      </p:sp>
      <p:sp>
        <p:nvSpPr>
          <p:cNvPr id="21" name="Text 13"/>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Materiais</a:t>
            </a:r>
            <a:endParaRPr lang="en-US" sz="900" dirty="0"/>
          </a:p>
        </p:txBody>
      </p:sp>
      <p:sp>
        <p:nvSpPr>
          <p:cNvPr id="22" name="Text 14"/>
          <p:cNvSpPr/>
          <p:nvPr/>
        </p:nvSpPr>
        <p:spPr>
          <a:xfrm>
            <a:off x="2743200" y="4759452"/>
            <a:ext cx="5303520" cy="228600"/>
          </a:xfrm>
          <a:prstGeom prst="rect">
            <a:avLst/>
          </a:prstGeom>
          <a:noFill/>
          <a:ln/>
        </p:spPr>
        <p:txBody>
          <a:bodyPr wrap="square" lIns="0" tIns="0" rIns="0" bIns="0" rtlCol="0" anchor="ctr"/>
          <a:lstStyle/>
          <a:p>
            <a:pPr algn="r" indent="0" marL="0">
              <a:buNone/>
            </a:pPr>
            <a:r>
              <a:rPr lang="en-US" sz="750" i="1" dirty="0">
                <a:solidFill>
                  <a:srgbClr val="5C6F80"/>
                </a:solidFill>
                <a:latin typeface="Calibri" pitchFamily="34" charset="0"/>
                <a:ea typeface="Calibri" pitchFamily="34" charset="-122"/>
                <a:cs typeface="Calibri" pitchFamily="34" charset="-120"/>
              </a:rPr>
              <a:t>Ilustração do efeito das técnicas sobre uma mesma imagem</a:t>
            </a:r>
            <a:endParaRPr lang="en-US" sz="750" dirty="0"/>
          </a:p>
        </p:txBody>
      </p:sp>
      <p:sp>
        <p:nvSpPr>
          <p:cNvPr id="23" name="Text 15"/>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PROTOCOLO EXPERIMENTAL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Uma variável por vez e uma régua de leitura</a:t>
            </a:r>
            <a:endParaRPr lang="en-US" sz="2800" dirty="0"/>
          </a:p>
        </p:txBody>
      </p:sp>
      <p:sp>
        <p:nvSpPr>
          <p:cNvPr id="4" name="Shape 2"/>
          <p:cNvSpPr/>
          <p:nvPr/>
        </p:nvSpPr>
        <p:spPr>
          <a:xfrm>
            <a:off x="502920" y="1188720"/>
            <a:ext cx="1600200" cy="1143000"/>
          </a:xfrm>
          <a:prstGeom prst="roundRect">
            <a:avLst>
              <a:gd name="adj" fmla="val 5600"/>
            </a:avLst>
          </a:prstGeom>
          <a:solidFill>
            <a:srgbClr val="F1F4F7"/>
          </a:solidFill>
          <a:ln w="9525">
            <a:solidFill>
              <a:srgbClr val="E4EAF0"/>
            </a:solidFill>
            <a:prstDash val="solid"/>
          </a:ln>
        </p:spPr>
      </p:sp>
      <p:sp>
        <p:nvSpPr>
          <p:cNvPr id="5" name="Text 3"/>
          <p:cNvSpPr/>
          <p:nvPr/>
        </p:nvSpPr>
        <p:spPr>
          <a:xfrm>
            <a:off x="502920" y="1243584"/>
            <a:ext cx="1600200" cy="640080"/>
          </a:xfrm>
          <a:prstGeom prst="rect">
            <a:avLst/>
          </a:prstGeom>
          <a:noFill/>
          <a:ln/>
        </p:spPr>
        <p:txBody>
          <a:bodyPr wrap="square" lIns="0" tIns="0" rIns="0" bIns="0" rtlCol="0" anchor="ctr"/>
          <a:lstStyle/>
          <a:p>
            <a:pPr algn="ctr" indent="0" marL="0">
              <a:buNone/>
            </a:pPr>
            <a:r>
              <a:rPr lang="en-US" sz="3400" b="1" dirty="0">
                <a:solidFill>
                  <a:srgbClr val="1C7293"/>
                </a:solidFill>
                <a:latin typeface="Cambria" pitchFamily="34" charset="0"/>
                <a:ea typeface="Cambria" pitchFamily="34" charset="-122"/>
                <a:cs typeface="Cambria" pitchFamily="34" charset="-120"/>
              </a:rPr>
              <a:t>14</a:t>
            </a:r>
            <a:endParaRPr lang="en-US" sz="3400" dirty="0"/>
          </a:p>
        </p:txBody>
      </p:sp>
      <p:sp>
        <p:nvSpPr>
          <p:cNvPr id="6" name="Text 4"/>
          <p:cNvSpPr/>
          <p:nvPr/>
        </p:nvSpPr>
        <p:spPr>
          <a:xfrm>
            <a:off x="594360" y="1874520"/>
            <a:ext cx="1417320" cy="384048"/>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variantes</a:t>
            </a:r>
            <a:endParaRPr lang="en-US" sz="1050" dirty="0"/>
          </a:p>
        </p:txBody>
      </p:sp>
      <p:sp>
        <p:nvSpPr>
          <p:cNvPr id="7" name="Text 5"/>
          <p:cNvSpPr/>
          <p:nvPr/>
        </p:nvSpPr>
        <p:spPr>
          <a:xfrm>
            <a:off x="2103120" y="1463040"/>
            <a:ext cx="576072" cy="548640"/>
          </a:xfrm>
          <a:prstGeom prst="rect">
            <a:avLst/>
          </a:prstGeom>
          <a:noFill/>
          <a:ln/>
        </p:spPr>
        <p:txBody>
          <a:bodyPr wrap="square" lIns="0" tIns="0" rIns="0" bIns="0" rtlCol="0" anchor="ctr"/>
          <a:lstStyle/>
          <a:p>
            <a:pPr algn="ctr" indent="0" marL="0">
              <a:buNone/>
            </a:pPr>
            <a:r>
              <a:rPr lang="en-US" sz="2600" b="1" dirty="0">
                <a:solidFill>
                  <a:srgbClr val="A9BCCC"/>
                </a:solidFill>
                <a:latin typeface="Cambria" pitchFamily="34" charset="0"/>
                <a:ea typeface="Cambria" pitchFamily="34" charset="-122"/>
                <a:cs typeface="Cambria" pitchFamily="34" charset="-120"/>
              </a:rPr>
              <a:t>×</a:t>
            </a:r>
            <a:endParaRPr lang="en-US" sz="2600" dirty="0"/>
          </a:p>
        </p:txBody>
      </p:sp>
      <p:sp>
        <p:nvSpPr>
          <p:cNvPr id="8" name="Shape 6"/>
          <p:cNvSpPr/>
          <p:nvPr/>
        </p:nvSpPr>
        <p:spPr>
          <a:xfrm>
            <a:off x="2679192" y="1188720"/>
            <a:ext cx="1600200" cy="1143000"/>
          </a:xfrm>
          <a:prstGeom prst="roundRect">
            <a:avLst>
              <a:gd name="adj" fmla="val 5600"/>
            </a:avLst>
          </a:prstGeom>
          <a:solidFill>
            <a:srgbClr val="F1F4F7"/>
          </a:solidFill>
          <a:ln w="9525">
            <a:solidFill>
              <a:srgbClr val="E4EAF0"/>
            </a:solidFill>
            <a:prstDash val="solid"/>
          </a:ln>
        </p:spPr>
      </p:sp>
      <p:sp>
        <p:nvSpPr>
          <p:cNvPr id="9" name="Text 7"/>
          <p:cNvSpPr/>
          <p:nvPr/>
        </p:nvSpPr>
        <p:spPr>
          <a:xfrm>
            <a:off x="2679192" y="1243584"/>
            <a:ext cx="1600200" cy="640080"/>
          </a:xfrm>
          <a:prstGeom prst="rect">
            <a:avLst/>
          </a:prstGeom>
          <a:noFill/>
          <a:ln/>
        </p:spPr>
        <p:txBody>
          <a:bodyPr wrap="square" lIns="0" tIns="0" rIns="0" bIns="0" rtlCol="0" anchor="ctr"/>
          <a:lstStyle/>
          <a:p>
            <a:pPr algn="ctr" indent="0" marL="0">
              <a:buNone/>
            </a:pPr>
            <a:r>
              <a:rPr lang="en-US" sz="3400" b="1" dirty="0">
                <a:solidFill>
                  <a:srgbClr val="1C7293"/>
                </a:solidFill>
                <a:latin typeface="Cambria" pitchFamily="34" charset="0"/>
                <a:ea typeface="Cambria" pitchFamily="34" charset="-122"/>
                <a:cs typeface="Cambria" pitchFamily="34" charset="-120"/>
              </a:rPr>
              <a:t>2</a:t>
            </a:r>
            <a:endParaRPr lang="en-US" sz="3400" dirty="0"/>
          </a:p>
        </p:txBody>
      </p:sp>
      <p:sp>
        <p:nvSpPr>
          <p:cNvPr id="10" name="Text 8"/>
          <p:cNvSpPr/>
          <p:nvPr/>
        </p:nvSpPr>
        <p:spPr>
          <a:xfrm>
            <a:off x="2770632" y="1874520"/>
            <a:ext cx="1417320" cy="384048"/>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conjuntos de dados</a:t>
            </a:r>
            <a:endParaRPr lang="en-US" sz="1050" dirty="0"/>
          </a:p>
        </p:txBody>
      </p:sp>
      <p:sp>
        <p:nvSpPr>
          <p:cNvPr id="11" name="Text 9"/>
          <p:cNvSpPr/>
          <p:nvPr/>
        </p:nvSpPr>
        <p:spPr>
          <a:xfrm>
            <a:off x="4279392" y="1463040"/>
            <a:ext cx="576072" cy="548640"/>
          </a:xfrm>
          <a:prstGeom prst="rect">
            <a:avLst/>
          </a:prstGeom>
          <a:noFill/>
          <a:ln/>
        </p:spPr>
        <p:txBody>
          <a:bodyPr wrap="square" lIns="0" tIns="0" rIns="0" bIns="0" rtlCol="0" anchor="ctr"/>
          <a:lstStyle/>
          <a:p>
            <a:pPr algn="ctr" indent="0" marL="0">
              <a:buNone/>
            </a:pPr>
            <a:r>
              <a:rPr lang="en-US" sz="2600" b="1" dirty="0">
                <a:solidFill>
                  <a:srgbClr val="A9BCCC"/>
                </a:solidFill>
                <a:latin typeface="Cambria" pitchFamily="34" charset="0"/>
                <a:ea typeface="Cambria" pitchFamily="34" charset="-122"/>
                <a:cs typeface="Cambria" pitchFamily="34" charset="-120"/>
              </a:rPr>
              <a:t>×</a:t>
            </a:r>
            <a:endParaRPr lang="en-US" sz="2600" dirty="0"/>
          </a:p>
        </p:txBody>
      </p:sp>
      <p:sp>
        <p:nvSpPr>
          <p:cNvPr id="12" name="Shape 10"/>
          <p:cNvSpPr/>
          <p:nvPr/>
        </p:nvSpPr>
        <p:spPr>
          <a:xfrm>
            <a:off x="4855464" y="1188720"/>
            <a:ext cx="1600200" cy="1143000"/>
          </a:xfrm>
          <a:prstGeom prst="roundRect">
            <a:avLst>
              <a:gd name="adj" fmla="val 5600"/>
            </a:avLst>
          </a:prstGeom>
          <a:solidFill>
            <a:srgbClr val="F1F4F7"/>
          </a:solidFill>
          <a:ln w="9525">
            <a:solidFill>
              <a:srgbClr val="E4EAF0"/>
            </a:solidFill>
            <a:prstDash val="solid"/>
          </a:ln>
        </p:spPr>
      </p:sp>
      <p:sp>
        <p:nvSpPr>
          <p:cNvPr id="13" name="Text 11"/>
          <p:cNvSpPr/>
          <p:nvPr/>
        </p:nvSpPr>
        <p:spPr>
          <a:xfrm>
            <a:off x="4855464" y="1243584"/>
            <a:ext cx="1600200" cy="640080"/>
          </a:xfrm>
          <a:prstGeom prst="rect">
            <a:avLst/>
          </a:prstGeom>
          <a:noFill/>
          <a:ln/>
        </p:spPr>
        <p:txBody>
          <a:bodyPr wrap="square" lIns="0" tIns="0" rIns="0" bIns="0" rtlCol="0" anchor="ctr"/>
          <a:lstStyle/>
          <a:p>
            <a:pPr algn="ctr" indent="0" marL="0">
              <a:buNone/>
            </a:pPr>
            <a:r>
              <a:rPr lang="en-US" sz="3400" b="1" dirty="0">
                <a:solidFill>
                  <a:srgbClr val="1C7293"/>
                </a:solidFill>
                <a:latin typeface="Cambria" pitchFamily="34" charset="0"/>
                <a:ea typeface="Cambria" pitchFamily="34" charset="-122"/>
                <a:cs typeface="Cambria" pitchFamily="34" charset="-120"/>
              </a:rPr>
              <a:t>2</a:t>
            </a:r>
            <a:endParaRPr lang="en-US" sz="3400" dirty="0"/>
          </a:p>
        </p:txBody>
      </p:sp>
      <p:sp>
        <p:nvSpPr>
          <p:cNvPr id="14" name="Text 12"/>
          <p:cNvSpPr/>
          <p:nvPr/>
        </p:nvSpPr>
        <p:spPr>
          <a:xfrm>
            <a:off x="4946904" y="1874520"/>
            <a:ext cx="1417320" cy="384048"/>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modelos</a:t>
            </a:r>
            <a:endParaRPr lang="en-US" sz="1050" dirty="0"/>
          </a:p>
        </p:txBody>
      </p:sp>
      <p:sp>
        <p:nvSpPr>
          <p:cNvPr id="15" name="Text 13"/>
          <p:cNvSpPr/>
          <p:nvPr/>
        </p:nvSpPr>
        <p:spPr>
          <a:xfrm>
            <a:off x="6455664" y="1463040"/>
            <a:ext cx="576072" cy="548640"/>
          </a:xfrm>
          <a:prstGeom prst="rect">
            <a:avLst/>
          </a:prstGeom>
          <a:noFill/>
          <a:ln/>
        </p:spPr>
        <p:txBody>
          <a:bodyPr wrap="square" lIns="0" tIns="0" rIns="0" bIns="0" rtlCol="0" anchor="ctr"/>
          <a:lstStyle/>
          <a:p>
            <a:pPr algn="ctr" indent="0" marL="0">
              <a:buNone/>
            </a:pPr>
            <a:r>
              <a:rPr lang="en-US" sz="2600" b="1" dirty="0">
                <a:solidFill>
                  <a:srgbClr val="A9BCCC"/>
                </a:solidFill>
                <a:latin typeface="Cambria" pitchFamily="34" charset="0"/>
                <a:ea typeface="Cambria" pitchFamily="34" charset="-122"/>
                <a:cs typeface="Cambria" pitchFamily="34" charset="-120"/>
              </a:rPr>
              <a:t>→</a:t>
            </a:r>
            <a:endParaRPr lang="en-US" sz="2600" dirty="0"/>
          </a:p>
        </p:txBody>
      </p:sp>
      <p:sp>
        <p:nvSpPr>
          <p:cNvPr id="16" name="Shape 14"/>
          <p:cNvSpPr/>
          <p:nvPr/>
        </p:nvSpPr>
        <p:spPr>
          <a:xfrm>
            <a:off x="7031736" y="1188720"/>
            <a:ext cx="1600200" cy="1143000"/>
          </a:xfrm>
          <a:prstGeom prst="roundRect">
            <a:avLst>
              <a:gd name="adj" fmla="val 56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7" name="Text 15"/>
          <p:cNvSpPr/>
          <p:nvPr/>
        </p:nvSpPr>
        <p:spPr>
          <a:xfrm>
            <a:off x="7031736" y="1243584"/>
            <a:ext cx="1600200" cy="640080"/>
          </a:xfrm>
          <a:prstGeom prst="rect">
            <a:avLst/>
          </a:prstGeom>
          <a:noFill/>
          <a:ln/>
        </p:spPr>
        <p:txBody>
          <a:bodyPr wrap="square" lIns="0" tIns="0" rIns="0" bIns="0" rtlCol="0" anchor="ctr"/>
          <a:lstStyle/>
          <a:p>
            <a:pPr algn="ctr" indent="0" marL="0">
              <a:buNone/>
            </a:pPr>
            <a:r>
              <a:rPr lang="en-US" sz="3400" b="1" dirty="0">
                <a:solidFill>
                  <a:srgbClr val="F5A54A"/>
                </a:solidFill>
                <a:latin typeface="Cambria" pitchFamily="34" charset="0"/>
                <a:ea typeface="Cambria" pitchFamily="34" charset="-122"/>
                <a:cs typeface="Cambria" pitchFamily="34" charset="-120"/>
              </a:rPr>
              <a:t>1</a:t>
            </a:r>
            <a:endParaRPr lang="en-US" sz="3400" dirty="0"/>
          </a:p>
        </p:txBody>
      </p:sp>
      <p:sp>
        <p:nvSpPr>
          <p:cNvPr id="18" name="Text 16"/>
          <p:cNvSpPr/>
          <p:nvPr/>
        </p:nvSpPr>
        <p:spPr>
          <a:xfrm>
            <a:off x="7123176" y="1874520"/>
            <a:ext cx="1417320" cy="384048"/>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variável: o pré-processamento</a:t>
            </a:r>
            <a:endParaRPr lang="en-US" sz="1050" dirty="0"/>
          </a:p>
        </p:txBody>
      </p:sp>
      <p:sp>
        <p:nvSpPr>
          <p:cNvPr id="19" name="Shape 17"/>
          <p:cNvSpPr/>
          <p:nvPr/>
        </p:nvSpPr>
        <p:spPr>
          <a:xfrm>
            <a:off x="502920" y="2606040"/>
            <a:ext cx="8138160" cy="1828800"/>
          </a:xfrm>
          <a:prstGeom prst="roundRect">
            <a:avLst>
              <a:gd name="adj" fmla="val 3500"/>
            </a:avLst>
          </a:prstGeom>
          <a:solidFill>
            <a:srgbClr val="F1F4F7"/>
          </a:solidFill>
          <a:ln w="9525">
            <a:solidFill>
              <a:srgbClr val="E4EAF0"/>
            </a:solidFill>
            <a:prstDash val="solid"/>
          </a:ln>
        </p:spPr>
      </p:sp>
      <p:sp>
        <p:nvSpPr>
          <p:cNvPr id="20" name="Text 18"/>
          <p:cNvSpPr/>
          <p:nvPr/>
        </p:nvSpPr>
        <p:spPr>
          <a:xfrm>
            <a:off x="777240" y="2743200"/>
            <a:ext cx="4023360" cy="292608"/>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Piso majoritário</a:t>
            </a:r>
            <a:endParaRPr lang="en-US" sz="1400" dirty="0"/>
          </a:p>
        </p:txBody>
      </p:sp>
      <p:sp>
        <p:nvSpPr>
          <p:cNvPr id="21" name="Text 19"/>
          <p:cNvSpPr/>
          <p:nvPr/>
        </p:nvSpPr>
        <p:spPr>
          <a:xfrm>
            <a:off x="777240" y="3063240"/>
            <a:ext cx="4023360" cy="1188720"/>
          </a:xfrm>
          <a:prstGeom prst="rect">
            <a:avLst/>
          </a:prstGeom>
          <a:noFill/>
          <a:ln/>
        </p:spPr>
        <p:txBody>
          <a:bodyPr wrap="square" lIns="0" tIns="0" rIns="0" bIns="0" rtlCol="0" anchor="ctr"/>
          <a:lstStyle/>
          <a:p>
            <a:pPr indent="0" marL="0">
              <a:lnSpc>
                <a:spcPct val="110000"/>
              </a:lnSpc>
              <a:buNone/>
            </a:pPr>
            <a:r>
              <a:rPr lang="en-US" sz="1250" dirty="0">
                <a:solidFill>
                  <a:srgbClr val="1B2A3A"/>
                </a:solidFill>
                <a:latin typeface="Calibri" pitchFamily="34" charset="0"/>
                <a:ea typeface="Calibri" pitchFamily="34" charset="-122"/>
                <a:cs typeface="Calibri" pitchFamily="34" charset="-120"/>
              </a:rPr>
              <a:t>Acurácia obtida ao responder sempre a classe mais frequente do teste, sem observar a imagem. Abaixo dele, o modelo não extrai informação útil.</a:t>
            </a:r>
            <a:endParaRPr lang="en-US" sz="1250" dirty="0"/>
          </a:p>
        </p:txBody>
      </p:sp>
      <p:sp>
        <p:nvSpPr>
          <p:cNvPr id="22" name="Text 20"/>
          <p:cNvSpPr/>
          <p:nvPr/>
        </p:nvSpPr>
        <p:spPr>
          <a:xfrm>
            <a:off x="5074920" y="2926080"/>
            <a:ext cx="1691640" cy="640080"/>
          </a:xfrm>
          <a:prstGeom prst="rect">
            <a:avLst/>
          </a:prstGeom>
          <a:noFill/>
          <a:ln/>
        </p:spPr>
        <p:txBody>
          <a:bodyPr wrap="square" lIns="0" tIns="0" rIns="0" bIns="0" rtlCol="0" anchor="ctr"/>
          <a:lstStyle/>
          <a:p>
            <a:pPr algn="ctr" indent="0" marL="0">
              <a:buNone/>
            </a:pPr>
            <a:r>
              <a:rPr lang="en-US" sz="2800" b="1" dirty="0">
                <a:solidFill>
                  <a:srgbClr val="1C7293"/>
                </a:solidFill>
                <a:latin typeface="Cambria" pitchFamily="34" charset="0"/>
                <a:ea typeface="Cambria" pitchFamily="34" charset="-122"/>
                <a:cs typeface="Cambria" pitchFamily="34" charset="-120"/>
              </a:rPr>
              <a:t>74,42%</a:t>
            </a:r>
            <a:endParaRPr lang="en-US" sz="2800" dirty="0"/>
          </a:p>
        </p:txBody>
      </p:sp>
      <p:sp>
        <p:nvSpPr>
          <p:cNvPr id="23" name="Text 21"/>
          <p:cNvSpPr/>
          <p:nvPr/>
        </p:nvSpPr>
        <p:spPr>
          <a:xfrm>
            <a:off x="5074920" y="3566160"/>
            <a:ext cx="1691640" cy="274320"/>
          </a:xfrm>
          <a:prstGeom prst="rect">
            <a:avLst/>
          </a:prstGeom>
          <a:noFill/>
          <a:ln/>
        </p:spPr>
        <p:txBody>
          <a:bodyPr wrap="square" lIns="0" tIns="0" rIns="0" bIns="0" rtlCol="0" anchor="ctr"/>
          <a:lstStyle/>
          <a:p>
            <a:pPr algn="ctr" indent="0" marL="0">
              <a:buNone/>
            </a:pPr>
            <a:r>
              <a:rPr lang="en-US" sz="1100" dirty="0">
                <a:solidFill>
                  <a:srgbClr val="5C6F80"/>
                </a:solidFill>
                <a:latin typeface="Calibri" pitchFamily="34" charset="0"/>
                <a:ea typeface="Calibri" pitchFamily="34" charset="-122"/>
                <a:cs typeface="Calibri" pitchFamily="34" charset="-120"/>
              </a:rPr>
              <a:t>piso do CPLID</a:t>
            </a:r>
            <a:endParaRPr lang="en-US" sz="1100" dirty="0"/>
          </a:p>
        </p:txBody>
      </p:sp>
      <p:sp>
        <p:nvSpPr>
          <p:cNvPr id="24" name="Text 22"/>
          <p:cNvSpPr/>
          <p:nvPr/>
        </p:nvSpPr>
        <p:spPr>
          <a:xfrm>
            <a:off x="6858000" y="2926080"/>
            <a:ext cx="1691640" cy="640080"/>
          </a:xfrm>
          <a:prstGeom prst="rect">
            <a:avLst/>
          </a:prstGeom>
          <a:noFill/>
          <a:ln/>
        </p:spPr>
        <p:txBody>
          <a:bodyPr wrap="square" lIns="0" tIns="0" rIns="0" bIns="0" rtlCol="0" anchor="ctr"/>
          <a:lstStyle/>
          <a:p>
            <a:pPr algn="ctr" indent="0" marL="0">
              <a:buNone/>
            </a:pPr>
            <a:r>
              <a:rPr lang="en-US" sz="2800" b="1" dirty="0">
                <a:solidFill>
                  <a:srgbClr val="F5A54A"/>
                </a:solidFill>
                <a:latin typeface="Cambria" pitchFamily="34" charset="0"/>
                <a:ea typeface="Cambria" pitchFamily="34" charset="-122"/>
                <a:cs typeface="Cambria" pitchFamily="34" charset="-120"/>
              </a:rPr>
              <a:t>73,33%</a:t>
            </a:r>
            <a:endParaRPr lang="en-US" sz="2800" dirty="0"/>
          </a:p>
        </p:txBody>
      </p:sp>
      <p:sp>
        <p:nvSpPr>
          <p:cNvPr id="25" name="Text 23"/>
          <p:cNvSpPr/>
          <p:nvPr/>
        </p:nvSpPr>
        <p:spPr>
          <a:xfrm>
            <a:off x="6858000" y="3566160"/>
            <a:ext cx="1691640" cy="274320"/>
          </a:xfrm>
          <a:prstGeom prst="rect">
            <a:avLst/>
          </a:prstGeom>
          <a:noFill/>
          <a:ln/>
        </p:spPr>
        <p:txBody>
          <a:bodyPr wrap="square" lIns="0" tIns="0" rIns="0" bIns="0" rtlCol="0" anchor="ctr"/>
          <a:lstStyle/>
          <a:p>
            <a:pPr algn="ctr" indent="0" marL="0">
              <a:buNone/>
            </a:pPr>
            <a:r>
              <a:rPr lang="en-US" sz="1100" dirty="0">
                <a:solidFill>
                  <a:srgbClr val="5C6F80"/>
                </a:solidFill>
                <a:latin typeface="Calibri" pitchFamily="34" charset="0"/>
                <a:ea typeface="Calibri" pitchFamily="34" charset="-122"/>
                <a:cs typeface="Calibri" pitchFamily="34" charset="-120"/>
              </a:rPr>
              <a:t>piso do DRNPW</a:t>
            </a:r>
            <a:endParaRPr lang="en-US" sz="1100" dirty="0"/>
          </a:p>
        </p:txBody>
      </p:sp>
      <p:sp>
        <p:nvSpPr>
          <p:cNvPr id="26" name="Text 24"/>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Materiais</a:t>
            </a:r>
            <a:endParaRPr lang="en-US" sz="900" dirty="0"/>
          </a:p>
        </p:txBody>
      </p:sp>
      <p:sp>
        <p:nvSpPr>
          <p:cNvPr id="27" name="Text 25"/>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RESULTADOS · LINHAS DE TRANSMISSÃO COM ISOLADORES CERÂMICOS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500" b="1" dirty="0">
                <a:solidFill>
                  <a:srgbClr val="1B2A3A"/>
                </a:solidFill>
                <a:latin typeface="Cambria" pitchFamily="34" charset="0"/>
                <a:ea typeface="Cambria" pitchFamily="34" charset="-122"/>
                <a:cs typeface="Cambria" pitchFamily="34" charset="-120"/>
              </a:rPr>
              <a:t>Realçar o contraste evidencia o defeito estrutural</a:t>
            </a:r>
            <a:endParaRPr lang="en-US" sz="25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Acurácia da CNN por técnica, em ordem crescente, com a imagem tratada acima de cada barra (CPLID)</a:t>
            </a:r>
            <a:endParaRPr lang="en-US"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en-US" sz="1700" b="1" dirty="0">
                <a:solidFill>
                  <a:srgbClr val="1C7293"/>
                </a:solidFill>
                <a:latin typeface="Cambria" pitchFamily="34" charset="0"/>
                <a:ea typeface="Cambria" pitchFamily="34" charset="-122"/>
                <a:cs typeface="Cambria" pitchFamily="34" charset="-120"/>
              </a:rPr>
              <a:t>95,35%</a:t>
            </a:r>
            <a:pPr indent="0" marL="0">
              <a:buNone/>
            </a:pPr>
            <a:r>
              <a:rPr lang="en-US" sz="900" b="1" dirty="0">
                <a:solidFill>
                  <a:srgbClr val="5C6F80"/>
                </a:solidFill>
                <a:latin typeface="Cambria" pitchFamily="34" charset="0"/>
                <a:ea typeface="Cambria" pitchFamily="34" charset="-122"/>
                <a:cs typeface="Cambria" pitchFamily="34" charset="-120"/>
              </a:rPr>
              <a:t>   MELHOR</a:t>
            </a:r>
            <a:endParaRPr lang="en-US"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Realce de contraste, com F1-score de 96,55%, o maior do conjunto.</a:t>
            </a:r>
            <a:endParaRPr lang="en-US"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67,44%</a:t>
            </a:r>
            <a:pPr indent="0" marL="0">
              <a:buNone/>
            </a:pPr>
            <a:r>
              <a:rPr lang="en-US" sz="900" b="1" dirty="0">
                <a:solidFill>
                  <a:srgbClr val="A9BCCC"/>
                </a:solidFill>
                <a:latin typeface="Cambria" pitchFamily="34" charset="0"/>
                <a:ea typeface="Cambria" pitchFamily="34" charset="-122"/>
                <a:cs typeface="Cambria" pitchFamily="34" charset="-120"/>
              </a:rPr>
              <a:t>   PIOR</a:t>
            </a:r>
            <a:endParaRPr lang="en-US"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FFFFFF"/>
                </a:solidFill>
                <a:latin typeface="Calibri" pitchFamily="34" charset="0"/>
                <a:ea typeface="Calibri" pitchFamily="34" charset="-122"/>
                <a:cs typeface="Calibri" pitchFamily="34" charset="-120"/>
              </a:rPr>
              <a:t>Desfoque gaussiano, abaixo da imagem original e do piso de 74,42%.</a:t>
            </a:r>
            <a:endParaRPr lang="en-US"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93,02%</a:t>
            </a:r>
            <a:pPr indent="0" marL="0">
              <a:buNone/>
            </a:pPr>
            <a:r>
              <a:rPr lang="en-US" sz="900" b="1" dirty="0">
                <a:solidFill>
                  <a:srgbClr val="5C6F80"/>
                </a:solidFill>
                <a:latin typeface="Cambria" pitchFamily="34" charset="0"/>
                <a:ea typeface="Cambria" pitchFamily="34" charset="-122"/>
                <a:cs typeface="Cambria" pitchFamily="34" charset="-120"/>
              </a:rPr>
              <a:t>   ORIGINAL</a:t>
            </a:r>
            <a:endParaRPr lang="en-US"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Imagem sem tratamento, superada pelo realce de contraste.</a:t>
            </a:r>
            <a:endParaRPr lang="en-US"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RESULTADOS · INSPEÇÃO AÉREA EM AMBIENTE OPERACIONAL REAL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500" b="1" dirty="0">
                <a:solidFill>
                  <a:srgbClr val="1B2A3A"/>
                </a:solidFill>
                <a:latin typeface="Cambria" pitchFamily="34" charset="0"/>
                <a:ea typeface="Cambria" pitchFamily="34" charset="-122"/>
                <a:cs typeface="Cambria" pitchFamily="34" charset="-120"/>
              </a:rPr>
              <a:t>Combinar técnicas separa o isolador do fundo</a:t>
            </a:r>
            <a:endParaRPr lang="en-US" sz="25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Acurácia da CNN por técnica, em ordem crescente, nas imagens de drones da CPFL (DRNPW)</a:t>
            </a:r>
            <a:endParaRPr lang="en-US"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83,33%</a:t>
            </a:r>
            <a:pPr indent="0" marL="0">
              <a:buNone/>
            </a:pPr>
            <a:r>
              <a:rPr lang="en-US" sz="900" b="1" dirty="0">
                <a:solidFill>
                  <a:srgbClr val="5C6F80"/>
                </a:solidFill>
                <a:latin typeface="Cambria" pitchFamily="34" charset="0"/>
                <a:ea typeface="Cambria" pitchFamily="34" charset="-122"/>
                <a:cs typeface="Cambria" pitchFamily="34" charset="-120"/>
              </a:rPr>
              <a:t>   MELHOR</a:t>
            </a:r>
            <a:endParaRPr lang="en-US"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Realce de contraste com equalização de histograma, F1-score de 75,76%.</a:t>
            </a:r>
            <a:endParaRPr lang="en-US"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49,12%</a:t>
            </a:r>
            <a:pPr indent="0" marL="0">
              <a:buNone/>
            </a:pPr>
            <a:r>
              <a:rPr lang="en-US" sz="900" b="1" dirty="0">
                <a:solidFill>
                  <a:srgbClr val="A9BCCC"/>
                </a:solidFill>
                <a:latin typeface="Cambria" pitchFamily="34" charset="0"/>
                <a:ea typeface="Cambria" pitchFamily="34" charset="-122"/>
                <a:cs typeface="Cambria" pitchFamily="34" charset="-120"/>
              </a:rPr>
              <a:t>   F1 ORIGINAL</a:t>
            </a:r>
            <a:endParaRPr lang="en-US"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FFFFFF"/>
                </a:solidFill>
                <a:latin typeface="Calibri" pitchFamily="34" charset="0"/>
                <a:ea typeface="Calibri" pitchFamily="34" charset="-122"/>
                <a:cs typeface="Calibri" pitchFamily="34" charset="-120"/>
              </a:rPr>
              <a:t>Imagem sem tratamento, com 63,33% de acurácia.</a:t>
            </a:r>
            <a:endParaRPr lang="en-US"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3 imagens</a:t>
            </a:r>
            <a:pPr indent="0" marL="0">
              <a:buNone/>
            </a:pPr>
            <a:r>
              <a:rPr lang="en-US" sz="900" b="1" dirty="0">
                <a:solidFill>
                  <a:srgbClr val="5C6F80"/>
                </a:solidFill>
                <a:latin typeface="Cambria" pitchFamily="34" charset="0"/>
                <a:ea typeface="Cambria" pitchFamily="34" charset="-122"/>
                <a:cs typeface="Cambria" pitchFamily="34" charset="-120"/>
              </a:rPr>
              <a:t>   ACIMA DO PISO</a:t>
            </a:r>
            <a:endParaRPr lang="en-US"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Vantagem do melhor resultado sobre o piso de 73,33%.</a:t>
            </a:r>
            <a:endParaRPr lang="en-US"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RESULTADOS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Combinar técnicas compensa com a CNN</a:t>
            </a:r>
            <a:endParaRPr lang="en-US" sz="2800" dirty="0"/>
          </a:p>
        </p:txBody>
      </p:sp>
      <p:graphicFrame>
        <p:nvGraphicFramePr>
          <p:cNvPr id="4" name="Chart 0" descr=""/>
          <p:cNvGraphicFramePr/>
          <p:nvPr/>
        </p:nvGraphicFramePr>
        <p:xfrm>
          <a:off x="274320" y="132588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937760" cy="219456"/>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Diferença média de acurácia entre técnicas híbridas e simples, CNN (pontos percentuais)</a:t>
            </a:r>
            <a:endParaRPr lang="en-US" sz="950" dirty="0"/>
          </a:p>
        </p:txBody>
      </p:sp>
      <p:sp>
        <p:nvSpPr>
          <p:cNvPr id="6" name="Text 3"/>
          <p:cNvSpPr/>
          <p:nvPr/>
        </p:nvSpPr>
        <p:spPr>
          <a:xfrm>
            <a:off x="5486400" y="1234440"/>
            <a:ext cx="3154680" cy="256032"/>
          </a:xfrm>
          <a:prstGeom prst="rect">
            <a:avLst/>
          </a:prstGeom>
          <a:noFill/>
          <a:ln/>
        </p:spPr>
        <p:txBody>
          <a:bodyPr wrap="square" lIns="0" tIns="0" rIns="0" bIns="0" rtlCol="0" anchor="ctr"/>
          <a:lstStyle/>
          <a:p>
            <a:pPr indent="0" marL="0">
              <a:buNone/>
            </a:pPr>
            <a:r>
              <a:rPr lang="en-US" sz="1150" b="1" dirty="0">
                <a:solidFill>
                  <a:srgbClr val="1B2A3A"/>
                </a:solidFill>
                <a:latin typeface="Calibri" pitchFamily="34" charset="0"/>
                <a:ea typeface="Calibri" pitchFamily="34" charset="-122"/>
                <a:cs typeface="Calibri" pitchFamily="34" charset="-120"/>
              </a:rPr>
              <a:t>Combinação</a:t>
            </a:r>
            <a:endParaRPr lang="en-US" sz="1150" dirty="0"/>
          </a:p>
        </p:txBody>
      </p:sp>
      <p:pic>
        <p:nvPicPr>
          <p:cNvPr id="7" name="Image 0" descr="preencoded.png">    </p:cNvPr>
          <p:cNvPicPr>
            <a:picLocks noChangeAspect="1"/>
          </p:cNvPicPr>
          <p:nvPr/>
        </p:nvPicPr>
        <p:blipFill>
          <a:blip r:embed="rId2"/>
          <a:stretch>
            <a:fillRect/>
          </a:stretch>
        </p:blipFill>
        <p:spPr>
          <a:xfrm>
            <a:off x="5486400" y="1554480"/>
            <a:ext cx="1417320" cy="1060704"/>
          </a:xfrm>
          <a:prstGeom prst="rect">
            <a:avLst/>
          </a:prstGeom>
        </p:spPr>
      </p:pic>
      <p:sp>
        <p:nvSpPr>
          <p:cNvPr id="8" name="Text 4"/>
          <p:cNvSpPr/>
          <p:nvPr/>
        </p:nvSpPr>
        <p:spPr>
          <a:xfrm>
            <a:off x="6903720" y="1856232"/>
            <a:ext cx="320040" cy="457200"/>
          </a:xfrm>
          <a:prstGeom prst="rect">
            <a:avLst/>
          </a:prstGeom>
          <a:noFill/>
          <a:ln/>
        </p:spPr>
        <p:txBody>
          <a:bodyPr wrap="square" lIns="0" tIns="0" rIns="0" bIns="0" rtlCol="0" anchor="ctr"/>
          <a:lstStyle/>
          <a:p>
            <a:pPr algn="ctr" indent="0" marL="0">
              <a:buNone/>
            </a:pPr>
            <a:r>
              <a:rPr lang="en-US" sz="2200" b="1" dirty="0">
                <a:solidFill>
                  <a:srgbClr val="A9BCCC"/>
                </a:solidFill>
                <a:latin typeface="Cambria" pitchFamily="34" charset="0"/>
                <a:ea typeface="Cambria" pitchFamily="34" charset="-122"/>
                <a:cs typeface="Cambria" pitchFamily="34" charset="-120"/>
              </a:rPr>
              <a:t>+</a:t>
            </a:r>
            <a:endParaRPr lang="en-US" sz="2200" dirty="0"/>
          </a:p>
        </p:txBody>
      </p:sp>
      <p:pic>
        <p:nvPicPr>
          <p:cNvPr id="9" name="Image 1" descr="preencoded.png">    </p:cNvPr>
          <p:cNvPicPr>
            <a:picLocks noChangeAspect="1"/>
          </p:cNvPicPr>
          <p:nvPr/>
        </p:nvPicPr>
        <p:blipFill>
          <a:blip r:embed="rId3"/>
          <a:stretch>
            <a:fillRect/>
          </a:stretch>
        </p:blipFill>
        <p:spPr>
          <a:xfrm>
            <a:off x="7223760" y="1554480"/>
            <a:ext cx="1417320" cy="1060704"/>
          </a:xfrm>
          <a:prstGeom prst="rect">
            <a:avLst/>
          </a:prstGeom>
        </p:spPr>
      </p:pic>
      <p:sp>
        <p:nvSpPr>
          <p:cNvPr id="10" name="Shape 5"/>
          <p:cNvSpPr/>
          <p:nvPr/>
        </p:nvSpPr>
        <p:spPr>
          <a:xfrm>
            <a:off x="5486400" y="2880360"/>
            <a:ext cx="3154680" cy="1554480"/>
          </a:xfrm>
          <a:prstGeom prst="roundRect">
            <a:avLst>
              <a:gd name="adj" fmla="val 4118"/>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1" name="Text 6"/>
          <p:cNvSpPr/>
          <p:nvPr/>
        </p:nvSpPr>
        <p:spPr>
          <a:xfrm>
            <a:off x="5687568" y="3017520"/>
            <a:ext cx="2743200" cy="274320"/>
          </a:xfrm>
          <a:prstGeom prst="rect">
            <a:avLst/>
          </a:prstGeom>
          <a:noFill/>
          <a:ln/>
        </p:spPr>
        <p:txBody>
          <a:bodyPr wrap="square" lIns="0" tIns="0" rIns="0" bIns="0" rtlCol="0" anchor="ctr"/>
          <a:lstStyle/>
          <a:p>
            <a:pPr indent="0" marL="0">
              <a:buNone/>
            </a:pPr>
            <a:r>
              <a:rPr lang="en-US" sz="1300" b="1" dirty="0">
                <a:solidFill>
                  <a:srgbClr val="F5A54A"/>
                </a:solidFill>
                <a:latin typeface="Calibri" pitchFamily="34" charset="0"/>
                <a:ea typeface="Calibri" pitchFamily="34" charset="-122"/>
                <a:cs typeface="Calibri" pitchFamily="34" charset="-120"/>
              </a:rPr>
              <a:t>A ordem importa</a:t>
            </a:r>
            <a:endParaRPr lang="en-US" sz="1300" dirty="0"/>
          </a:p>
        </p:txBody>
      </p:sp>
      <p:sp>
        <p:nvSpPr>
          <p:cNvPr id="12" name="Text 7"/>
          <p:cNvSpPr/>
          <p:nvPr/>
        </p:nvSpPr>
        <p:spPr>
          <a:xfrm>
            <a:off x="5687568" y="3337560"/>
            <a:ext cx="2743200" cy="914400"/>
          </a:xfrm>
          <a:prstGeom prst="rect">
            <a:avLst/>
          </a:prstGeom>
          <a:noFill/>
          <a:ln/>
        </p:spPr>
        <p:txBody>
          <a:bodyPr wrap="square" lIns="0" tIns="0" rIns="0" bIns="0" rtlCol="0" anchor="ctr"/>
          <a:lstStyle/>
          <a:p>
            <a:pPr indent="0" marL="0">
              <a:lnSpc>
                <a:spcPct val="108000"/>
              </a:lnSpc>
              <a:buNone/>
            </a:pPr>
            <a:r>
              <a:rPr lang="en-US" sz="1300" dirty="0">
                <a:solidFill>
                  <a:srgbClr val="FFFFFF"/>
                </a:solidFill>
                <a:latin typeface="Calibri" pitchFamily="34" charset="0"/>
                <a:ea typeface="Calibri" pitchFamily="34" charset="-122"/>
                <a:cs typeface="Calibri" pitchFamily="34" charset="-120"/>
              </a:rPr>
              <a:t>Sequências diferentes produzem resultados distintos.</a:t>
            </a:r>
            <a:endParaRPr lang="en-US" sz="1300" dirty="0"/>
          </a:p>
        </p:txBody>
      </p:sp>
      <p:sp>
        <p:nvSpPr>
          <p:cNvPr id="13" name="Text 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4" name="Text 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OTIMIZAÇÃO DE PARÂMETROS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ajuste do contraste passa a ser automático</a:t>
            </a:r>
            <a:endParaRPr lang="en-US" sz="2800" dirty="0"/>
          </a:p>
        </p:txBody>
      </p:sp>
      <p:graphicFrame>
        <p:nvGraphicFramePr>
          <p:cNvPr id="4" name="Chart 0" descr=""/>
          <p:cNvGraphicFramePr/>
          <p:nvPr/>
        </p:nvGraphicFramePr>
        <p:xfrm>
          <a:off x="274320" y="132588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937760" cy="219456"/>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Busca em grade: acurácia no teste por fator de realce de contraste (DRNPW)</a:t>
            </a:r>
            <a:endParaRPr lang="en-US" sz="950" dirty="0"/>
          </a:p>
        </p:txBody>
      </p:sp>
      <p:sp>
        <p:nvSpPr>
          <p:cNvPr id="6" name="Shape 3"/>
          <p:cNvSpPr/>
          <p:nvPr/>
        </p:nvSpPr>
        <p:spPr>
          <a:xfrm>
            <a:off x="5486400" y="1234440"/>
            <a:ext cx="3154680" cy="960120"/>
          </a:xfrm>
          <a:prstGeom prst="roundRect">
            <a:avLst>
              <a:gd name="adj" fmla="val 6667"/>
            </a:avLst>
          </a:prstGeom>
          <a:solidFill>
            <a:srgbClr val="F1F4F7"/>
          </a:solidFill>
          <a:ln w="9525">
            <a:solidFill>
              <a:srgbClr val="E4EAF0"/>
            </a:solidFill>
            <a:prstDash val="solid"/>
          </a:ln>
        </p:spPr>
      </p:sp>
      <p:sp>
        <p:nvSpPr>
          <p:cNvPr id="7" name="Text 4"/>
          <p:cNvSpPr/>
          <p:nvPr/>
        </p:nvSpPr>
        <p:spPr>
          <a:xfrm>
            <a:off x="5669280" y="1325880"/>
            <a:ext cx="1371600" cy="548640"/>
          </a:xfrm>
          <a:prstGeom prst="rect">
            <a:avLst/>
          </a:prstGeom>
          <a:noFill/>
          <a:ln/>
        </p:spPr>
        <p:txBody>
          <a:bodyPr wrap="square" lIns="0" tIns="0" rIns="0" bIns="0" rtlCol="0" anchor="ctr"/>
          <a:lstStyle/>
          <a:p>
            <a:pPr indent="0" marL="0">
              <a:buNone/>
            </a:pPr>
            <a:r>
              <a:rPr lang="en-US" sz="2400" b="1" dirty="0">
                <a:solidFill>
                  <a:srgbClr val="1C7293"/>
                </a:solidFill>
                <a:latin typeface="Cambria" pitchFamily="34" charset="0"/>
                <a:ea typeface="Cambria" pitchFamily="34" charset="-122"/>
                <a:cs typeface="Cambria" pitchFamily="34" charset="-120"/>
              </a:rPr>
              <a:t>1,333</a:t>
            </a:r>
            <a:endParaRPr lang="en-US" sz="2400" dirty="0"/>
          </a:p>
        </p:txBody>
      </p:sp>
      <p:sp>
        <p:nvSpPr>
          <p:cNvPr id="8" name="Text 5"/>
          <p:cNvSpPr/>
          <p:nvPr/>
        </p:nvSpPr>
        <p:spPr>
          <a:xfrm>
            <a:off x="6995160" y="1344168"/>
            <a:ext cx="1600200" cy="731520"/>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Busca em grade</a:t>
            </a:r>
            <a:endParaRPr lang="en-US" sz="1050" dirty="0"/>
          </a:p>
          <a:p>
            <a:pPr indent="0" marL="0">
              <a:buNone/>
            </a:pPr>
            <a:r>
              <a:rPr lang="en-US" sz="1050" dirty="0">
                <a:solidFill>
                  <a:srgbClr val="5C6F80"/>
                </a:solidFill>
                <a:latin typeface="Calibri" pitchFamily="34" charset="0"/>
                <a:ea typeface="Calibri" pitchFamily="34" charset="-122"/>
                <a:cs typeface="Calibri" pitchFamily="34" charset="-120"/>
              </a:rPr>
              <a:t>90,0% de acurácia no teste</a:t>
            </a:r>
            <a:endParaRPr lang="en-US" sz="1050" dirty="0"/>
          </a:p>
        </p:txBody>
      </p:sp>
      <p:sp>
        <p:nvSpPr>
          <p:cNvPr id="9" name="Shape 6"/>
          <p:cNvSpPr/>
          <p:nvPr/>
        </p:nvSpPr>
        <p:spPr>
          <a:xfrm>
            <a:off x="5486400" y="2331720"/>
            <a:ext cx="3154680" cy="960120"/>
          </a:xfrm>
          <a:prstGeom prst="roundRect">
            <a:avLst>
              <a:gd name="adj" fmla="val 6667"/>
            </a:avLst>
          </a:prstGeom>
          <a:solidFill>
            <a:srgbClr val="F1F4F7"/>
          </a:solidFill>
          <a:ln w="9525">
            <a:solidFill>
              <a:srgbClr val="E4EAF0"/>
            </a:solidFill>
            <a:prstDash val="solid"/>
          </a:ln>
        </p:spPr>
      </p:sp>
      <p:sp>
        <p:nvSpPr>
          <p:cNvPr id="10" name="Text 7"/>
          <p:cNvSpPr/>
          <p:nvPr/>
        </p:nvSpPr>
        <p:spPr>
          <a:xfrm>
            <a:off x="5669280" y="2423160"/>
            <a:ext cx="1371600" cy="548640"/>
          </a:xfrm>
          <a:prstGeom prst="rect">
            <a:avLst/>
          </a:prstGeom>
          <a:noFill/>
          <a:ln/>
        </p:spPr>
        <p:txBody>
          <a:bodyPr wrap="square" lIns="0" tIns="0" rIns="0" bIns="0" rtlCol="0" anchor="ctr"/>
          <a:lstStyle/>
          <a:p>
            <a:pPr indent="0" marL="0">
              <a:buNone/>
            </a:pPr>
            <a:r>
              <a:rPr lang="en-US" sz="2400" b="1" dirty="0">
                <a:solidFill>
                  <a:srgbClr val="F5A54A"/>
                </a:solidFill>
                <a:latin typeface="Cambria" pitchFamily="34" charset="0"/>
                <a:ea typeface="Cambria" pitchFamily="34" charset="-122"/>
                <a:cs typeface="Cambria" pitchFamily="34" charset="-120"/>
              </a:rPr>
              <a:t>1,4364</a:t>
            </a:r>
            <a:endParaRPr lang="en-US" sz="2400" dirty="0"/>
          </a:p>
        </p:txBody>
      </p:sp>
      <p:sp>
        <p:nvSpPr>
          <p:cNvPr id="11" name="Text 8"/>
          <p:cNvSpPr/>
          <p:nvPr/>
        </p:nvSpPr>
        <p:spPr>
          <a:xfrm>
            <a:off x="6995160" y="2441448"/>
            <a:ext cx="1600200" cy="731520"/>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Busca aleatória</a:t>
            </a:r>
            <a:endParaRPr lang="en-US" sz="1050" dirty="0"/>
          </a:p>
          <a:p>
            <a:pPr indent="0" marL="0">
              <a:buNone/>
            </a:pPr>
            <a:r>
              <a:rPr lang="en-US" sz="1050" dirty="0">
                <a:solidFill>
                  <a:srgbClr val="5C6F80"/>
                </a:solidFill>
                <a:latin typeface="Calibri" pitchFamily="34" charset="0"/>
                <a:ea typeface="Calibri" pitchFamily="34" charset="-122"/>
                <a:cs typeface="Calibri" pitchFamily="34" charset="-120"/>
              </a:rPr>
              <a:t>85,06% de acurácia na validação</a:t>
            </a:r>
            <a:endParaRPr lang="en-US" sz="1050" dirty="0"/>
          </a:p>
        </p:txBody>
      </p:sp>
      <p:sp>
        <p:nvSpPr>
          <p:cNvPr id="12" name="Shape 9"/>
          <p:cNvSpPr/>
          <p:nvPr/>
        </p:nvSpPr>
        <p:spPr>
          <a:xfrm>
            <a:off x="5486400" y="3520440"/>
            <a:ext cx="315468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3" name="Text 10"/>
          <p:cNvSpPr/>
          <p:nvPr/>
        </p:nvSpPr>
        <p:spPr>
          <a:xfrm>
            <a:off x="5669280" y="3520440"/>
            <a:ext cx="2788920" cy="91440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Os dois métodos apontam para valores um pouco acima de 1,0.</a:t>
            </a:r>
            <a:endParaRPr lang="en-US" sz="1250" dirty="0"/>
          </a:p>
        </p:txBody>
      </p:sp>
      <p:sp>
        <p:nvSpPr>
          <p:cNvPr id="14" name="Text 11"/>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5" name="Text 12"/>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EXPERIMENTO ADICIONAL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Trocar o modelo inverte a melhor técnica</a:t>
            </a:r>
            <a:endParaRPr lang="en-US" sz="2800" dirty="0"/>
          </a:p>
        </p:txBody>
      </p:sp>
      <p:graphicFrame>
        <p:nvGraphicFramePr>
          <p:cNvPr id="4" name="Chart 0" descr=""/>
          <p:cNvGraphicFramePr/>
          <p:nvPr/>
        </p:nvGraphicFramePr>
        <p:xfrm>
          <a:off x="274320" y="1298448"/>
          <a:ext cx="4754880" cy="31546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754880" cy="219456"/>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Acurácia média nas 14 técnicas</a:t>
            </a:r>
            <a:endParaRPr lang="en-US" sz="950" dirty="0"/>
          </a:p>
        </p:txBody>
      </p:sp>
      <p:sp>
        <p:nvSpPr>
          <p:cNvPr id="6" name="Text 3"/>
          <p:cNvSpPr/>
          <p:nvPr/>
        </p:nvSpPr>
        <p:spPr>
          <a:xfrm>
            <a:off x="5303520" y="1234440"/>
            <a:ext cx="3337560" cy="256032"/>
          </a:xfrm>
          <a:prstGeom prst="rect">
            <a:avLst/>
          </a:prstGeom>
          <a:noFill/>
          <a:ln/>
        </p:spPr>
        <p:txBody>
          <a:bodyPr wrap="square" lIns="0" tIns="0" rIns="0" bIns="0" rtlCol="0" anchor="ctr"/>
          <a:lstStyle/>
          <a:p>
            <a:pPr indent="0" marL="0">
              <a:buNone/>
            </a:pPr>
            <a:r>
              <a:rPr lang="en-US" sz="1150" b="1" dirty="0">
                <a:solidFill>
                  <a:srgbClr val="1B2A3A"/>
                </a:solidFill>
                <a:latin typeface="Calibri" pitchFamily="34" charset="0"/>
                <a:ea typeface="Calibri" pitchFamily="34" charset="-122"/>
                <a:cs typeface="Calibri" pitchFamily="34" charset="-120"/>
              </a:rPr>
              <a:t>A mesma técnica: CNN → YOLOv8n-cls</a:t>
            </a:r>
            <a:endParaRPr lang="en-US" sz="1150" dirty="0"/>
          </a:p>
        </p:txBody>
      </p:sp>
      <p:sp>
        <p:nvSpPr>
          <p:cNvPr id="7" name="Shape 4"/>
          <p:cNvSpPr/>
          <p:nvPr/>
        </p:nvSpPr>
        <p:spPr>
          <a:xfrm>
            <a:off x="5303520" y="1572768"/>
            <a:ext cx="3337560" cy="841248"/>
          </a:xfrm>
          <a:prstGeom prst="roundRect">
            <a:avLst>
              <a:gd name="adj" fmla="val 7609"/>
            </a:avLst>
          </a:prstGeom>
          <a:solidFill>
            <a:srgbClr val="F1F4F7"/>
          </a:solidFill>
          <a:ln w="9525">
            <a:solidFill>
              <a:srgbClr val="E4EAF0"/>
            </a:solidFill>
            <a:prstDash val="solid"/>
          </a:ln>
        </p:spPr>
      </p:sp>
      <p:sp>
        <p:nvSpPr>
          <p:cNvPr id="8" name="Text 5"/>
          <p:cNvSpPr/>
          <p:nvPr/>
        </p:nvSpPr>
        <p:spPr>
          <a:xfrm>
            <a:off x="5468112" y="1664208"/>
            <a:ext cx="1417320" cy="658368"/>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CLAHE + realce</a:t>
            </a:r>
            <a:endParaRPr lang="en-US" sz="1100" dirty="0"/>
          </a:p>
          <a:p>
            <a:pPr indent="0" marL="0">
              <a:buNone/>
            </a:pPr>
            <a:r>
              <a:rPr lang="en-US" sz="950" dirty="0">
                <a:solidFill>
                  <a:srgbClr val="5C6F80"/>
                </a:solidFill>
                <a:latin typeface="Calibri" pitchFamily="34" charset="0"/>
                <a:ea typeface="Calibri" pitchFamily="34" charset="-122"/>
                <a:cs typeface="Calibri" pitchFamily="34" charset="-120"/>
              </a:rPr>
              <a:t>CPLID</a:t>
            </a:r>
            <a:endParaRPr lang="en-US" sz="1100" dirty="0"/>
          </a:p>
        </p:txBody>
      </p:sp>
      <p:sp>
        <p:nvSpPr>
          <p:cNvPr id="9" name="Text 6"/>
          <p:cNvSpPr/>
          <p:nvPr/>
        </p:nvSpPr>
        <p:spPr>
          <a:xfrm>
            <a:off x="6858000" y="1664208"/>
            <a:ext cx="1737360" cy="658368"/>
          </a:xfrm>
          <a:prstGeom prst="rect">
            <a:avLst/>
          </a:prstGeom>
          <a:noFill/>
          <a:ln/>
        </p:spPr>
        <p:txBody>
          <a:bodyPr wrap="square" lIns="0" tIns="0" rIns="0" bIns="0" rtlCol="0" anchor="ctr"/>
          <a:lstStyle/>
          <a:p>
            <a:pPr algn="r" indent="0" marL="0">
              <a:buNone/>
            </a:pPr>
            <a:r>
              <a:rPr lang="en-US" sz="1350" b="1" dirty="0">
                <a:solidFill>
                  <a:srgbClr val="1C7293"/>
                </a:solidFill>
                <a:latin typeface="Cambria" pitchFamily="34" charset="0"/>
                <a:ea typeface="Cambria" pitchFamily="34" charset="-122"/>
                <a:cs typeface="Cambria" pitchFamily="34" charset="-120"/>
              </a:rPr>
              <a:t>95,35%</a:t>
            </a:r>
            <a:pPr algn="r" indent="0" marL="0">
              <a:buNone/>
            </a:pPr>
            <a:r>
              <a:rPr lang="en-US" sz="1350" dirty="0">
                <a:solidFill>
                  <a:srgbClr val="A9BCCC"/>
                </a:solidFill>
                <a:latin typeface="Cambria" pitchFamily="34" charset="0"/>
                <a:ea typeface="Cambria" pitchFamily="34" charset="-122"/>
                <a:cs typeface="Cambria" pitchFamily="34" charset="-120"/>
              </a:rPr>
              <a:t>  →  </a:t>
            </a:r>
            <a:pPr algn="r" indent="0" marL="0">
              <a:buNone/>
            </a:pPr>
            <a:r>
              <a:rPr lang="en-US" sz="1350" b="1" dirty="0">
                <a:solidFill>
                  <a:srgbClr val="F5A54A"/>
                </a:solidFill>
                <a:latin typeface="Cambria" pitchFamily="34" charset="0"/>
                <a:ea typeface="Cambria" pitchFamily="34" charset="-122"/>
                <a:cs typeface="Cambria" pitchFamily="34" charset="-120"/>
              </a:rPr>
              <a:t>51,16%</a:t>
            </a:r>
            <a:endParaRPr lang="en-US" sz="1350" dirty="0"/>
          </a:p>
        </p:txBody>
      </p:sp>
      <p:sp>
        <p:nvSpPr>
          <p:cNvPr id="10" name="Shape 7"/>
          <p:cNvSpPr/>
          <p:nvPr/>
        </p:nvSpPr>
        <p:spPr>
          <a:xfrm>
            <a:off x="5303520" y="2532888"/>
            <a:ext cx="3337560" cy="841248"/>
          </a:xfrm>
          <a:prstGeom prst="roundRect">
            <a:avLst>
              <a:gd name="adj" fmla="val 7609"/>
            </a:avLst>
          </a:prstGeom>
          <a:solidFill>
            <a:srgbClr val="F1F4F7"/>
          </a:solidFill>
          <a:ln w="9525">
            <a:solidFill>
              <a:srgbClr val="E4EAF0"/>
            </a:solidFill>
            <a:prstDash val="solid"/>
          </a:ln>
        </p:spPr>
      </p:sp>
      <p:sp>
        <p:nvSpPr>
          <p:cNvPr id="11" name="Text 8"/>
          <p:cNvSpPr/>
          <p:nvPr/>
        </p:nvSpPr>
        <p:spPr>
          <a:xfrm>
            <a:off x="5468112" y="2624328"/>
            <a:ext cx="1417320" cy="658368"/>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Realce + equalização</a:t>
            </a:r>
            <a:endParaRPr lang="en-US" sz="1100" dirty="0"/>
          </a:p>
          <a:p>
            <a:pPr indent="0" marL="0">
              <a:buNone/>
            </a:pPr>
            <a:r>
              <a:rPr lang="en-US" sz="950" dirty="0">
                <a:solidFill>
                  <a:srgbClr val="5C6F80"/>
                </a:solidFill>
                <a:latin typeface="Calibri" pitchFamily="34" charset="0"/>
                <a:ea typeface="Calibri" pitchFamily="34" charset="-122"/>
                <a:cs typeface="Calibri" pitchFamily="34" charset="-120"/>
              </a:rPr>
              <a:t>DRNPW</a:t>
            </a:r>
            <a:endParaRPr lang="en-US" sz="1100" dirty="0"/>
          </a:p>
        </p:txBody>
      </p:sp>
      <p:sp>
        <p:nvSpPr>
          <p:cNvPr id="12" name="Text 9"/>
          <p:cNvSpPr/>
          <p:nvPr/>
        </p:nvSpPr>
        <p:spPr>
          <a:xfrm>
            <a:off x="6858000" y="2624328"/>
            <a:ext cx="1737360" cy="658368"/>
          </a:xfrm>
          <a:prstGeom prst="rect">
            <a:avLst/>
          </a:prstGeom>
          <a:noFill/>
          <a:ln/>
        </p:spPr>
        <p:txBody>
          <a:bodyPr wrap="square" lIns="0" tIns="0" rIns="0" bIns="0" rtlCol="0" anchor="ctr"/>
          <a:lstStyle/>
          <a:p>
            <a:pPr algn="r" indent="0" marL="0">
              <a:buNone/>
            </a:pPr>
            <a:r>
              <a:rPr lang="en-US" sz="1350" b="1" dirty="0">
                <a:solidFill>
                  <a:srgbClr val="1C7293"/>
                </a:solidFill>
                <a:latin typeface="Cambria" pitchFamily="34" charset="0"/>
                <a:ea typeface="Cambria" pitchFamily="34" charset="-122"/>
                <a:cs typeface="Cambria" pitchFamily="34" charset="-120"/>
              </a:rPr>
              <a:t>83,33%</a:t>
            </a:r>
            <a:pPr algn="r" indent="0" marL="0">
              <a:buNone/>
            </a:pPr>
            <a:r>
              <a:rPr lang="en-US" sz="1350" dirty="0">
                <a:solidFill>
                  <a:srgbClr val="A9BCCC"/>
                </a:solidFill>
                <a:latin typeface="Cambria" pitchFamily="34" charset="0"/>
                <a:ea typeface="Cambria" pitchFamily="34" charset="-122"/>
                <a:cs typeface="Cambria" pitchFamily="34" charset="-120"/>
              </a:rPr>
              <a:t>  →  </a:t>
            </a:r>
            <a:pPr algn="r" indent="0" marL="0">
              <a:buNone/>
            </a:pPr>
            <a:r>
              <a:rPr lang="en-US" sz="1350" b="1" dirty="0">
                <a:solidFill>
                  <a:srgbClr val="F5A54A"/>
                </a:solidFill>
                <a:latin typeface="Cambria" pitchFamily="34" charset="0"/>
                <a:ea typeface="Cambria" pitchFamily="34" charset="-122"/>
                <a:cs typeface="Cambria" pitchFamily="34" charset="-120"/>
              </a:rPr>
              <a:t>53,33%</a:t>
            </a:r>
            <a:endParaRPr lang="en-US" sz="1350" dirty="0"/>
          </a:p>
        </p:txBody>
      </p:sp>
      <p:sp>
        <p:nvSpPr>
          <p:cNvPr id="13" name="Shape 10"/>
          <p:cNvSpPr/>
          <p:nvPr/>
        </p:nvSpPr>
        <p:spPr>
          <a:xfrm>
            <a:off x="5303520" y="3493008"/>
            <a:ext cx="3337560" cy="841248"/>
          </a:xfrm>
          <a:prstGeom prst="roundRect">
            <a:avLst>
              <a:gd name="adj" fmla="val 7609"/>
            </a:avLst>
          </a:prstGeom>
          <a:solidFill>
            <a:srgbClr val="F1F4F7"/>
          </a:solidFill>
          <a:ln w="9525">
            <a:solidFill>
              <a:srgbClr val="E4EAF0"/>
            </a:solidFill>
            <a:prstDash val="solid"/>
          </a:ln>
        </p:spPr>
      </p:sp>
      <p:sp>
        <p:nvSpPr>
          <p:cNvPr id="14" name="Text 11"/>
          <p:cNvSpPr/>
          <p:nvPr/>
        </p:nvSpPr>
        <p:spPr>
          <a:xfrm>
            <a:off x="5468112" y="3584448"/>
            <a:ext cx="1417320" cy="658368"/>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Escala de cinza</a:t>
            </a:r>
            <a:endParaRPr lang="en-US" sz="1100" dirty="0"/>
          </a:p>
          <a:p>
            <a:pPr indent="0" marL="0">
              <a:buNone/>
            </a:pPr>
            <a:r>
              <a:rPr lang="en-US" sz="950" dirty="0">
                <a:solidFill>
                  <a:srgbClr val="5C6F80"/>
                </a:solidFill>
                <a:latin typeface="Calibri" pitchFamily="34" charset="0"/>
                <a:ea typeface="Calibri" pitchFamily="34" charset="-122"/>
                <a:cs typeface="Calibri" pitchFamily="34" charset="-120"/>
              </a:rPr>
              <a:t>CPLID</a:t>
            </a:r>
            <a:endParaRPr lang="en-US" sz="1100" dirty="0"/>
          </a:p>
        </p:txBody>
      </p:sp>
      <p:sp>
        <p:nvSpPr>
          <p:cNvPr id="15" name="Text 12"/>
          <p:cNvSpPr/>
          <p:nvPr/>
        </p:nvSpPr>
        <p:spPr>
          <a:xfrm>
            <a:off x="6858000" y="3584448"/>
            <a:ext cx="1737360" cy="658368"/>
          </a:xfrm>
          <a:prstGeom prst="rect">
            <a:avLst/>
          </a:prstGeom>
          <a:noFill/>
          <a:ln/>
        </p:spPr>
        <p:txBody>
          <a:bodyPr wrap="square" lIns="0" tIns="0" rIns="0" bIns="0" rtlCol="0" anchor="ctr"/>
          <a:lstStyle/>
          <a:p>
            <a:pPr algn="r" indent="0" marL="0">
              <a:buNone/>
            </a:pPr>
            <a:r>
              <a:rPr lang="en-US" sz="1350" b="1" dirty="0">
                <a:solidFill>
                  <a:srgbClr val="1C7293"/>
                </a:solidFill>
                <a:latin typeface="Cambria" pitchFamily="34" charset="0"/>
                <a:ea typeface="Cambria" pitchFamily="34" charset="-122"/>
                <a:cs typeface="Cambria" pitchFamily="34" charset="-120"/>
              </a:rPr>
              <a:t>76,74%</a:t>
            </a:r>
            <a:pPr algn="r" indent="0" marL="0">
              <a:buNone/>
            </a:pPr>
            <a:r>
              <a:rPr lang="en-US" sz="1350" dirty="0">
                <a:solidFill>
                  <a:srgbClr val="A9BCCC"/>
                </a:solidFill>
                <a:latin typeface="Cambria" pitchFamily="34" charset="0"/>
                <a:ea typeface="Cambria" pitchFamily="34" charset="-122"/>
                <a:cs typeface="Cambria" pitchFamily="34" charset="-120"/>
              </a:rPr>
              <a:t>  →  </a:t>
            </a:r>
            <a:pPr algn="r" indent="0" marL="0">
              <a:buNone/>
            </a:pPr>
            <a:r>
              <a:rPr lang="en-US" sz="1350" b="1" dirty="0">
                <a:solidFill>
                  <a:srgbClr val="1C7293"/>
                </a:solidFill>
                <a:latin typeface="Cambria" pitchFamily="34" charset="0"/>
                <a:ea typeface="Cambria" pitchFamily="34" charset="-122"/>
                <a:cs typeface="Cambria" pitchFamily="34" charset="-120"/>
              </a:rPr>
              <a:t>81,40%</a:t>
            </a:r>
            <a:endParaRPr lang="en-US" sz="1350" dirty="0"/>
          </a:p>
        </p:txBody>
      </p:sp>
      <p:sp>
        <p:nvSpPr>
          <p:cNvPr id="16" name="Text 13"/>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7" name="Text 14"/>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IMPACTO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O que a metodologia entrega</a:t>
            </a:r>
            <a:endParaRPr lang="en-US" sz="2800" dirty="0"/>
          </a:p>
        </p:txBody>
      </p:sp>
      <p:sp>
        <p:nvSpPr>
          <p:cNvPr id="4" name="Shape 2"/>
          <p:cNvSpPr/>
          <p:nvPr/>
        </p:nvSpPr>
        <p:spPr>
          <a:xfrm>
            <a:off x="502920" y="1234440"/>
            <a:ext cx="3977640" cy="1481328"/>
          </a:xfrm>
          <a:prstGeom prst="roundRect">
            <a:avLst>
              <a:gd name="adj" fmla="val 4321"/>
            </a:avLst>
          </a:prstGeom>
          <a:solidFill>
            <a:srgbClr val="1C3550"/>
          </a:solidFill>
          <a:ln w="9525">
            <a:solidFill>
              <a:srgbClr val="1C3550"/>
            </a:solidFill>
            <a:prstDash val="solid"/>
          </a:ln>
        </p:spPr>
      </p:sp>
      <p:sp>
        <p:nvSpPr>
          <p:cNvPr id="5" name="Text 3"/>
          <p:cNvSpPr/>
          <p:nvPr/>
        </p:nvSpPr>
        <p:spPr>
          <a:xfrm>
            <a:off x="731520" y="1371600"/>
            <a:ext cx="3566160" cy="594360"/>
          </a:xfrm>
          <a:prstGeom prst="rect">
            <a:avLst/>
          </a:prstGeom>
          <a:noFill/>
          <a:ln/>
        </p:spPr>
        <p:txBody>
          <a:bodyPr wrap="square" lIns="0" tIns="0" rIns="0" bIns="0" rtlCol="0" anchor="ctr"/>
          <a:lstStyle/>
          <a:p>
            <a:pPr indent="0" marL="0">
              <a:buNone/>
            </a:pPr>
            <a:r>
              <a:rPr lang="en-US" sz="2400" b="1" dirty="0">
                <a:solidFill>
                  <a:srgbClr val="F5A54A"/>
                </a:solidFill>
                <a:latin typeface="Cambria" pitchFamily="34" charset="0"/>
                <a:ea typeface="Cambria" pitchFamily="34" charset="-122"/>
                <a:cs typeface="Cambria" pitchFamily="34" charset="-120"/>
              </a:rPr>
              <a:t>49,12% → 75,76%</a:t>
            </a:r>
            <a:endParaRPr lang="en-US" sz="2400" dirty="0"/>
          </a:p>
        </p:txBody>
      </p:sp>
      <p:sp>
        <p:nvSpPr>
          <p:cNvPr id="6" name="Text 4"/>
          <p:cNvSpPr/>
          <p:nvPr/>
        </p:nvSpPr>
        <p:spPr>
          <a:xfrm>
            <a:off x="731520" y="196596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Ganho de desempenho</a:t>
            </a:r>
            <a:endParaRPr lang="en-US" sz="1300" dirty="0"/>
          </a:p>
        </p:txBody>
      </p:sp>
      <p:sp>
        <p:nvSpPr>
          <p:cNvPr id="7" name="Text 5"/>
          <p:cNvSpPr/>
          <p:nvPr/>
        </p:nvSpPr>
        <p:spPr>
          <a:xfrm>
            <a:off x="731520" y="2240280"/>
            <a:ext cx="3566160" cy="365760"/>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F1-score da imagem original à melhor combinação, no DRNPW</a:t>
            </a:r>
            <a:endParaRPr lang="en-US" sz="1100" dirty="0"/>
          </a:p>
        </p:txBody>
      </p:sp>
      <p:sp>
        <p:nvSpPr>
          <p:cNvPr id="8" name="Shape 6"/>
          <p:cNvSpPr/>
          <p:nvPr/>
        </p:nvSpPr>
        <p:spPr>
          <a:xfrm>
            <a:off x="4617720" y="1234440"/>
            <a:ext cx="3977640" cy="1481328"/>
          </a:xfrm>
          <a:prstGeom prst="roundRect">
            <a:avLst>
              <a:gd name="adj" fmla="val 4321"/>
            </a:avLst>
          </a:prstGeom>
          <a:solidFill>
            <a:srgbClr val="1C3550"/>
          </a:solidFill>
          <a:ln w="9525">
            <a:solidFill>
              <a:srgbClr val="1C3550"/>
            </a:solidFill>
            <a:prstDash val="solid"/>
          </a:ln>
        </p:spPr>
      </p:sp>
      <p:sp>
        <p:nvSpPr>
          <p:cNvPr id="9" name="Text 7"/>
          <p:cNvSpPr/>
          <p:nvPr/>
        </p:nvSpPr>
        <p:spPr>
          <a:xfrm>
            <a:off x="4846320" y="1371600"/>
            <a:ext cx="3566160" cy="594360"/>
          </a:xfrm>
          <a:prstGeom prst="rect">
            <a:avLst/>
          </a:prstGeom>
          <a:noFill/>
          <a:ln/>
        </p:spPr>
        <p:txBody>
          <a:bodyPr wrap="square" lIns="0" tIns="0" rIns="0" bIns="0" rtlCol="0" anchor="ctr"/>
          <a:lstStyle/>
          <a:p>
            <a:pPr indent="0" marL="0">
              <a:buNone/>
            </a:pPr>
            <a:r>
              <a:rPr lang="en-US" sz="2400" b="1" dirty="0">
                <a:solidFill>
                  <a:srgbClr val="5BB4D6"/>
                </a:solidFill>
                <a:latin typeface="Cambria" pitchFamily="34" charset="0"/>
                <a:ea typeface="Cambria" pitchFamily="34" charset="-122"/>
                <a:cs typeface="Cambria" pitchFamily="34" charset="-120"/>
              </a:rPr>
              <a:t>93,02% → 67,44%</a:t>
            </a:r>
            <a:endParaRPr lang="en-US" sz="2400" dirty="0"/>
          </a:p>
        </p:txBody>
      </p:sp>
      <p:sp>
        <p:nvSpPr>
          <p:cNvPr id="10" name="Text 8"/>
          <p:cNvSpPr/>
          <p:nvPr/>
        </p:nvSpPr>
        <p:spPr>
          <a:xfrm>
            <a:off x="4846320" y="196596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Proteção contra a escolha errada</a:t>
            </a:r>
            <a:endParaRPr lang="en-US" sz="1300" dirty="0"/>
          </a:p>
        </p:txBody>
      </p:sp>
      <p:sp>
        <p:nvSpPr>
          <p:cNvPr id="11" name="Text 9"/>
          <p:cNvSpPr/>
          <p:nvPr/>
        </p:nvSpPr>
        <p:spPr>
          <a:xfrm>
            <a:off x="4846320" y="2240280"/>
            <a:ext cx="3566160" cy="365760"/>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acurácia da imagem original ao desfoque gaussiano, no CPLID</a:t>
            </a:r>
            <a:endParaRPr lang="en-US" sz="1100" dirty="0"/>
          </a:p>
        </p:txBody>
      </p:sp>
      <p:sp>
        <p:nvSpPr>
          <p:cNvPr id="12" name="Shape 10"/>
          <p:cNvSpPr/>
          <p:nvPr/>
        </p:nvSpPr>
        <p:spPr>
          <a:xfrm>
            <a:off x="502920" y="2880360"/>
            <a:ext cx="3977640" cy="1481328"/>
          </a:xfrm>
          <a:prstGeom prst="roundRect">
            <a:avLst>
              <a:gd name="adj" fmla="val 4321"/>
            </a:avLst>
          </a:prstGeom>
          <a:solidFill>
            <a:srgbClr val="1C3550"/>
          </a:solidFill>
          <a:ln w="9525">
            <a:solidFill>
              <a:srgbClr val="1C3550"/>
            </a:solidFill>
            <a:prstDash val="solid"/>
          </a:ln>
        </p:spPr>
      </p:sp>
      <p:sp>
        <p:nvSpPr>
          <p:cNvPr id="13" name="Text 11"/>
          <p:cNvSpPr/>
          <p:nvPr/>
        </p:nvSpPr>
        <p:spPr>
          <a:xfrm>
            <a:off x="731520" y="3017520"/>
            <a:ext cx="3566160" cy="594360"/>
          </a:xfrm>
          <a:prstGeom prst="rect">
            <a:avLst/>
          </a:prstGeom>
          <a:noFill/>
          <a:ln/>
        </p:spPr>
        <p:txBody>
          <a:bodyPr wrap="square" lIns="0" tIns="0" rIns="0" bIns="0" rtlCol="0" anchor="ctr"/>
          <a:lstStyle/>
          <a:p>
            <a:pPr indent="0" marL="0">
              <a:buNone/>
            </a:pPr>
            <a:r>
              <a:rPr lang="en-US" sz="2400" b="1" dirty="0">
                <a:solidFill>
                  <a:srgbClr val="5BB4D6"/>
                </a:solidFill>
                <a:latin typeface="Cambria" pitchFamily="34" charset="0"/>
                <a:ea typeface="Cambria" pitchFamily="34" charset="-122"/>
                <a:cs typeface="Cambria" pitchFamily="34" charset="-120"/>
              </a:rPr>
              <a:t>84,55% × 66,28%</a:t>
            </a:r>
            <a:endParaRPr lang="en-US" sz="2400" dirty="0"/>
          </a:p>
        </p:txBody>
      </p:sp>
      <p:sp>
        <p:nvSpPr>
          <p:cNvPr id="14" name="Text 12"/>
          <p:cNvSpPr/>
          <p:nvPr/>
        </p:nvSpPr>
        <p:spPr>
          <a:xfrm>
            <a:off x="731520" y="361188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Onde investir</a:t>
            </a:r>
            <a:endParaRPr lang="en-US" sz="1300" dirty="0"/>
          </a:p>
        </p:txBody>
      </p:sp>
      <p:sp>
        <p:nvSpPr>
          <p:cNvPr id="15" name="Text 13"/>
          <p:cNvSpPr/>
          <p:nvPr/>
        </p:nvSpPr>
        <p:spPr>
          <a:xfrm>
            <a:off x="731520" y="3886200"/>
            <a:ext cx="3566160" cy="365760"/>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a arquitetura maior e pré-treinada não superou a CNN, no CPLID</a:t>
            </a:r>
            <a:endParaRPr lang="en-US" sz="1100" dirty="0"/>
          </a:p>
        </p:txBody>
      </p:sp>
      <p:sp>
        <p:nvSpPr>
          <p:cNvPr id="16" name="Shape 14"/>
          <p:cNvSpPr/>
          <p:nvPr/>
        </p:nvSpPr>
        <p:spPr>
          <a:xfrm>
            <a:off x="4617720" y="2880360"/>
            <a:ext cx="3977640" cy="1481328"/>
          </a:xfrm>
          <a:prstGeom prst="roundRect">
            <a:avLst>
              <a:gd name="adj" fmla="val 4321"/>
            </a:avLst>
          </a:prstGeom>
          <a:solidFill>
            <a:srgbClr val="1C3550"/>
          </a:solidFill>
          <a:ln w="9525">
            <a:solidFill>
              <a:srgbClr val="1C3550"/>
            </a:solidFill>
            <a:prstDash val="solid"/>
          </a:ln>
        </p:spPr>
      </p:sp>
      <p:sp>
        <p:nvSpPr>
          <p:cNvPr id="17" name="Text 15"/>
          <p:cNvSpPr/>
          <p:nvPr/>
        </p:nvSpPr>
        <p:spPr>
          <a:xfrm>
            <a:off x="4846320" y="3017520"/>
            <a:ext cx="3566160" cy="594360"/>
          </a:xfrm>
          <a:prstGeom prst="rect">
            <a:avLst/>
          </a:prstGeom>
          <a:noFill/>
          <a:ln/>
        </p:spPr>
        <p:txBody>
          <a:bodyPr wrap="square" lIns="0" tIns="0" rIns="0" bIns="0" rtlCol="0" anchor="ctr"/>
          <a:lstStyle/>
          <a:p>
            <a:pPr indent="0" marL="0">
              <a:buNone/>
            </a:pPr>
            <a:r>
              <a:rPr lang="en-US" sz="2400" b="1" dirty="0">
                <a:solidFill>
                  <a:srgbClr val="F5A54A"/>
                </a:solidFill>
                <a:latin typeface="Cambria" pitchFamily="34" charset="0"/>
                <a:ea typeface="Cambria" pitchFamily="34" charset="-122"/>
                <a:cs typeface="Cambria" pitchFamily="34" charset="-120"/>
              </a:rPr>
              <a:t>↺</a:t>
            </a:r>
            <a:endParaRPr lang="en-US" sz="2400" dirty="0"/>
          </a:p>
        </p:txBody>
      </p:sp>
      <p:sp>
        <p:nvSpPr>
          <p:cNvPr id="18" name="Text 16"/>
          <p:cNvSpPr/>
          <p:nvPr/>
        </p:nvSpPr>
        <p:spPr>
          <a:xfrm>
            <a:off x="4846320" y="361188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Reexecução controlada</a:t>
            </a:r>
            <a:endParaRPr lang="en-US" sz="1300" dirty="0"/>
          </a:p>
        </p:txBody>
      </p:sp>
      <p:sp>
        <p:nvSpPr>
          <p:cNvPr id="19" name="Text 17"/>
          <p:cNvSpPr/>
          <p:nvPr/>
        </p:nvSpPr>
        <p:spPr>
          <a:xfrm>
            <a:off x="4846320" y="3886200"/>
            <a:ext cx="3566160" cy="365760"/>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seleção refeita a cada mudança de modelo ou de conjunto de dados</a:t>
            </a:r>
            <a:endParaRPr lang="en-US" sz="1100" dirty="0"/>
          </a:p>
        </p:txBody>
      </p:sp>
      <p:sp>
        <p:nvSpPr>
          <p:cNvPr id="20"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Impacto</a:t>
            </a:r>
            <a:endParaRPr lang="en-US" sz="900" dirty="0"/>
          </a:p>
        </p:txBody>
      </p:sp>
      <p:sp>
        <p:nvSpPr>
          <p:cNvPr id="21"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IMPACTO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Vantagens para o sistema elétrico</a:t>
            </a:r>
            <a:endParaRPr lang="en-US" sz="2800" dirty="0"/>
          </a:p>
        </p:txBody>
      </p:sp>
      <p:sp>
        <p:nvSpPr>
          <p:cNvPr id="4" name="Shape 2"/>
          <p:cNvSpPr/>
          <p:nvPr/>
        </p:nvSpPr>
        <p:spPr>
          <a:xfrm>
            <a:off x="502920" y="1234440"/>
            <a:ext cx="2606040" cy="1463040"/>
          </a:xfrm>
          <a:prstGeom prst="roundRect">
            <a:avLst>
              <a:gd name="adj" fmla="val 4375"/>
            </a:avLst>
          </a:prstGeom>
          <a:solidFill>
            <a:srgbClr val="F1F4F7"/>
          </a:solidFill>
          <a:ln w="9525">
            <a:solidFill>
              <a:srgbClr val="E4EAF0"/>
            </a:solidFill>
            <a:prstDash val="solid"/>
          </a:ln>
        </p:spPr>
      </p:sp>
      <p:sp>
        <p:nvSpPr>
          <p:cNvPr id="5" name="Shape 3"/>
          <p:cNvSpPr/>
          <p:nvPr/>
        </p:nvSpPr>
        <p:spPr>
          <a:xfrm>
            <a:off x="502920" y="1234440"/>
            <a:ext cx="2606040" cy="73152"/>
          </a:xfrm>
          <a:prstGeom prst="rect">
            <a:avLst/>
          </a:prstGeom>
          <a:solidFill>
            <a:srgbClr val="1C7293"/>
          </a:solidFill>
          <a:ln/>
        </p:spPr>
      </p:sp>
      <p:sp>
        <p:nvSpPr>
          <p:cNvPr id="6" name="Shape 4"/>
          <p:cNvSpPr/>
          <p:nvPr/>
        </p:nvSpPr>
        <p:spPr>
          <a:xfrm>
            <a:off x="685800" y="1508760"/>
            <a:ext cx="420624" cy="420624"/>
          </a:xfrm>
          <a:prstGeom prst="ellipse">
            <a:avLst/>
          </a:prstGeom>
          <a:solidFill>
            <a:srgbClr val="1C7293"/>
          </a:solidFill>
          <a:ln w="12700">
            <a:solidFill>
              <a:srgbClr val="1C7293"/>
            </a:solidFill>
            <a:prstDash val="solid"/>
          </a:ln>
        </p:spPr>
      </p:sp>
      <p:sp>
        <p:nvSpPr>
          <p:cNvPr id="7" name="Text 5"/>
          <p:cNvSpPr/>
          <p:nvPr/>
        </p:nvSpPr>
        <p:spPr>
          <a:xfrm>
            <a:off x="685800" y="150876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234440" y="150876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Continuidade</a:t>
            </a:r>
            <a:endParaRPr lang="en-US" sz="1350" dirty="0"/>
          </a:p>
        </p:txBody>
      </p:sp>
      <p:sp>
        <p:nvSpPr>
          <p:cNvPr id="9" name="Text 7"/>
          <p:cNvSpPr/>
          <p:nvPr/>
        </p:nvSpPr>
        <p:spPr>
          <a:xfrm>
            <a:off x="685800" y="203911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A detecção precoce de falhas evita interrupções no fornecimento</a:t>
            </a:r>
            <a:endParaRPr lang="en-US" sz="1050" dirty="0"/>
          </a:p>
        </p:txBody>
      </p:sp>
      <p:sp>
        <p:nvSpPr>
          <p:cNvPr id="10" name="Shape 8"/>
          <p:cNvSpPr/>
          <p:nvPr/>
        </p:nvSpPr>
        <p:spPr>
          <a:xfrm>
            <a:off x="3291840" y="1234440"/>
            <a:ext cx="2606040" cy="1463040"/>
          </a:xfrm>
          <a:prstGeom prst="roundRect">
            <a:avLst>
              <a:gd name="adj" fmla="val 4375"/>
            </a:avLst>
          </a:prstGeom>
          <a:solidFill>
            <a:srgbClr val="F1F4F7"/>
          </a:solidFill>
          <a:ln w="9525">
            <a:solidFill>
              <a:srgbClr val="E4EAF0"/>
            </a:solidFill>
            <a:prstDash val="solid"/>
          </a:ln>
        </p:spPr>
      </p:sp>
      <p:sp>
        <p:nvSpPr>
          <p:cNvPr id="11" name="Shape 9"/>
          <p:cNvSpPr/>
          <p:nvPr/>
        </p:nvSpPr>
        <p:spPr>
          <a:xfrm>
            <a:off x="3291840" y="1234440"/>
            <a:ext cx="2606040" cy="73152"/>
          </a:xfrm>
          <a:prstGeom prst="rect">
            <a:avLst/>
          </a:prstGeom>
          <a:solidFill>
            <a:srgbClr val="1C7293"/>
          </a:solidFill>
          <a:ln/>
        </p:spPr>
      </p:sp>
      <p:sp>
        <p:nvSpPr>
          <p:cNvPr id="12" name="Shape 10"/>
          <p:cNvSpPr/>
          <p:nvPr/>
        </p:nvSpPr>
        <p:spPr>
          <a:xfrm>
            <a:off x="3474720" y="1508760"/>
            <a:ext cx="420624" cy="420624"/>
          </a:xfrm>
          <a:prstGeom prst="ellipse">
            <a:avLst/>
          </a:prstGeom>
          <a:solidFill>
            <a:srgbClr val="1C7293"/>
          </a:solidFill>
          <a:ln w="12700">
            <a:solidFill>
              <a:srgbClr val="1C7293"/>
            </a:solidFill>
            <a:prstDash val="solid"/>
          </a:ln>
        </p:spPr>
      </p:sp>
      <p:sp>
        <p:nvSpPr>
          <p:cNvPr id="13" name="Text 11"/>
          <p:cNvSpPr/>
          <p:nvPr/>
        </p:nvSpPr>
        <p:spPr>
          <a:xfrm>
            <a:off x="3474720" y="150876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4023360" y="150876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Custo de manutenção</a:t>
            </a:r>
            <a:endParaRPr lang="en-US" sz="1350" dirty="0"/>
          </a:p>
        </p:txBody>
      </p:sp>
      <p:sp>
        <p:nvSpPr>
          <p:cNvPr id="15" name="Text 13"/>
          <p:cNvSpPr/>
          <p:nvPr/>
        </p:nvSpPr>
        <p:spPr>
          <a:xfrm>
            <a:off x="3474720" y="203911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Identificar a falha cedo reduz os custos de manutenção</a:t>
            </a:r>
            <a:endParaRPr lang="en-US" sz="1050" dirty="0"/>
          </a:p>
        </p:txBody>
      </p:sp>
      <p:sp>
        <p:nvSpPr>
          <p:cNvPr id="16" name="Shape 14"/>
          <p:cNvSpPr/>
          <p:nvPr/>
        </p:nvSpPr>
        <p:spPr>
          <a:xfrm>
            <a:off x="6080760" y="1234440"/>
            <a:ext cx="2606040" cy="1463040"/>
          </a:xfrm>
          <a:prstGeom prst="roundRect">
            <a:avLst>
              <a:gd name="adj" fmla="val 4375"/>
            </a:avLst>
          </a:prstGeom>
          <a:solidFill>
            <a:srgbClr val="F1F4F7"/>
          </a:solidFill>
          <a:ln w="9525">
            <a:solidFill>
              <a:srgbClr val="E4EAF0"/>
            </a:solidFill>
            <a:prstDash val="solid"/>
          </a:ln>
        </p:spPr>
      </p:sp>
      <p:sp>
        <p:nvSpPr>
          <p:cNvPr id="17" name="Shape 15"/>
          <p:cNvSpPr/>
          <p:nvPr/>
        </p:nvSpPr>
        <p:spPr>
          <a:xfrm>
            <a:off x="6080760" y="1234440"/>
            <a:ext cx="2606040" cy="73152"/>
          </a:xfrm>
          <a:prstGeom prst="rect">
            <a:avLst/>
          </a:prstGeom>
          <a:solidFill>
            <a:srgbClr val="1C7293"/>
          </a:solidFill>
          <a:ln/>
        </p:spPr>
      </p:sp>
      <p:sp>
        <p:nvSpPr>
          <p:cNvPr id="18" name="Shape 16"/>
          <p:cNvSpPr/>
          <p:nvPr/>
        </p:nvSpPr>
        <p:spPr>
          <a:xfrm>
            <a:off x="6263640" y="1508760"/>
            <a:ext cx="420624" cy="420624"/>
          </a:xfrm>
          <a:prstGeom prst="ellipse">
            <a:avLst/>
          </a:prstGeom>
          <a:solidFill>
            <a:srgbClr val="1C7293"/>
          </a:solidFill>
          <a:ln w="12700">
            <a:solidFill>
              <a:srgbClr val="1C7293"/>
            </a:solidFill>
            <a:prstDash val="solid"/>
          </a:ln>
        </p:spPr>
      </p:sp>
      <p:sp>
        <p:nvSpPr>
          <p:cNvPr id="19" name="Text 17"/>
          <p:cNvSpPr/>
          <p:nvPr/>
        </p:nvSpPr>
        <p:spPr>
          <a:xfrm>
            <a:off x="6263640" y="150876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p:nvPr/>
        </p:nvSpPr>
        <p:spPr>
          <a:xfrm>
            <a:off x="6812280" y="150876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Segurança</a:t>
            </a:r>
            <a:endParaRPr lang="en-US" sz="1350" dirty="0"/>
          </a:p>
        </p:txBody>
      </p:sp>
      <p:sp>
        <p:nvSpPr>
          <p:cNvPr id="21" name="Text 19"/>
          <p:cNvSpPr/>
          <p:nvPr/>
        </p:nvSpPr>
        <p:spPr>
          <a:xfrm>
            <a:off x="6263640" y="203911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Evita intervenções manuais em locais de difícil acesso</a:t>
            </a:r>
            <a:endParaRPr lang="en-US" sz="1050" dirty="0"/>
          </a:p>
        </p:txBody>
      </p:sp>
      <p:sp>
        <p:nvSpPr>
          <p:cNvPr id="22" name="Shape 20"/>
          <p:cNvSpPr/>
          <p:nvPr/>
        </p:nvSpPr>
        <p:spPr>
          <a:xfrm>
            <a:off x="502920" y="2880360"/>
            <a:ext cx="2606040" cy="1463040"/>
          </a:xfrm>
          <a:prstGeom prst="roundRect">
            <a:avLst>
              <a:gd name="adj" fmla="val 4375"/>
            </a:avLst>
          </a:prstGeom>
          <a:solidFill>
            <a:srgbClr val="F1F4F7"/>
          </a:solidFill>
          <a:ln w="9525">
            <a:solidFill>
              <a:srgbClr val="E4EAF0"/>
            </a:solidFill>
            <a:prstDash val="solid"/>
          </a:ln>
        </p:spPr>
      </p:sp>
      <p:sp>
        <p:nvSpPr>
          <p:cNvPr id="23" name="Shape 21"/>
          <p:cNvSpPr/>
          <p:nvPr/>
        </p:nvSpPr>
        <p:spPr>
          <a:xfrm>
            <a:off x="502920" y="2880360"/>
            <a:ext cx="2606040" cy="73152"/>
          </a:xfrm>
          <a:prstGeom prst="rect">
            <a:avLst/>
          </a:prstGeom>
          <a:solidFill>
            <a:srgbClr val="F5A54A"/>
          </a:solidFill>
          <a:ln/>
        </p:spPr>
      </p:sp>
      <p:sp>
        <p:nvSpPr>
          <p:cNvPr id="24" name="Shape 22"/>
          <p:cNvSpPr/>
          <p:nvPr/>
        </p:nvSpPr>
        <p:spPr>
          <a:xfrm>
            <a:off x="685800" y="3154680"/>
            <a:ext cx="420624" cy="420624"/>
          </a:xfrm>
          <a:prstGeom prst="ellipse">
            <a:avLst/>
          </a:prstGeom>
          <a:solidFill>
            <a:srgbClr val="F5A54A"/>
          </a:solidFill>
          <a:ln w="12700">
            <a:solidFill>
              <a:srgbClr val="F5A54A"/>
            </a:solidFill>
            <a:prstDash val="solid"/>
          </a:ln>
        </p:spPr>
      </p:sp>
      <p:sp>
        <p:nvSpPr>
          <p:cNvPr id="25" name="Text 23"/>
          <p:cNvSpPr/>
          <p:nvPr/>
        </p:nvSpPr>
        <p:spPr>
          <a:xfrm>
            <a:off x="685800" y="3154680"/>
            <a:ext cx="420624" cy="420624"/>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4</a:t>
            </a:r>
            <a:endParaRPr lang="en-US" sz="1200" dirty="0"/>
          </a:p>
        </p:txBody>
      </p:sp>
      <p:sp>
        <p:nvSpPr>
          <p:cNvPr id="26" name="Text 24"/>
          <p:cNvSpPr/>
          <p:nvPr/>
        </p:nvSpPr>
        <p:spPr>
          <a:xfrm>
            <a:off x="1234440" y="315468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Grandes extensões</a:t>
            </a:r>
            <a:endParaRPr lang="en-US" sz="1350" dirty="0"/>
          </a:p>
        </p:txBody>
      </p:sp>
      <p:sp>
        <p:nvSpPr>
          <p:cNvPr id="27" name="Text 25"/>
          <p:cNvSpPr/>
          <p:nvPr/>
        </p:nvSpPr>
        <p:spPr>
          <a:xfrm>
            <a:off x="685800" y="368503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Drones facilitam a inspeção de longos trechos de linha</a:t>
            </a:r>
            <a:endParaRPr lang="en-US" sz="1050" dirty="0"/>
          </a:p>
        </p:txBody>
      </p:sp>
      <p:sp>
        <p:nvSpPr>
          <p:cNvPr id="28" name="Shape 26"/>
          <p:cNvSpPr/>
          <p:nvPr/>
        </p:nvSpPr>
        <p:spPr>
          <a:xfrm>
            <a:off x="3291840" y="2880360"/>
            <a:ext cx="2606040" cy="1463040"/>
          </a:xfrm>
          <a:prstGeom prst="roundRect">
            <a:avLst>
              <a:gd name="adj" fmla="val 4375"/>
            </a:avLst>
          </a:prstGeom>
          <a:solidFill>
            <a:srgbClr val="F1F4F7"/>
          </a:solidFill>
          <a:ln w="9525">
            <a:solidFill>
              <a:srgbClr val="E4EAF0"/>
            </a:solidFill>
            <a:prstDash val="solid"/>
          </a:ln>
        </p:spPr>
      </p:sp>
      <p:sp>
        <p:nvSpPr>
          <p:cNvPr id="29" name="Shape 27"/>
          <p:cNvSpPr/>
          <p:nvPr/>
        </p:nvSpPr>
        <p:spPr>
          <a:xfrm>
            <a:off x="3291840" y="2880360"/>
            <a:ext cx="2606040" cy="73152"/>
          </a:xfrm>
          <a:prstGeom prst="rect">
            <a:avLst/>
          </a:prstGeom>
          <a:solidFill>
            <a:srgbClr val="F5A54A"/>
          </a:solidFill>
          <a:ln/>
        </p:spPr>
      </p:sp>
      <p:sp>
        <p:nvSpPr>
          <p:cNvPr id="30" name="Shape 28"/>
          <p:cNvSpPr/>
          <p:nvPr/>
        </p:nvSpPr>
        <p:spPr>
          <a:xfrm>
            <a:off x="3474720" y="3154680"/>
            <a:ext cx="420624" cy="420624"/>
          </a:xfrm>
          <a:prstGeom prst="ellipse">
            <a:avLst/>
          </a:prstGeom>
          <a:solidFill>
            <a:srgbClr val="F5A54A"/>
          </a:solidFill>
          <a:ln w="12700">
            <a:solidFill>
              <a:srgbClr val="F5A54A"/>
            </a:solidFill>
            <a:prstDash val="solid"/>
          </a:ln>
        </p:spPr>
      </p:sp>
      <p:sp>
        <p:nvSpPr>
          <p:cNvPr id="31" name="Text 29"/>
          <p:cNvSpPr/>
          <p:nvPr/>
        </p:nvSpPr>
        <p:spPr>
          <a:xfrm>
            <a:off x="3474720" y="3154680"/>
            <a:ext cx="420624" cy="420624"/>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5</a:t>
            </a:r>
            <a:endParaRPr lang="en-US" sz="1200" dirty="0"/>
          </a:p>
        </p:txBody>
      </p:sp>
      <p:sp>
        <p:nvSpPr>
          <p:cNvPr id="32" name="Text 30"/>
          <p:cNvSpPr/>
          <p:nvPr/>
        </p:nvSpPr>
        <p:spPr>
          <a:xfrm>
            <a:off x="4023360" y="315468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Reprodutibilidade</a:t>
            </a:r>
            <a:endParaRPr lang="en-US" sz="1350" dirty="0"/>
          </a:p>
        </p:txBody>
      </p:sp>
      <p:sp>
        <p:nvSpPr>
          <p:cNvPr id="33" name="Text 31"/>
          <p:cNvSpPr/>
          <p:nvPr/>
        </p:nvSpPr>
        <p:spPr>
          <a:xfrm>
            <a:off x="3474720" y="368503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Diagnóstico mais rápido, econômico e menos subjetivo</a:t>
            </a:r>
            <a:endParaRPr lang="en-US" sz="1050" dirty="0"/>
          </a:p>
        </p:txBody>
      </p:sp>
      <p:sp>
        <p:nvSpPr>
          <p:cNvPr id="34" name="Shape 32"/>
          <p:cNvSpPr/>
          <p:nvPr/>
        </p:nvSpPr>
        <p:spPr>
          <a:xfrm>
            <a:off x="6080760" y="2880360"/>
            <a:ext cx="2606040" cy="1463040"/>
          </a:xfrm>
          <a:prstGeom prst="roundRect">
            <a:avLst>
              <a:gd name="adj" fmla="val 4375"/>
            </a:avLst>
          </a:prstGeom>
          <a:solidFill>
            <a:srgbClr val="F1F4F7"/>
          </a:solidFill>
          <a:ln w="9525">
            <a:solidFill>
              <a:srgbClr val="E4EAF0"/>
            </a:solidFill>
            <a:prstDash val="solid"/>
          </a:ln>
        </p:spPr>
      </p:sp>
      <p:sp>
        <p:nvSpPr>
          <p:cNvPr id="35" name="Shape 33"/>
          <p:cNvSpPr/>
          <p:nvPr/>
        </p:nvSpPr>
        <p:spPr>
          <a:xfrm>
            <a:off x="6080760" y="2880360"/>
            <a:ext cx="2606040" cy="73152"/>
          </a:xfrm>
          <a:prstGeom prst="rect">
            <a:avLst/>
          </a:prstGeom>
          <a:solidFill>
            <a:srgbClr val="F5A54A"/>
          </a:solidFill>
          <a:ln/>
        </p:spPr>
      </p:sp>
      <p:sp>
        <p:nvSpPr>
          <p:cNvPr id="36" name="Shape 34"/>
          <p:cNvSpPr/>
          <p:nvPr/>
        </p:nvSpPr>
        <p:spPr>
          <a:xfrm>
            <a:off x="6263640" y="3154680"/>
            <a:ext cx="420624" cy="420624"/>
          </a:xfrm>
          <a:prstGeom prst="ellipse">
            <a:avLst/>
          </a:prstGeom>
          <a:solidFill>
            <a:srgbClr val="F5A54A"/>
          </a:solidFill>
          <a:ln w="12700">
            <a:solidFill>
              <a:srgbClr val="F5A54A"/>
            </a:solidFill>
            <a:prstDash val="solid"/>
          </a:ln>
        </p:spPr>
      </p:sp>
      <p:sp>
        <p:nvSpPr>
          <p:cNvPr id="37" name="Text 35"/>
          <p:cNvSpPr/>
          <p:nvPr/>
        </p:nvSpPr>
        <p:spPr>
          <a:xfrm>
            <a:off x="6263640" y="3154680"/>
            <a:ext cx="420624" cy="420624"/>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6</a:t>
            </a:r>
            <a:endParaRPr lang="en-US" sz="1200" dirty="0"/>
          </a:p>
        </p:txBody>
      </p:sp>
      <p:sp>
        <p:nvSpPr>
          <p:cNvPr id="38" name="Text 36"/>
          <p:cNvSpPr/>
          <p:nvPr/>
        </p:nvSpPr>
        <p:spPr>
          <a:xfrm>
            <a:off x="6812280" y="315468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Manutenção preditiva</a:t>
            </a:r>
            <a:endParaRPr lang="en-US" sz="1350" dirty="0"/>
          </a:p>
        </p:txBody>
      </p:sp>
      <p:sp>
        <p:nvSpPr>
          <p:cNvPr id="39" name="Text 37"/>
          <p:cNvSpPr/>
          <p:nvPr/>
        </p:nvSpPr>
        <p:spPr>
          <a:xfrm>
            <a:off x="6263640" y="368503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Danos identificados antes de se tornarem críticos</a:t>
            </a:r>
            <a:endParaRPr lang="en-US" sz="1050" dirty="0"/>
          </a:p>
        </p:txBody>
      </p:sp>
      <p:sp>
        <p:nvSpPr>
          <p:cNvPr id="40" name="Text 3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Impacto</a:t>
            </a:r>
            <a:endParaRPr lang="en-US" sz="900" dirty="0"/>
          </a:p>
        </p:txBody>
      </p:sp>
      <p:sp>
        <p:nvSpPr>
          <p:cNvPr id="41" name="Text 3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CONCLUSÕES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que os resultados sustentam</a:t>
            </a:r>
            <a:endParaRPr lang="en-US" sz="2800" dirty="0"/>
          </a:p>
        </p:txBody>
      </p:sp>
      <p:sp>
        <p:nvSpPr>
          <p:cNvPr id="4" name="Shape 2"/>
          <p:cNvSpPr/>
          <p:nvPr/>
        </p:nvSpPr>
        <p:spPr>
          <a:xfrm>
            <a:off x="502920" y="1234440"/>
            <a:ext cx="8138160" cy="960120"/>
          </a:xfrm>
          <a:prstGeom prst="roundRect">
            <a:avLst>
              <a:gd name="adj" fmla="val 6667"/>
            </a:avLst>
          </a:prstGeom>
          <a:solidFill>
            <a:srgbClr val="F1F4F7"/>
          </a:solidFill>
          <a:ln w="9525">
            <a:solidFill>
              <a:srgbClr val="E4EAF0"/>
            </a:solidFill>
            <a:prstDash val="solid"/>
          </a:ln>
        </p:spPr>
      </p:sp>
      <p:sp>
        <p:nvSpPr>
          <p:cNvPr id="5" name="Shape 3"/>
          <p:cNvSpPr/>
          <p:nvPr/>
        </p:nvSpPr>
        <p:spPr>
          <a:xfrm>
            <a:off x="704088" y="1490472"/>
            <a:ext cx="457200" cy="457200"/>
          </a:xfrm>
          <a:prstGeom prst="ellipse">
            <a:avLst/>
          </a:prstGeom>
          <a:solidFill>
            <a:srgbClr val="1C7293"/>
          </a:solidFill>
          <a:ln w="12700">
            <a:solidFill>
              <a:srgbClr val="1C7293"/>
            </a:solidFill>
            <a:prstDash val="solid"/>
          </a:ln>
        </p:spPr>
      </p:sp>
      <p:sp>
        <p:nvSpPr>
          <p:cNvPr id="6" name="Text 4"/>
          <p:cNvSpPr/>
          <p:nvPr/>
        </p:nvSpPr>
        <p:spPr>
          <a:xfrm>
            <a:off x="704088" y="14904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325880" y="1353312"/>
            <a:ext cx="7132320" cy="292608"/>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O pré-processamento é determinante na detecção de falhas em isoladores</a:t>
            </a:r>
            <a:endParaRPr lang="en-US" sz="1400" dirty="0"/>
          </a:p>
        </p:txBody>
      </p:sp>
      <p:sp>
        <p:nvSpPr>
          <p:cNvPr id="8" name="Text 6"/>
          <p:cNvSpPr/>
          <p:nvPr/>
        </p:nvSpPr>
        <p:spPr>
          <a:xfrm>
            <a:off x="1325880" y="1673352"/>
            <a:ext cx="7132320" cy="457200"/>
          </a:xfrm>
          <a:prstGeom prst="rect">
            <a:avLst/>
          </a:prstGeom>
          <a:noFill/>
          <a:ln/>
        </p:spPr>
        <p:txBody>
          <a:bodyPr wrap="square" lIns="0" tIns="0" rIns="0" bIns="0" rtlCol="0" anchor="ctr"/>
          <a:lstStyle/>
          <a:p>
            <a:pPr indent="0" marL="0">
              <a:lnSpc>
                <a:spcPct val="105000"/>
              </a:lnSpc>
              <a:buNone/>
            </a:pPr>
            <a:r>
              <a:rPr lang="en-US" sz="1150" dirty="0">
                <a:solidFill>
                  <a:srgbClr val="5C6F80"/>
                </a:solidFill>
                <a:latin typeface="Calibri" pitchFamily="34" charset="0"/>
                <a:ea typeface="Calibri" pitchFamily="34" charset="-122"/>
                <a:cs typeface="Calibri" pitchFamily="34" charset="-120"/>
              </a:rPr>
              <a:t>Elevou o F1-score de 49,12% para 75,76% no DRNPW e, mal escolhido, levou a acurácia de 93,02% a 67,44% no CPLID.</a:t>
            </a:r>
            <a:endParaRPr lang="en-US" sz="1150" dirty="0"/>
          </a:p>
        </p:txBody>
      </p:sp>
      <p:sp>
        <p:nvSpPr>
          <p:cNvPr id="9" name="Shape 7"/>
          <p:cNvSpPr/>
          <p:nvPr/>
        </p:nvSpPr>
        <p:spPr>
          <a:xfrm>
            <a:off x="502920" y="2331720"/>
            <a:ext cx="8138160" cy="960120"/>
          </a:xfrm>
          <a:prstGeom prst="roundRect">
            <a:avLst>
              <a:gd name="adj" fmla="val 6667"/>
            </a:avLst>
          </a:prstGeom>
          <a:solidFill>
            <a:srgbClr val="F1F4F7"/>
          </a:solidFill>
          <a:ln w="9525">
            <a:solidFill>
              <a:srgbClr val="E4EAF0"/>
            </a:solidFill>
            <a:prstDash val="solid"/>
          </a:ln>
        </p:spPr>
      </p:sp>
      <p:sp>
        <p:nvSpPr>
          <p:cNvPr id="10" name="Shape 8"/>
          <p:cNvSpPr/>
          <p:nvPr/>
        </p:nvSpPr>
        <p:spPr>
          <a:xfrm>
            <a:off x="704088" y="2587752"/>
            <a:ext cx="457200" cy="457200"/>
          </a:xfrm>
          <a:prstGeom prst="ellipse">
            <a:avLst/>
          </a:prstGeom>
          <a:solidFill>
            <a:srgbClr val="1C7293"/>
          </a:solidFill>
          <a:ln w="12700">
            <a:solidFill>
              <a:srgbClr val="1C7293"/>
            </a:solidFill>
            <a:prstDash val="solid"/>
          </a:ln>
        </p:spPr>
      </p:sp>
      <p:sp>
        <p:nvSpPr>
          <p:cNvPr id="11" name="Text 9"/>
          <p:cNvSpPr/>
          <p:nvPr/>
        </p:nvSpPr>
        <p:spPr>
          <a:xfrm>
            <a:off x="704088" y="258775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325880" y="2450592"/>
            <a:ext cx="7132320" cy="292608"/>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Não há técnica universalmente superior</a:t>
            </a:r>
            <a:endParaRPr lang="en-US" sz="1400" dirty="0"/>
          </a:p>
        </p:txBody>
      </p:sp>
      <p:sp>
        <p:nvSpPr>
          <p:cNvPr id="13" name="Text 11"/>
          <p:cNvSpPr/>
          <p:nvPr/>
        </p:nvSpPr>
        <p:spPr>
          <a:xfrm>
            <a:off x="1325880" y="2770632"/>
            <a:ext cx="7132320" cy="457200"/>
          </a:xfrm>
          <a:prstGeom prst="rect">
            <a:avLst/>
          </a:prstGeom>
          <a:noFill/>
          <a:ln/>
        </p:spPr>
        <p:txBody>
          <a:bodyPr wrap="square" lIns="0" tIns="0" rIns="0" bIns="0" rtlCol="0" anchor="ctr"/>
          <a:lstStyle/>
          <a:p>
            <a:pPr indent="0" marL="0">
              <a:lnSpc>
                <a:spcPct val="105000"/>
              </a:lnSpc>
              <a:buNone/>
            </a:pPr>
            <a:r>
              <a:rPr lang="en-US" sz="1150" dirty="0">
                <a:solidFill>
                  <a:srgbClr val="5C6F80"/>
                </a:solidFill>
                <a:latin typeface="Calibri" pitchFamily="34" charset="0"/>
                <a:ea typeface="Calibri" pitchFamily="34" charset="-122"/>
                <a:cs typeface="Calibri" pitchFamily="34" charset="-120"/>
              </a:rPr>
              <a:t>Realce de contraste para defeito estrutural em cadeias cerâmicas. Combinações híbridas para fundos com poluição visual.</a:t>
            </a:r>
            <a:endParaRPr lang="en-US" sz="1150" dirty="0"/>
          </a:p>
        </p:txBody>
      </p:sp>
      <p:sp>
        <p:nvSpPr>
          <p:cNvPr id="14" name="Shape 12"/>
          <p:cNvSpPr/>
          <p:nvPr/>
        </p:nvSpPr>
        <p:spPr>
          <a:xfrm>
            <a:off x="502920" y="3429000"/>
            <a:ext cx="8138160" cy="960120"/>
          </a:xfrm>
          <a:prstGeom prst="roundRect">
            <a:avLst>
              <a:gd name="adj" fmla="val 6667"/>
            </a:avLst>
          </a:prstGeom>
          <a:solidFill>
            <a:srgbClr val="F1F4F7"/>
          </a:solidFill>
          <a:ln w="9525">
            <a:solidFill>
              <a:srgbClr val="E4EAF0"/>
            </a:solidFill>
            <a:prstDash val="solid"/>
          </a:ln>
        </p:spPr>
      </p:sp>
      <p:sp>
        <p:nvSpPr>
          <p:cNvPr id="15" name="Shape 13"/>
          <p:cNvSpPr/>
          <p:nvPr/>
        </p:nvSpPr>
        <p:spPr>
          <a:xfrm>
            <a:off x="704088" y="3685032"/>
            <a:ext cx="457200" cy="457200"/>
          </a:xfrm>
          <a:prstGeom prst="ellipse">
            <a:avLst/>
          </a:prstGeom>
          <a:solidFill>
            <a:srgbClr val="F5A54A"/>
          </a:solidFill>
          <a:ln w="12700">
            <a:solidFill>
              <a:srgbClr val="F5A54A"/>
            </a:solidFill>
            <a:prstDash val="solid"/>
          </a:ln>
        </p:spPr>
      </p:sp>
      <p:sp>
        <p:nvSpPr>
          <p:cNvPr id="16" name="Text 14"/>
          <p:cNvSpPr/>
          <p:nvPr/>
        </p:nvSpPr>
        <p:spPr>
          <a:xfrm>
            <a:off x="704088" y="3685032"/>
            <a:ext cx="457200" cy="457200"/>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325880" y="3547872"/>
            <a:ext cx="7132320" cy="292608"/>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A seleção do pré-processamento depende do modelo</a:t>
            </a:r>
            <a:endParaRPr lang="en-US" sz="1400" dirty="0"/>
          </a:p>
        </p:txBody>
      </p:sp>
      <p:sp>
        <p:nvSpPr>
          <p:cNvPr id="18" name="Text 16"/>
          <p:cNvSpPr/>
          <p:nvPr/>
        </p:nvSpPr>
        <p:spPr>
          <a:xfrm>
            <a:off x="1325880" y="3867912"/>
            <a:ext cx="7132320" cy="457200"/>
          </a:xfrm>
          <a:prstGeom prst="rect">
            <a:avLst/>
          </a:prstGeom>
          <a:noFill/>
          <a:ln/>
        </p:spPr>
        <p:txBody>
          <a:bodyPr wrap="square" lIns="0" tIns="0" rIns="0" bIns="0" rtlCol="0" anchor="ctr"/>
          <a:lstStyle/>
          <a:p>
            <a:pPr indent="0" marL="0">
              <a:lnSpc>
                <a:spcPct val="105000"/>
              </a:lnSpc>
              <a:buNone/>
            </a:pPr>
            <a:r>
              <a:rPr lang="en-US" sz="1150" dirty="0">
                <a:solidFill>
                  <a:srgbClr val="5C6F80"/>
                </a:solidFill>
                <a:latin typeface="Calibri" pitchFamily="34" charset="0"/>
                <a:ea typeface="Calibri" pitchFamily="34" charset="-122"/>
                <a:cs typeface="Calibri" pitchFamily="34" charset="-120"/>
              </a:rPr>
              <a:t>A ordem de mérito se inverteu entre a CNN e o YOLOv8n-cls, e a escolha deve ser refeita a cada mudança.</a:t>
            </a:r>
            <a:endParaRPr lang="en-US" sz="1150" dirty="0"/>
          </a:p>
        </p:txBody>
      </p:sp>
      <p:sp>
        <p:nvSpPr>
          <p:cNvPr id="19" name="Text 17"/>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Conclusões</a:t>
            </a:r>
            <a:endParaRPr lang="en-US" sz="900" dirty="0"/>
          </a:p>
        </p:txBody>
      </p:sp>
      <p:sp>
        <p:nvSpPr>
          <p:cNvPr id="20" name="Text 18"/>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CONCLUSÕES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Limitações e trabalhos futuros</a:t>
            </a:r>
            <a:endParaRPr lang="en-US" sz="2800" dirty="0"/>
          </a:p>
        </p:txBody>
      </p:sp>
      <p:sp>
        <p:nvSpPr>
          <p:cNvPr id="4" name="Shape 2"/>
          <p:cNvSpPr/>
          <p:nvPr/>
        </p:nvSpPr>
        <p:spPr>
          <a:xfrm>
            <a:off x="502920" y="1234440"/>
            <a:ext cx="3931920" cy="3200400"/>
          </a:xfrm>
          <a:prstGeom prst="roundRect">
            <a:avLst>
              <a:gd name="adj" fmla="val 2000"/>
            </a:avLst>
          </a:prstGeom>
          <a:solidFill>
            <a:srgbClr val="F1F4F7"/>
          </a:solidFill>
          <a:ln w="9525">
            <a:solidFill>
              <a:srgbClr val="E4EAF0"/>
            </a:solidFill>
            <a:prstDash val="solid"/>
          </a:ln>
        </p:spPr>
      </p:sp>
      <p:sp>
        <p:nvSpPr>
          <p:cNvPr id="5" name="Text 3"/>
          <p:cNvSpPr/>
          <p:nvPr/>
        </p:nvSpPr>
        <p:spPr>
          <a:xfrm>
            <a:off x="758952" y="1371600"/>
            <a:ext cx="3474720" cy="292608"/>
          </a:xfrm>
          <a:prstGeom prst="rect">
            <a:avLst/>
          </a:prstGeom>
          <a:noFill/>
          <a:ln/>
        </p:spPr>
        <p:txBody>
          <a:bodyPr wrap="square" lIns="0" tIns="0" rIns="0" bIns="0" rtlCol="0" anchor="ctr"/>
          <a:lstStyle/>
          <a:p>
            <a:pPr indent="0" marL="0">
              <a:buNone/>
            </a:pPr>
            <a:r>
              <a:rPr lang="en-US" sz="1400" b="1" dirty="0">
                <a:solidFill>
                  <a:srgbClr val="5C6F80"/>
                </a:solidFill>
                <a:latin typeface="Calibri" pitchFamily="34" charset="0"/>
                <a:ea typeface="Calibri" pitchFamily="34" charset="-122"/>
                <a:cs typeface="Calibri" pitchFamily="34" charset="-120"/>
              </a:rPr>
              <a:t>Limitações</a:t>
            </a:r>
            <a:endParaRPr lang="en-US" sz="1400" dirty="0"/>
          </a:p>
        </p:txBody>
      </p:sp>
      <p:sp>
        <p:nvSpPr>
          <p:cNvPr id="6" name="Text 4"/>
          <p:cNvSpPr/>
          <p:nvPr/>
        </p:nvSpPr>
        <p:spPr>
          <a:xfrm>
            <a:off x="777240" y="1783080"/>
            <a:ext cx="3429000" cy="246888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B2A3A"/>
                </a:solidFill>
                <a:latin typeface="Calibri" pitchFamily="34" charset="0"/>
                <a:ea typeface="Calibri" pitchFamily="34" charset="-122"/>
                <a:cs typeface="Calibri" pitchFamily="34" charset="-120"/>
              </a:rPr>
              <a:t>Escassez de imagens públicas com defeitos anotados</a:t>
            </a:r>
            <a:endParaRPr lang="en-US" sz="1250" dirty="0"/>
          </a:p>
          <a:p>
            <a:pPr marL="342900" indent="-342900">
              <a:spcAft>
                <a:spcPts val="1000"/>
              </a:spcAft>
              <a:buSzPct val="100000"/>
              <a:buChar char="•"/>
            </a:pPr>
            <a:r>
              <a:rPr lang="en-US" sz="1250" dirty="0">
                <a:solidFill>
                  <a:srgbClr val="1B2A3A"/>
                </a:solidFill>
                <a:latin typeface="Calibri" pitchFamily="34" charset="0"/>
                <a:ea typeface="Calibri" pitchFamily="34" charset="-122"/>
                <a:cs typeface="Calibri" pitchFamily="34" charset="-120"/>
              </a:rPr>
              <a:t>Conjuntos de dados fortemente desbalanceados</a:t>
            </a:r>
            <a:endParaRPr lang="en-US" sz="1250" dirty="0"/>
          </a:p>
          <a:p>
            <a:pPr marL="342900" indent="-342900">
              <a:spcAft>
                <a:spcPts val="1000"/>
              </a:spcAft>
              <a:buSzPct val="100000"/>
              <a:buChar char="•"/>
            </a:pPr>
            <a:r>
              <a:rPr lang="en-US" sz="1250" dirty="0">
                <a:solidFill>
                  <a:srgbClr val="1B2A3A"/>
                </a:solidFill>
                <a:latin typeface="Calibri" pitchFamily="34" charset="0"/>
                <a:ea typeface="Calibri" pitchFamily="34" charset="-122"/>
                <a:cs typeface="Calibri" pitchFamily="34" charset="-120"/>
              </a:rPr>
              <a:t>Explosão combinatória ao otimizar todos os parâmetros</a:t>
            </a:r>
            <a:endParaRPr lang="en-US" sz="1250" dirty="0"/>
          </a:p>
        </p:txBody>
      </p:sp>
      <p:sp>
        <p:nvSpPr>
          <p:cNvPr id="7" name="Shape 5"/>
          <p:cNvSpPr/>
          <p:nvPr/>
        </p:nvSpPr>
        <p:spPr>
          <a:xfrm>
            <a:off x="4709160" y="1234440"/>
            <a:ext cx="3931920" cy="3200400"/>
          </a:xfrm>
          <a:prstGeom prst="roundRect">
            <a:avLst>
              <a:gd name="adj" fmla="val 2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8" name="Text 6"/>
          <p:cNvSpPr/>
          <p:nvPr/>
        </p:nvSpPr>
        <p:spPr>
          <a:xfrm>
            <a:off x="4965192" y="1371600"/>
            <a:ext cx="3474720" cy="292608"/>
          </a:xfrm>
          <a:prstGeom prst="rect">
            <a:avLst/>
          </a:prstGeom>
          <a:noFill/>
          <a:ln/>
        </p:spPr>
        <p:txBody>
          <a:bodyPr wrap="square" lIns="0" tIns="0" rIns="0" bIns="0" rtlCol="0" anchor="ctr"/>
          <a:lstStyle/>
          <a:p>
            <a:pPr indent="0" marL="0">
              <a:buNone/>
            </a:pPr>
            <a:r>
              <a:rPr lang="en-US" sz="1400" b="1" dirty="0">
                <a:solidFill>
                  <a:srgbClr val="F5A54A"/>
                </a:solidFill>
                <a:latin typeface="Calibri" pitchFamily="34" charset="0"/>
                <a:ea typeface="Calibri" pitchFamily="34" charset="-122"/>
                <a:cs typeface="Calibri" pitchFamily="34" charset="-120"/>
              </a:rPr>
              <a:t>Trabalhos futuros</a:t>
            </a:r>
            <a:endParaRPr lang="en-US" sz="1400" dirty="0"/>
          </a:p>
        </p:txBody>
      </p:sp>
      <p:sp>
        <p:nvSpPr>
          <p:cNvPr id="9" name="Text 7"/>
          <p:cNvSpPr/>
          <p:nvPr/>
        </p:nvSpPr>
        <p:spPr>
          <a:xfrm>
            <a:off x="4983480" y="1783080"/>
            <a:ext cx="3429000" cy="24688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Otimização bayesiana de múltiplos parâmetros</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Aumento de dados com GANs</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Integração com arquiteturas de detecção</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Métricas robustas ao desbalanceamento</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Execução embarcada em drones</a:t>
            </a:r>
            <a:endParaRPr lang="en-US" sz="1250" dirty="0"/>
          </a:p>
        </p:txBody>
      </p:sp>
      <p:sp>
        <p:nvSpPr>
          <p:cNvPr id="10" name="Text 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Conclusões</a:t>
            </a:r>
            <a:endParaRPr lang="en-US" sz="900" dirty="0"/>
          </a:p>
        </p:txBody>
      </p:sp>
      <p:sp>
        <p:nvSpPr>
          <p:cNvPr id="11" name="Text 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IMPACTO</a:t>
            </a:r>
            <a:endParaRPr lang="en-US" sz="1050" dirty="0"/>
          </a:p>
        </p:txBody>
      </p:sp>
      <p:sp>
        <p:nvSpPr>
          <p:cNvPr id="4"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O impacto para a engenharia elétrica</a:t>
            </a:r>
            <a:endParaRPr lang="en-US" sz="2800" dirty="0"/>
          </a:p>
        </p:txBody>
      </p:sp>
      <p:sp>
        <p:nvSpPr>
          <p:cNvPr id="5" name="Shape 2"/>
          <p:cNvSpPr/>
          <p:nvPr/>
        </p:nvSpPr>
        <p:spPr>
          <a:xfrm>
            <a:off x="502920" y="1280160"/>
            <a:ext cx="64008" cy="713232"/>
          </a:xfrm>
          <a:prstGeom prst="rect">
            <a:avLst/>
          </a:prstGeom>
          <a:solidFill>
            <a:srgbClr val="F5A54A"/>
          </a:solidFill>
          <a:ln/>
        </p:spPr>
      </p:sp>
      <p:sp>
        <p:nvSpPr>
          <p:cNvPr id="6" name="Text 3"/>
          <p:cNvSpPr/>
          <p:nvPr/>
        </p:nvSpPr>
        <p:spPr>
          <a:xfrm>
            <a:off x="731520" y="1261872"/>
            <a:ext cx="5669280" cy="292608"/>
          </a:xfrm>
          <a:prstGeom prst="rect">
            <a:avLst/>
          </a:prstGeom>
          <a:noFill/>
          <a:ln/>
        </p:spPr>
        <p:txBody>
          <a:bodyPr wrap="square" lIns="0" tIns="0" rIns="0" bIns="0" rtlCol="0" anchor="ctr"/>
          <a:lstStyle/>
          <a:p>
            <a:pPr indent="0" marL="0">
              <a:buNone/>
            </a:pPr>
            <a:r>
              <a:rPr lang="en-US" sz="1500" b="1" dirty="0">
                <a:solidFill>
                  <a:srgbClr val="F5A54A"/>
                </a:solidFill>
                <a:latin typeface="Calibri" pitchFamily="34" charset="0"/>
                <a:ea typeface="Calibri" pitchFamily="34" charset="-122"/>
                <a:cs typeface="Calibri" pitchFamily="34" charset="-120"/>
              </a:rPr>
              <a:t>Confiabilidade do sistema</a:t>
            </a:r>
            <a:endParaRPr lang="en-US" sz="1500" dirty="0"/>
          </a:p>
        </p:txBody>
      </p:sp>
      <p:sp>
        <p:nvSpPr>
          <p:cNvPr id="7" name="Text 4"/>
          <p:cNvSpPr/>
          <p:nvPr/>
        </p:nvSpPr>
        <p:spPr>
          <a:xfrm>
            <a:off x="731520" y="1554480"/>
            <a:ext cx="566928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Modelos que identificam melhor as falhas nos isoladores, antes das interrupções</a:t>
            </a:r>
            <a:endParaRPr lang="en-US" sz="1200" dirty="0"/>
          </a:p>
        </p:txBody>
      </p:sp>
      <p:sp>
        <p:nvSpPr>
          <p:cNvPr id="8" name="Shape 5"/>
          <p:cNvSpPr/>
          <p:nvPr/>
        </p:nvSpPr>
        <p:spPr>
          <a:xfrm>
            <a:off x="502920" y="2148840"/>
            <a:ext cx="64008" cy="713232"/>
          </a:xfrm>
          <a:prstGeom prst="rect">
            <a:avLst/>
          </a:prstGeom>
          <a:solidFill>
            <a:srgbClr val="F5A54A"/>
          </a:solidFill>
          <a:ln/>
        </p:spPr>
      </p:sp>
      <p:sp>
        <p:nvSpPr>
          <p:cNvPr id="9" name="Text 6"/>
          <p:cNvSpPr/>
          <p:nvPr/>
        </p:nvSpPr>
        <p:spPr>
          <a:xfrm>
            <a:off x="731520" y="2130552"/>
            <a:ext cx="5669280" cy="292608"/>
          </a:xfrm>
          <a:prstGeom prst="rect">
            <a:avLst/>
          </a:prstGeom>
          <a:noFill/>
          <a:ln/>
        </p:spPr>
        <p:txBody>
          <a:bodyPr wrap="square" lIns="0" tIns="0" rIns="0" bIns="0" rtlCol="0" anchor="ctr"/>
          <a:lstStyle/>
          <a:p>
            <a:pPr indent="0" marL="0">
              <a:buNone/>
            </a:pPr>
            <a:r>
              <a:rPr lang="en-US" sz="1500" b="1" dirty="0">
                <a:solidFill>
                  <a:srgbClr val="F5A54A"/>
                </a:solidFill>
                <a:latin typeface="Calibri" pitchFamily="34" charset="0"/>
                <a:ea typeface="Calibri" pitchFamily="34" charset="-122"/>
                <a:cs typeface="Calibri" pitchFamily="34" charset="-120"/>
              </a:rPr>
              <a:t>Manutenção de linhas</a:t>
            </a:r>
            <a:endParaRPr lang="en-US" sz="1500" dirty="0"/>
          </a:p>
        </p:txBody>
      </p:sp>
      <p:sp>
        <p:nvSpPr>
          <p:cNvPr id="10" name="Text 7"/>
          <p:cNvSpPr/>
          <p:nvPr/>
        </p:nvSpPr>
        <p:spPr>
          <a:xfrm>
            <a:off x="731520" y="2423160"/>
            <a:ext cx="566928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Inspeção por drone e IA mais rápida, econômica, segura e reprodutível</a:t>
            </a:r>
            <a:endParaRPr lang="en-US" sz="1200" dirty="0"/>
          </a:p>
        </p:txBody>
      </p:sp>
      <p:sp>
        <p:nvSpPr>
          <p:cNvPr id="11" name="Shape 8"/>
          <p:cNvSpPr/>
          <p:nvPr/>
        </p:nvSpPr>
        <p:spPr>
          <a:xfrm>
            <a:off x="502920" y="3017520"/>
            <a:ext cx="64008" cy="713232"/>
          </a:xfrm>
          <a:prstGeom prst="rect">
            <a:avLst/>
          </a:prstGeom>
          <a:solidFill>
            <a:srgbClr val="F5A54A"/>
          </a:solidFill>
          <a:ln/>
        </p:spPr>
      </p:sp>
      <p:sp>
        <p:nvSpPr>
          <p:cNvPr id="12" name="Text 9"/>
          <p:cNvSpPr/>
          <p:nvPr/>
        </p:nvSpPr>
        <p:spPr>
          <a:xfrm>
            <a:off x="731520" y="2999232"/>
            <a:ext cx="5669280" cy="292608"/>
          </a:xfrm>
          <a:prstGeom prst="rect">
            <a:avLst/>
          </a:prstGeom>
          <a:noFill/>
          <a:ln/>
        </p:spPr>
        <p:txBody>
          <a:bodyPr wrap="square" lIns="0" tIns="0" rIns="0" bIns="0" rtlCol="0" anchor="ctr"/>
          <a:lstStyle/>
          <a:p>
            <a:pPr indent="0" marL="0">
              <a:buNone/>
            </a:pPr>
            <a:r>
              <a:rPr lang="en-US" sz="1500" b="1" dirty="0">
                <a:solidFill>
                  <a:srgbClr val="F5A54A"/>
                </a:solidFill>
                <a:latin typeface="Calibri" pitchFamily="34" charset="0"/>
                <a:ea typeface="Calibri" pitchFamily="34" charset="-122"/>
                <a:cs typeface="Calibri" pitchFamily="34" charset="-120"/>
              </a:rPr>
              <a:t>Método para a inspeção automatizada</a:t>
            </a:r>
            <a:endParaRPr lang="en-US" sz="1500" dirty="0"/>
          </a:p>
        </p:txBody>
      </p:sp>
      <p:sp>
        <p:nvSpPr>
          <p:cNvPr id="13" name="Text 10"/>
          <p:cNvSpPr/>
          <p:nvPr/>
        </p:nvSpPr>
        <p:spPr>
          <a:xfrm>
            <a:off x="731520" y="3291840"/>
            <a:ext cx="566928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Procedimento sistemático para escolher e ajustar o tratamento das imagens</a:t>
            </a:r>
            <a:endParaRPr lang="en-US" sz="1200" dirty="0"/>
          </a:p>
        </p:txBody>
      </p:sp>
      <p:sp>
        <p:nvSpPr>
          <p:cNvPr id="14" name="Text 11"/>
          <p:cNvSpPr/>
          <p:nvPr/>
        </p:nvSpPr>
        <p:spPr>
          <a:xfrm>
            <a:off x="502920" y="3931920"/>
            <a:ext cx="7132320" cy="548640"/>
          </a:xfrm>
          <a:prstGeom prst="rect">
            <a:avLst/>
          </a:prstGeom>
          <a:noFill/>
          <a:ln/>
        </p:spPr>
        <p:txBody>
          <a:bodyPr wrap="square" lIns="0" tIns="0" rIns="0" bIns="0" rtlCol="0" anchor="ctr"/>
          <a:lstStyle/>
          <a:p>
            <a:pPr indent="0" marL="0">
              <a:buNone/>
            </a:pPr>
            <a:r>
              <a:rPr lang="en-US" sz="1600" b="1" i="1" dirty="0">
                <a:solidFill>
                  <a:srgbClr val="FFFFFF"/>
                </a:solidFill>
                <a:latin typeface="Cambria" pitchFamily="34" charset="0"/>
                <a:ea typeface="Cambria" pitchFamily="34" charset="-122"/>
                <a:cs typeface="Cambria" pitchFamily="34" charset="-120"/>
              </a:rPr>
              <a:t>Tratar bem a imagem bruta é tão relevante quanto escolher a arquitetura da rede.</a:t>
            </a:r>
            <a:endParaRPr lang="en-US" sz="16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Conclusões</a:t>
            </a:r>
            <a:endParaRPr lang="en-US"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1600200"/>
            <a:ext cx="548640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Obrigado pela atenção</a:t>
            </a:r>
            <a:endParaRPr lang="en-US" sz="3400" dirty="0"/>
          </a:p>
        </p:txBody>
      </p:sp>
      <p:sp>
        <p:nvSpPr>
          <p:cNvPr id="4" name="Text 1"/>
          <p:cNvSpPr/>
          <p:nvPr/>
        </p:nvSpPr>
        <p:spPr>
          <a:xfrm>
            <a:off x="502920" y="2286000"/>
            <a:ext cx="5486400" cy="329184"/>
          </a:xfrm>
          <a:prstGeom prst="rect">
            <a:avLst/>
          </a:prstGeom>
          <a:noFill/>
          <a:ln/>
        </p:spPr>
        <p:txBody>
          <a:bodyPr wrap="square" lIns="0" tIns="0" rIns="0" bIns="0" rtlCol="0" anchor="ctr"/>
          <a:lstStyle/>
          <a:p>
            <a:pPr indent="0" marL="0">
              <a:buNone/>
            </a:pPr>
            <a:r>
              <a:rPr lang="en-US" sz="1400" dirty="0">
                <a:solidFill>
                  <a:srgbClr val="A9BCCC"/>
                </a:solidFill>
                <a:latin typeface="Calibri" pitchFamily="34" charset="0"/>
                <a:ea typeface="Calibri" pitchFamily="34" charset="-122"/>
                <a:cs typeface="Calibri" pitchFamily="34" charset="-120"/>
              </a:rPr>
              <a:t>Fico à disposição da banca para as arguições.</a:t>
            </a:r>
            <a:endParaRPr lang="en-US" sz="1400" dirty="0"/>
          </a:p>
        </p:txBody>
      </p:sp>
      <p:sp>
        <p:nvSpPr>
          <p:cNvPr id="5" name="Text 2"/>
          <p:cNvSpPr/>
          <p:nvPr/>
        </p:nvSpPr>
        <p:spPr>
          <a:xfrm>
            <a:off x="502920" y="3017520"/>
            <a:ext cx="5486400" cy="914400"/>
          </a:xfrm>
          <a:prstGeom prst="rect">
            <a:avLst/>
          </a:prstGeom>
          <a:noFill/>
          <a:ln/>
        </p:spPr>
        <p:txBody>
          <a:bodyPr wrap="square" lIns="0" tIns="0" rIns="0" bIns="0" rtlCol="0" anchor="ctr"/>
          <a:lstStyle/>
          <a:p>
            <a:pPr indent="0" marL="0">
              <a:lnSpc>
                <a:spcPct val="120000"/>
              </a:lnSpc>
              <a:buNone/>
            </a:pPr>
            <a:r>
              <a:rPr lang="en-US" sz="1300" b="1" dirty="0">
                <a:solidFill>
                  <a:srgbClr val="FFFFFF"/>
                </a:solidFill>
                <a:latin typeface="Calibri" pitchFamily="34" charset="0"/>
                <a:ea typeface="Calibri" pitchFamily="34" charset="-122"/>
                <a:cs typeface="Calibri" pitchFamily="34" charset="-120"/>
              </a:rPr>
              <a:t>Luan Willig Silveira</a:t>
            </a:r>
            <a:endParaRPr lang="en-US" sz="1300" dirty="0"/>
          </a:p>
          <a:p>
            <a:pPr indent="0" marL="0">
              <a:lnSpc>
                <a:spcPct val="120000"/>
              </a:lnSpc>
              <a:buNone/>
            </a:pPr>
            <a:r>
              <a:rPr lang="en-US" sz="1200" dirty="0">
                <a:solidFill>
                  <a:srgbClr val="F5A54A"/>
                </a:solidFill>
                <a:latin typeface="Calibri" pitchFamily="34" charset="0"/>
                <a:ea typeface="Calibri" pitchFamily="34" charset="-122"/>
                <a:cs typeface="Calibri" pitchFamily="34" charset="-120"/>
              </a:rPr>
              <a:t>luan.w.silveira@gmail.com</a:t>
            </a:r>
            <a:endParaRPr lang="en-US" sz="1300" dirty="0"/>
          </a:p>
          <a:p>
            <a:pPr indent="0" marL="0">
              <a:lnSpc>
                <a:spcPct val="120000"/>
              </a:lnSpc>
              <a:buNone/>
            </a:pPr>
            <a:r>
              <a:rPr lang="en-US" sz="1100" dirty="0">
                <a:solidFill>
                  <a:srgbClr val="A9BCCC"/>
                </a:solidFill>
                <a:latin typeface="Calibri" pitchFamily="34" charset="0"/>
                <a:ea typeface="Calibri" pitchFamily="34" charset="-122"/>
                <a:cs typeface="Calibri" pitchFamily="34" charset="-120"/>
              </a:rPr>
              <a:t>PPGEE, Universidade Federal de Santa Maria</a:t>
            </a:r>
            <a:endParaRPr lang="en-US" sz="1300" dirty="0"/>
          </a:p>
        </p:txBody>
      </p:sp>
      <p:sp>
        <p:nvSpPr>
          <p:cNvPr id="6" name="Text 3"/>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Encerramento</a:t>
            </a:r>
            <a:endParaRPr lang="en-US" sz="900" dirty="0"/>
          </a:p>
        </p:txBody>
      </p:sp>
      <p:sp>
        <p:nvSpPr>
          <p:cNvPr id="7" name="Text 4"/>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Defesa de Mestrado - Processamento de imagens em cadeias de isoladores</dc:title>
  <dc:subject>PptxGenJS Presentation</dc:subject>
  <dc:creator>Luan Willig Silveira</dc:creator>
  <cp:lastModifiedBy>Luan Willig Silveira</cp:lastModifiedBy>
  <cp:revision>1</cp:revision>
  <dcterms:created xsi:type="dcterms:W3CDTF">2026-09-15T00:41:55Z</dcterms:created>
  <dcterms:modified xsi:type="dcterms:W3CDTF">2026-09-15T00:41:55Z</dcterms:modified>
</cp:coreProperties>
</file>