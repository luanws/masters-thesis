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Bom dia a todos.
Meu nome é Luan Willig Silveira e eu vou apresentar hoje a minha dissertação de mestrado, que foi desenvolvida no Programa de Pós-Graduação em Engenharia Elétrica da Universidade Federal de Santa Maria, com orientação do professor Daniel Pinheiro Bernardon e coorientação do professor Paulo César Vargas Luz.
O título é esse que está no slide, Método de aprimoramento de processamentos de imagens aplicados à detecção e classificação de falhas em cadeias de isoladores. Na prática, o trabalho junta duas coisas, a manutenção das linhas do sistema elétrico e o uso de imagens e de redes neurais para inspecionar essas linhas.
Queria agradecer à banca pela presença. Então vamos começar.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apresentação está dividida em quatro partes.
Eu começo pelo problema elétrico, que é o papel dos isoladores no sistema elétrico de potência, as falhas que aparecem neles e a forma como eles são inspecionados hoje.
Depois eu apresento a proposta, que é a metodologia para comparar, selecionar, combinar e ajustar o processamento das imagens.
Na terceira parte eu mostro os resultados, com dois conjuntos de dados e dois modelos de rede neural.
E no fim eu volto para o sistema elétrico, para falar das vantagens e do impacto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vamos começar pelo Sistema Elétrico de Potência. A energia que é gerada percorre as linhas de transmissão, passa pelas subestações e chega até os consumidores pelas redes de distribuição.
Ao longo dessas linhas existem componentes como isoladores, fixadores e suportes, que fazem a sustentação e o isolamento dos condutores. Se um desses componentes apresenta um problema e esse problema não é tratado, o resultado pode ser a interrupção do fornecimento de energia. Por isso inspecionar esses ativos é uma atividade central para a confiabilidade do sistema. E o processamento de imagens virou uma ferramenta essencial aqui, porque permite encontrar problemas nesses componentes a partir de imagens das linhas.
Entre todos esses componentes, o foco do meu trabalho é esse que está destacado no círculo da figura, a cadeia de isoladores, que fica nas estruturas das linhas de alta tensão. É sobre detectar e classificar falhas nessas cadeias que a dissertação trata.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isolador cumpre duas funções ao mesmo tempo.
A primeira é mecânica, que é sustentar os condutores.
A segunda é elétrica, que é garantir o isolamento entre as partes energizadas e as estruturas aterradas.
Nas linhas de alta tensão eles normalmente aparecem agrupados em cadeias, como essa que está na foto.
O problema é que essas cadeias ficam expostas o tempo todo a condições ambientais severas, variação de temperatura, umidade, poluição, descarga atmosférica. Com o tempo, essa exposição favorece o aparecimento de falhas que comprometem a capacidade de isolamento e, junto com ela, a confiabilidade do sistema elétrico. Ou seja, o desempenho da linha depende do estado de cada cadeia de isoladores instalada nela.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Essas falhas aparecem de várias formas. A literatura cita trincas, contaminação superficial, perfurações e rupturas, além de corrosões nas estruturas, que também dá para identificar por imagem. Aqui à esquerda vocês veem um exemplo de corrosão.
À direita está o defeito estrutural das cadeias de discos cerâmicos, em que o disco está ausente ou fraturado. Essas condições comprometem a rigidez dielétrica da cadeia e podem evoluir para uma falha de isolamento na linha.
O ponto em comum entre todas elas é que deixam uma assinatura visual. E é justamente isso que torna possível usar imagem para encontrar essas falhas.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Por isso encontrar essas falhas cedo é essencial, e isso traz três ganhos diretos para o sistema elétrico.
O primeiro é a continuidade. Achar a falha a tempo evita interrupção no fornecimento de energia.
O segundo é econômico. Detectar cedo reduz o custo de manutenção.
E o terceiro é a segurança, porque previne risco para as instalações e para as pessoas.
Tem também o outro lado dessa questão. Uma falha que passa despercebida, o chamado falso negativo, pode ter consequência grave e, no limite, levar a uma falha no sistema de transmissão. Por isso, ao longo do trabalho, eu dou uma atenção especial à capacidade de encontrar a falha, e não só à taxa geral de acertos.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Tradicionalmente, a inspeção das cadeias de isoladores é feita de forma visual e manual, por equipes especializadas. Isso deixa a inspeção lenta, cara e sujeita à subjetividade e ao erro humano.
Uma alternativa promissora é a inspeção por imagem. Usar imagens capturadas por drones facilita muito inspecionar grandes extensões de linha, reduz custo e aumenta a segurança, porque evita que alguém tenha que ir até um local de difícil acesso.
Quando essas imagens são associadas a modelos de aprendizado de máquina, dá para automatizar a detecção e a classificação das falhas, e a inspeção fica mais rápida, mais econômica e reprodutível. E os métodos de aprendizado profundo conseguem reconhecer padrões de falha mesmo em condições adversas, com pouca visibilidade ou equipamento desgastado.
É essa combinação de drone com inteligência artificial que forma o contexto de aplicação da dissertação.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Mas a inspeção por imagem traz os desafios dela também.
O primeiro é o volume. Uma inspeção gera um número enorme de imagens, e a literatura aponta que a inspeção manual fica inviável justamente por causa disso.
O segundo é o fundo das imagens. O isolador aparece sobre vegetação, rio, ocupação urbana, outras estruturas, e essa complexidade toda dificulta separar o componente elétrico do ambiente em volta.
O terceiro é a anotação. Rotular na mão as imagens que vêm dos drones é demorado e sujeito a erro, e isso limita o tamanho dos conjuntos de dados disponíveis.
A inteligência artificial resolve o primeiro desafio, porque ela consegue analisar grande volume de dados e achar padrões complexos. Mas os outros dois mostram que a qualidade da imagem que chega no modelo continua sendo decisiva.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sistema de inspeção automática segue essa sequência aqui. A imagem é adquirida, passa por um pré-processamento, vai para o modelo de rede neural, e sai um diagnóstico, com falha ou sem falha.
E a eficácia desse sistema depende bastante das técnicas de processamento de imagem que são usadas e da forma como elas são combinadas e ajustadas. Técnicas diferentes, parâmetros diferentes e arquiteturas diferentes podem dar resultados bem distintos para o mesmo problema.
Não adianta investir só em arquitetura complexa de rede neural se a imagem de entrada tem ruído e limitação de contraste que escondem o defeito.
Então este trabalho coloca o pré-processamento no centro, como a variável independente do estudo. A pergunta passa a ser essa: qual tratamento eu aplico na imagem para que o modelo enxergue melhor a falha no isolador?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Quando eu fui buscar na literatura como tratar essas imagens, o que eu encontrei foi falta de consenso.
Liu e Wang, que detectam falhas em isoladores em imagens aéreas de linhas de transmissão, usaram só redimensionamento e normalização, e não registram impacto significativo do pré-processamento.
Zhang, que combina aprendizado profundo com processamento morfológico para segmentar os isoladores, relata melhora no desempenho. E Salvi, numa revisão na área de patologia digital, conclui que essas técnicas melhoram a precisão e reduzem o tempo computacional.
Já Öztürk e Akdemir mostram que excesso de processamento pode degradar o desempenho, e Rodrigues observa que as imagens originais favoreceram a rede neural.
Ou seja, os estudos vão da melhora até o risco de sobre-processamento. E nenhum deles propõe um método para determinar quais processamentos são mais eficientes e para otimizar os parâmetros deles. Essa é a lacuna que a dissertação tenta preencher.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dessa lacuna, o objetivo geral do trabalho é desenvolver uma metodologia capaz de comparar, selecionar, combinar e aprimorar técnicas de processamento de imagem para detectar e classificar falhas em cadeias de isoladores.
Esses quatro verbos organizam a proposta inteira.
Comparar as técnicas entre si, sob as mesmas condições.
Selecionar as mais adequadas para cada caso.
Combinar técnicas em sequência, formando pipelines.
E aprimorar os parâmetros de forma automática, sem depender de intervenção manual extensa.
Esse objetivo responde direto à lacuna que eu acabei de mostrar. Em vez de relatar só o que funcionou em um experimento, a ideia é entregar um método para determinar os processamentos mais eficientes e otimizar os parâmetros.
Com isso, escolher o tratamento das imagens passa a seguir um procedimento sistemático.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chegar nesse objetivo, eu defini sete objetivos específicos.
O primeiro é estabelecer métricas para avaliar a eficácia dos processamentos de imagem.
O segundo e o terceiro são determinar o tipo de rede neural adequado e construir os modelos de avaliação, sem a intenção de chegar a um modelo definitivo.
O quarto e o quinto são analisar o impacto da escolha do modelo e a influência do conjunto de dados sobre os resultados.
O sexto é aprimorar os processamentos combinando abordagens unitárias.
E o sétimo é criar um método de ajuste automático dos parâmetros.
Eu queria destacar o sentido do terceiro objetivo. Os modelos que eu treinei servem para medir o impacto dos diferentes processamentos. Eles não são o produto final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metodologia é estruturada, iterativa e modular.
O fluxo começa aqui e passa por seis etapas. Seleção e validação do conjunto de dados, pré-processamento, ajuste de parâmetros, escolha e construção do modelo, treinamento e, por último, avaliação e ajustes, terminando em conclusões e recomendações.
O caráter iterativo vem desse ciclo de avaliação. Quando o desempenho não é satisfatório, a avaliação volta para o pré-processamento e para a escolha do modelo, e isso permite refinar as técnicas e os parâmetros a cada iteração.
E o caráter modular vem da divisão em blocos. Dá para identificar e corrigir problemas em cada etapa de forma isolada, sem mexer no resto do processo. É essa modularidade que me permitiu, mais adiante, trocar só o bloco do modelo e repetir o experimento com uma segunda arquitetura.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etapa se desdobra em operações e decisões, que aparecem nesse fluxograma detalhado. Eu queria destacar os quatro pontos de decisão.
O primeiro verifica se o conjunto de dados está balanceado. Isso é bem relevante na detecção de falhas, porque costuma existir muito mais imagem de isolador saudável do que de isolador defeituoso.
O segundo decide se as técnicas vão ser usadas isoladas ou combinadas em um pipeline.
O terceiro define o tipo de tarefa, entre classificação, detecção e regressão.
E o quarto verifica se o desempenho atende aos critérios definidos. Se não atende, o bloco de ajuste de processamentos e modelo devolve o fluxo para as etapas anteriores.
Neste trabalho eu percorri os dois ramos do pré-processamento, o de técnicas isoladas e o de técnicas combinadas, com a tarefa de classificação e com o ajuste automático de parâmetros.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validar a metodologia, eu usei dois conjuntos de dados de inspeção de infraestrutura elétrica, que representam cenários bem diferentes um do outro.
O primeiro é o CPLID, o Chinese Power Line Insulator Dataset. Ele reúne imagens de cadeias de isoladores de linhas de transmissão aéreas, na maioria cerâmicos, capturadas por drones e com fundo homogêneo. O defeito de interesse aqui é estrutural, o disco ausente e a fratura no corpo do isolador. São duas classes, e a divisão entre treino, validação e teste está no slide.
O segundo é o DRNPW, que foi disponibilizado pela CPFL, com imagens capturadas por drones em condições operacionais reais. Aqui os isoladores aparecem sobre fundo heterogêneo, com vegetação e ocupação urbana, e isso reproduz a dificuldade que existe em campo de separar o componente elétrico do ambiente. É um conjunto menor que o primeiro e bastante desbalanceado. A maior parte das imagens de treino é de uma categoria só.</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avaliei 14 variantes de pré-processamento, todas aplicadas nas imagens antes do treinamento. A figura mostra o efeito de algumas delas sobre uma mesma imagem.
O realce de contraste amplia as diferenças de intensidade por um fator multiplicador. A equalização de histograma redistribui as intensidades na faixa dinâmica disponível. A escala de cinza tira a informação de cor. O desfoque gaussiano faz uma suavização passa-baixa. E a detecção de bordas isola os contornos da imagem.
Além dessas, eu avaliei a binarização adaptativa, o CLAHE, que equaliza o histograma por regiões locais, a redução de ruído por médias não locais e o filtro de mediana.
Quatro das variantes são híbridas, combinando o realce de contraste com o CLAHE ou com a equalização de histograma, em ordens diferentes.
E a imagem original entra como amostra de controle, que é a linha de base, sem processamento nenhum.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protocolo experimental isola uma variável só.
Eu implementei uma rede neural convolucional clássica e padronizada, com camadas convolucionais, max-pooling, uma camada densa e saída softmax. O treinamento usou o otimizador Adam, com data augmentation em tempo de treino e imagens redimensionadas para um tamanho fixo. Com o modelo fixo, a única coisa que muda de uma execução para outra é o pré-processamento aplicado nas imagens. Depois eu repeti essa mesma varredura com uma segunda arquitetura.
Agora, para ler os resultados eu preciso de um critério de referência, porque os dois conjuntos de teste são desbalanceados. Nesse caso a acurácia sozinha engana, já que um modelo que responde sempre a classe saudável chega num valor alto sem detectar falha nenhuma. Esse critério é o piso majoritário, que é a acurácia que se obtém respondendo sempre a classe mais frequente, sem nem olhar a imagem.
Nos dois conjuntos de teste uma das classes domina, e esse piso fica em torno de três quartos de acurácia, nos valores que estão no slide. Um modelo que fica abaixo disso não está extraindo informação útil das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Vou começar pelos resultados da rede convolucional no CPLID, que é o cenário das cadeias cerâmicas de linhas de transmissão com defeito estrutural. O gráfico mostra a acurácia de cada técnica, em ordem crescente, e acima de cada barra está a imagem já tratada.
No topo, três técnicas empataram na maior acurácia, e todas elas ampliam o contraste. O realce de contraste simples, a combinação de CLAHE com realce e a combinação de realce com equalização de histograma. O realce simples ainda teve o maior F1-score do conjunto e superou a imagem original, sem tratamento nenhum.
No outro extremo, o desfoque gaussiano e a redução de ruído derrubaram bastante o desempenho. Os dois ficaram no fim da lista, bem abaixo da imagem original e abaixo também do piso majoritário. Quer dizer, um tratamento inadequado piorou o resultado em relação a simplesmente não tratar a imagem.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Já no DRNPW, que é o cenário de inspeção aérea em ambiente operacional real, o comportamento muda.
Com fundos de forte poluição visual, os melhores resultados vieram das combinações que ampliam o contraste. A melhor de todas foi o realce de contraste com equalização de histograma, bem à frente dos modelos treinados só com as imagens originais. O F1-score, que é a métrica mais sensível ao desbalanceamento, subiu de menos de 50 por cento, com as imagens originais, para uns 75 por cento.
A leitura é que, nesse cenário, a combinação reforça o contraste entre o componente e o fundo. E a escala de cinza, que tira a informação de cor, ficou entre os piores resultados, no mesmo patamar da imagem original e do realce de contraste aplicado sozinho. Aqui o realce sozinho não bastou. O ganho veio mesmo da combinação com a equalização de histograma.
Eu preciso fazer uma ressalva aqui. Esse melhor resultado supera o piso majoritário em dez pontos percentuais, que equivale a três imagens de teste, e seis das 14 técnicas avaliadas ficaram no piso ou abaixo dele. Então a inspeção em ambiente com forte poluição visual continua sendo o caso mais desafiador.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Agrupando as 14 técnicas em simples e híbridas, as combinações se destacam com a rede convolucional.
No CPLID, a média de acurácia das híbridas ficou bem acima da média das simples, mais de treze pontos percentuais. No DRNPW a vantagem continua, mas é bem menor. E isso vale para a rede convolucional. Com o YOLOv8n-cls, como eu mostro daqui a pouco, o sinal se inverte nos dois conjuntos.
Esse resultado confirma a decisão da metodologia de avaliar também pipelines de técnicas combinadas, em que a saída de uma técnica vira a entrada da próxima. Um pipeline pode juntar, por exemplo, normalização, redução de ruído, ajuste de contraste e aumento de nitidez.
E tem um detalhe importante aqui. A ordem das operações importa, porque sequências diferentes dão resultados diferentes. Por isso eu avaliei as combinações nas duas ordens possíveis. CLAHE seguido de realce e realce seguido de CLAHE, e equalização seguida de realce e realce seguido de equalização.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etapa de ajuste automático eu apliquei no parâmetro do realce de contraste, que é o fator multiplicador, usando o DRNPW. Valor menor que 1 reduz o contraste e valor maior que 1 aumenta.
Primeiro a busca em grade varreu cinco valores desse fator. O melhor foi 1,333, com 90 por cento de acurácia, que é esse ponto mais alto da curva. A redução excessiva de contraste deu o pior resultado da varredura. Esse patamar não é diretamente comparável ao das varreduras anteriores, porque aqui o treinamento foi mais curto e em resolução maior.
Como complemento, a busca aleatória testou outros valores numa faixa mais ampla. O melhor ficou perto do que a grade encontrou, ainda que medido na validação e não no teste, e contrastes muito altos degradaram bastante o desempenho.
Então os dois métodos apontam para valores um pouco acima de 1.
E o ganho metodológico aqui é que o ajuste deixa de depender de otimização manual.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aqui, todas as avaliações usaram uma arquitetura só. Isso isola o pré-processamento, mas deixa uma pergunta em aberto. Os efeitos que eu observei vêm das imagens ou vêm do modelo que eu usei para avaliá-las?
Como a metodologia trata o modelo como um bloco substituível, eu repeti a mesma varredura com o YOLOv8n-cls, que é a variante de classificação da família YOLO, com pesos iniciais do COCO. Foram treinamentos completos, refeitos para os dois conjuntos de dados, mantendo as mesmas 14 técnicas de pré-processamento.
O YOLOv8n-cls não superou a rede convolucional. No CPLID, a acurácia média dele ficou bem abaixo da CNN, e ele quase não passou do piso majoritário em nenhuma das técnicas avaliadas. No DRNPW, as duas arquiteturas ficaram na vizinhança do piso.
E a ordem de mérito das técnicas se inverteu, como mostram esses três casos aqui à direita. A combinação de CLAHE com realce, que liderava no CPLID, caiu quase pela metade. A melhor combinação do DRNPW também desabou. E a escala de cinza, que estava entre as piores, subiu.
Uma explicação plausível é que os pesos do COCO carregam as estatísticas de cor e de contraste de fotografias naturais, e transformações que se afastam dessa distribuição acabam degradando a utilidade dos filtros que já foram aprendidos. A consequência prática é que escolher o pré-processamento não é independente do modelo.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Juntando os resultados, eu queria destacar o que a metodologia entrega para quem desenvolve um sistema de inspeção de isoladores.
Primeiro, ganho de desempenho. No cenário de campo, a escolha do tratamento elevou bastante o F1-score em relação às imagens originais, usando a mesma rede.
Segundo, proteção contra a escolha errada. No CPLID, o desfoque gaussiano derrubou a acurácia para bem abaixo da imagem original.
Terceiro, uma indicação de onde investir. Em regime de poucos dados, a arquitetura maior e pré-treinada não superou a rede convolucional simples, porque aumentar a capacidade do modelo não compensou as limitações do conjunto de dados.
E quarto, um procedimento. Como a melhor técnica muda com a arquitetura e com o conjunto de dados, a seleção precisa ser refeita a cada mudança, e a estrutura iterativa da metodologia é o que viabiliza essa reexecução controlada.
Resumindo, tratar bem as imagens brutas, ajustando para cada conjunto de dados e para o modelo adotado, é condição essencial para um bom desempenho.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Voltando agora para o sistema elétrico. A inspeção automatizada por imagem, que este trabalho ajuda a tornar mais confiável, traz vantagens em seis frentes.
A continuidade do fornecimento, porque detectar a falha cedo evita interrupções.
O custo, porque encontrar a falha cedo reduz o custo de manutenção.
A segurança, porque usar imagens evita intervenção manual em local de difícil acesso.
A abrangência, porque os drones facilitam inspecionar grandes extensões de linha.
A reprodutibilidade, porque o diagnóstico automatizado é mais rápido, mais econômico e menos sujeito à subjetividade e ao erro humano.
E a manutenção preditiva, porque as técnicas modernas permitem monitorar os equipamentos e identificar o dano antes que ele fique crítico.
Em todas essas frentes o ganho depende de o modelo acertar. E o acerto do modelo depende, como a gente viu, do tratamento dado às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Concluindo.
Primeira conclusão. O pré-processamento das imagens tem papel determinante no desempenho dos modelos em cenários de inspeção de infraestrutura elétrica.
Segunda conclusão. Não existe um processamento universalmente superior. Para defeito estrutural em cadeia de isoladores de linhas de transmissão, no CPLID, o realce de contraste foi a estratégia de maior êxito. Para a inspeção aérea com fundos heterogêneos e poluídos, no DRNPW, as combinações de realce de contraste com equalização de histograma foram mais eficazes. A eficácia de cada técnica depende das características do conjunto de dados e do contexto em que a falha foi capturada.
Terceira conclusão. A ordem de mérito das técnicas muda conforme a arquitetura, de forma que escolher o pré-processamento não é independente do modelo nem da forma como os pesos dele foram inicializados. Por isso essa escolha precisa ser refeita a cada troca de arquitetura ou de conjunto de dados, e é essa reexecução controlada que a metodologia proposta busca viabilizar.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trabalho teve limitações.
A principal foi a quantidade e a disponibilidade de dados. Existe muita escassez de banco de imagens público focado em redes de distribuição, com número expressivo de componentes defeituosos e anotação rigorosa, e isso obriga a usar conjuntos bem desbalanceados.
Outra limitação foi o custo computacional. Otimizar todos os parâmetros do pipeline ao mesmo tempo leva a uma explosão combinatória, o que inviabiliza avaliar tudo em tempo hábil.
A partir dessas limitações, eu sugiro cinco trabalhos futuros. Usar a otimização bayesiana para explorar vários parâmetros ao mesmo tempo. Gerar exemplos sintéticos de defeitos com redes generativas adversariais. Estender o método para arquiteturas de detecção, avaliando também onde a falha está na imagem. Adotar métricas mais robustas ao desbalanceamento, como o F1-score macro e a acurácia balanceada. E avaliar o desempenho do pipeline em dispositivos embarcados, como o próprio drone, para viabilizar a inspeção dinâmica em campo.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encerro voltando para o ponto de partida, que é o Sistema Elétrico de Potência.
A principal contribuição do trabalho é uma metodologia estruturada para a inspeção automatizada de linhas de transmissão, que mapeia de forma sistemática o impacto do processamento das imagens aéreas.
E esse impacto aparece em três frentes. Na confiabilidade do sistema, porque um modelo que enxerga melhor a falha no isolador ajuda a encontrar essa falha antes que ela cause uma interrupção no fornecimento. Na manutenção das linhas, porque fortalece a inspeção por drone e inteligência artificial, que é mais rápida, mais econômica, mais segura e mais reprodutível que a inspeção manual. E na própria inspeção automatizada, porque entrega um procedimento sistemático para escolher e ajustar o tratamento das imagens, e esse procedimento pode ser repetido a cada novo conjunto de dados ou nova arquitetura.
A mensagem que eu queria deixar é essa. Tratar bem as imagens brutas é tão importante quanto escolher a arquitetura da rede neural.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Muito obrigado pela atenção. Fico à disposição da banca para as arguições.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28</a:t>
            </a:fld>
            <a:endParaRPr lang="pt-B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pt-BR" altLang="en-US" sz="1200" b="1" dirty="0">
                <a:solidFill>
                  <a:srgbClr val="F5A54A"/>
                </a:solidFill>
                <a:latin typeface="Calibri" pitchFamily="34" charset="0"/>
                <a:ea typeface="Calibri" pitchFamily="34" charset="-122"/>
                <a:cs typeface="Calibri" pitchFamily="34" charset="-120"/>
              </a:rPr>
              <a:t>Universidade Federal de Santa Maria</a:t>
            </a:r>
            <a:endParaRPr lang="pt-BR"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pt-BR"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pt-BR" alt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pt-BR"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pt-BR" altLang="en-US" sz="1200" i="1" dirty="0">
                <a:solidFill>
                  <a:srgbClr val="FFD9A8"/>
                </a:solidFill>
                <a:latin typeface="Calibri" pitchFamily="34" charset="0"/>
                <a:ea typeface="Calibri" pitchFamily="34" charset="-122"/>
                <a:cs typeface="Calibri" pitchFamily="34" charset="-120"/>
              </a:rPr>
              <a:t>Defesa de Dissertação de Mestrado</a:t>
            </a:r>
            <a:endParaRPr lang="pt-BR"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Luan Willig Silveira</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Daniel Pinheiro Bernardon</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Paulo César Vargas Luz</a:t>
            </a:r>
            <a:endParaRPr lang="pt-BR"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pt-BR" altLang="en-US" sz="950" dirty="0">
                <a:solidFill>
                  <a:srgbClr val="A9BCCC"/>
                </a:solidFill>
                <a:latin typeface="Calibri" pitchFamily="34" charset="0"/>
                <a:ea typeface="Calibri" pitchFamily="34" charset="-122"/>
                <a:cs typeface="Calibri" pitchFamily="34" charset="-120"/>
              </a:rPr>
              <a:t>Santa Maria, RS</a:t>
            </a:r>
            <a:endParaRPr lang="pt-BR"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ROTEIRO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pt-BR"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problema elétrico</a:t>
            </a:r>
            <a:endParaRPr lang="pt-BR"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Isoladores, falhas e inspeção</a:t>
            </a:r>
            <a:endParaRPr lang="pt-BR"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proposta</a:t>
            </a:r>
            <a:endParaRPr lang="pt-BR"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Metodologia de processamento</a:t>
            </a:r>
            <a:endParaRPr lang="pt-BR"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Resultados</a:t>
            </a:r>
            <a:endParaRPr lang="pt-BR"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Dois cenários, dois modelos</a:t>
            </a:r>
            <a:endParaRPr lang="pt-BR"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Impacto</a:t>
            </a:r>
            <a:endParaRPr lang="pt-BR"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Vantagens para o sistema elétrico</a:t>
            </a:r>
            <a:endParaRPr lang="pt-BR"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Roteiro</a:t>
            </a:r>
            <a:endParaRPr lang="pt-BR"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a:t>
            </a:r>
            <a:endParaRPr lang="pt-BR"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isolador no Sistema Elétrico de Potência</a:t>
            </a:r>
            <a:endParaRPr lang="pt-BR"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Transmissão e distribuição</a:t>
            </a:r>
            <a:endParaRPr lang="pt-BR"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Linhas que levam a energia até os consumidores</a:t>
            </a:r>
            <a:endParaRPr lang="pt-BR"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Isoladores, fixadores e suportes</a:t>
            </a:r>
            <a:endParaRPr lang="pt-BR"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Componentes inspecionados ao longo das linhas</a:t>
            </a:r>
            <a:endParaRPr lang="pt-BR"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Falha não tratada</a:t>
            </a:r>
            <a:endParaRPr lang="pt-BR"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pt-BR"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3</a:t>
            </a:r>
            <a:endParaRPr lang="pt-BR"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pt-BR" altLang="en-US" sz="2400" b="1" dirty="0">
                <a:solidFill>
                  <a:srgbClr val="1B2A3A"/>
                </a:solidFill>
                <a:latin typeface="Cambria" pitchFamily="34" charset="0"/>
                <a:ea typeface="Cambria" pitchFamily="34" charset="-122"/>
                <a:cs typeface="Cambria" pitchFamily="34" charset="-120"/>
              </a:rPr>
              <a:t>Isolador: sustentação e isolamento</a:t>
            </a:r>
            <a:endParaRPr lang="pt-BR"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Sustenta</a:t>
            </a:r>
            <a:endParaRPr lang="pt-BR"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mecanicamente os condutores</a:t>
            </a:r>
            <a:endParaRPr lang="pt-BR"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Isola</a:t>
            </a:r>
            <a:endParaRPr lang="pt-BR"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as partes energizadas das estruturas aterradas</a:t>
            </a:r>
            <a:endParaRPr lang="pt-BR"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Fica exposto</a:t>
            </a:r>
            <a:endParaRPr lang="pt-BR"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pt-BR"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4</a:t>
            </a:r>
            <a:endParaRPr lang="pt-B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Falhas que deixam marca na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pt-BR" altLang="en-US" sz="1400" b="1" dirty="0">
                <a:solidFill>
                  <a:srgbClr val="1C7293"/>
                </a:solidFill>
                <a:latin typeface="Calibri" pitchFamily="34" charset="0"/>
                <a:ea typeface="Calibri" pitchFamily="34" charset="-122"/>
                <a:cs typeface="Calibri" pitchFamily="34" charset="-120"/>
              </a:rPr>
              <a:t>Corrosão</a:t>
            </a:r>
            <a:endParaRPr lang="pt-BR"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Identificável em imagens de inspeção</a:t>
            </a:r>
            <a:endParaRPr lang="pt-BR"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Disco ausente e fraturas</a:t>
            </a:r>
            <a:endParaRPr lang="pt-BR"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Comprometem a rigidez dielétrica da cadeia</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Fotos ilustrativas de cadeias de isoladores</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5</a:t>
            </a:r>
            <a:endParaRPr lang="pt-BR"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pt-BR" altLang="en-US" sz="2600" b="1" dirty="0">
                <a:solidFill>
                  <a:srgbClr val="FFFFFF"/>
                </a:solidFill>
                <a:latin typeface="Cambria" pitchFamily="34" charset="0"/>
                <a:ea typeface="Cambria" pitchFamily="34" charset="-122"/>
                <a:cs typeface="Cambria" pitchFamily="34" charset="-120"/>
              </a:rPr>
              <a:t>Detectar cedo protege o sistema elétrico</a:t>
            </a:r>
            <a:endParaRPr lang="pt-BR"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Continuidade</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Evita interrupções no fornecimento de energia</a:t>
            </a:r>
            <a:endParaRPr lang="pt-BR"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Custo</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Reduz os custos de manutenção</a:t>
            </a:r>
            <a:endParaRPr lang="pt-BR"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Segurança</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Previne riscos às instalações e às pessoas</a:t>
            </a:r>
            <a:endParaRPr lang="pt-BR"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pt-BR" alt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pt-BR"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Contexto elétrico</a:t>
            </a:r>
            <a:endParaRPr lang="pt-BR"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6</a:t>
            </a:r>
            <a:endParaRPr lang="pt-BR"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Da inspeção manual à inspeção automatizada</a:t>
            </a:r>
            <a:endParaRPr lang="pt-BR"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pt-BR"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pt-BR" altLang="en-US" sz="1350" b="1" dirty="0">
                <a:solidFill>
                  <a:srgbClr val="5C6F80"/>
                </a:solidFill>
                <a:latin typeface="Calibri" pitchFamily="34" charset="0"/>
                <a:ea typeface="Calibri" pitchFamily="34" charset="-122"/>
                <a:cs typeface="Calibri" pitchFamily="34" charset="-120"/>
              </a:rPr>
              <a:t>Inspeção visual e manual</a:t>
            </a:r>
            <a:endParaRPr lang="pt-BR"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Lenta e custosa</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Sujeita à subjetividade e a erros humanos</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Feita por equipes especializadas</a:t>
            </a:r>
            <a:endParaRPr lang="pt-BR"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Inspeção por imagem com IA</a:t>
            </a:r>
            <a:endParaRPr lang="pt-BR"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Mais rápida, econômica e reprodutível</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pt-BR"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7</a:t>
            </a:r>
            <a:endParaRPr lang="pt-BR"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desafio: muitas imagens e fundos complexos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pt-BR"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Alto volume de dados</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Torna a inspeção manual ineficaz</a:t>
            </a:r>
            <a:endParaRPr lang="pt-BR"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Fundos complexos</a:t>
            </a:r>
            <a:endParaRPr lang="pt-BR" sz="1250" dirty="0"/>
          </a:p>
          <a:p>
            <a:pPr indent="0" marL="0">
              <a:buNone/>
            </a:pPr>
            <a:r>
              <a:rPr lang="pt-BR" alt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pt-BR"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Anotação manual</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Demorada e propensa a erros</a:t>
            </a:r>
            <a:endParaRPr lang="pt-BR"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8</a:t>
            </a:r>
            <a:endParaRPr lang="pt-BR"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PROPOSTA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IA depende da imagem que recebe</a:t>
            </a:r>
            <a:endParaRPr lang="pt-BR"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Aquisição</a:t>
            </a:r>
            <a:endParaRPr lang="pt-BR"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Imagem da cadeia</a:t>
            </a:r>
            <a:endParaRPr lang="pt-BR"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F5A54A"/>
                </a:solidFill>
                <a:latin typeface="Calibri" pitchFamily="34" charset="0"/>
                <a:ea typeface="Calibri" pitchFamily="34" charset="-122"/>
                <a:cs typeface="Calibri" pitchFamily="34" charset="-120"/>
              </a:rPr>
              <a:t>Pré-processamento</a:t>
            </a:r>
            <a:endParaRPr lang="pt-BR"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Tratamento da imagem</a:t>
            </a:r>
            <a:endParaRPr lang="pt-BR"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Modelo</a:t>
            </a:r>
            <a:endParaRPr lang="pt-BR"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Rede neural</a:t>
            </a:r>
            <a:endParaRPr lang="pt-BR"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Diagnóstico</a:t>
            </a:r>
            <a:endParaRPr lang="pt-BR"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Com falha ou sem falha</a:t>
            </a:r>
            <a:endParaRPr lang="pt-BR"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Foco deste trabalho</a:t>
            </a:r>
            <a:endParaRPr lang="pt-BR"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pt-BR"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9</a:t>
            </a:r>
            <a:endParaRPr lang="pt-B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ESTADO DA ARTE</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literatura não chega a um consenso</a:t>
            </a:r>
            <a:endParaRPr lang="pt-BR"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B2A3A"/>
                </a:solidFill>
                <a:latin typeface="Calibri" pitchFamily="34" charset="0"/>
                <a:ea typeface="Calibri" pitchFamily="34" charset="-122"/>
                <a:cs typeface="Calibri" pitchFamily="34" charset="-120"/>
              </a:rPr>
              <a:t>Sem impacto significativo</a:t>
            </a:r>
            <a:endParaRPr lang="pt-BR"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Liu et al. (2021)</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Wang et al. (2023)</a:t>
            </a:r>
            <a:endParaRPr lang="pt-BR"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C7293"/>
                </a:solidFill>
                <a:latin typeface="Calibri" pitchFamily="34" charset="0"/>
                <a:ea typeface="Calibri" pitchFamily="34" charset="-122"/>
                <a:cs typeface="Calibri" pitchFamily="34" charset="-120"/>
              </a:rPr>
              <a:t>Melhorou o desempenho</a:t>
            </a:r>
            <a:endParaRPr lang="pt-BR"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Zhang et al. (2022)</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Salvi et al. (2021)</a:t>
            </a:r>
            <a:endParaRPr lang="pt-BR"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12263A"/>
                </a:solidFill>
                <a:latin typeface="Calibri" pitchFamily="34" charset="0"/>
                <a:ea typeface="Calibri" pitchFamily="34" charset="-122"/>
                <a:cs typeface="Calibri" pitchFamily="34" charset="-120"/>
              </a:rPr>
              <a:t>▼</a:t>
            </a:r>
            <a:endParaRPr lang="pt-BR"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F5A54A"/>
                </a:solidFill>
                <a:latin typeface="Calibri" pitchFamily="34" charset="0"/>
                <a:ea typeface="Calibri" pitchFamily="34" charset="-122"/>
                <a:cs typeface="Calibri" pitchFamily="34" charset="-120"/>
              </a:rPr>
              <a:t>Riscos e efeito negativo</a:t>
            </a:r>
            <a:endParaRPr lang="pt-BR"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Öztürk e Akdemir (2018)</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Rodrigues et al. (2020)</a:t>
            </a:r>
            <a:endParaRPr lang="pt-BR"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pt-BR" alt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pt-BR"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10</a:t>
            </a:r>
            <a:endParaRPr lang="pt-BR"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OBJETIVO</a:t>
            </a:r>
            <a:endParaRPr lang="pt-BR"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Objetivo geral</a:t>
            </a:r>
            <a:endParaRPr lang="pt-BR"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pt-BR" alt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pt-BR"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Comparar</a:t>
            </a:r>
            <a:endParaRPr lang="pt-BR"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Selecionar</a:t>
            </a:r>
            <a:endParaRPr lang="pt-BR"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Combinar</a:t>
            </a:r>
            <a:endParaRPr lang="pt-BR"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Aprimorar</a:t>
            </a:r>
            <a:endParaRPr lang="pt-BR"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Proposta</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11</a:t>
            </a:r>
            <a:endParaRPr lang="pt-BR"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OBJETIVO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Objetivos específicos</a:t>
            </a:r>
            <a:endParaRPr lang="pt-BR"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Métricas</a:t>
            </a:r>
            <a:endParaRPr lang="pt-BR"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pt-BR"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Tipo de modelo</a:t>
            </a:r>
            <a:endParaRPr lang="pt-BR"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pt-BR"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Construção do modelo</a:t>
            </a:r>
            <a:endParaRPr lang="pt-BR"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pt-BR"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4</a:t>
            </a:r>
            <a:endParaRPr lang="pt-BR"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modelo</a:t>
            </a:r>
            <a:endParaRPr lang="pt-BR"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pt-BR"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5</a:t>
            </a:r>
            <a:endParaRPr lang="pt-BR"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dataset</a:t>
            </a:r>
            <a:endParaRPr lang="pt-BR"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pt-BR"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6</a:t>
            </a:r>
            <a:endParaRPr lang="pt-BR"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Combinação</a:t>
            </a:r>
            <a:endParaRPr lang="pt-BR"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pt-BR"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7</a:t>
            </a:r>
            <a:endParaRPr lang="pt-BR"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Ajuste automático</a:t>
            </a:r>
            <a:endParaRPr lang="pt-BR"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pt-BR"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12</a:t>
            </a:r>
            <a:endParaRPr lang="pt-BR"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Estruturada, iterativa e modular</a:t>
            </a:r>
            <a:endParaRPr lang="pt-BR"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1</a:t>
            </a:r>
            <a:endParaRPr lang="pt-BR"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Seleção e validação do dataset</a:t>
            </a:r>
            <a:endParaRPr lang="pt-BR"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2</a:t>
            </a:r>
            <a:endParaRPr lang="pt-BR"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Pré-processamento</a:t>
            </a:r>
            <a:endParaRPr lang="pt-BR"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3</a:t>
            </a:r>
            <a:endParaRPr lang="pt-BR"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Ajuste de parâmetros</a:t>
            </a:r>
            <a:endParaRPr lang="pt-BR"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4</a:t>
            </a:r>
            <a:endParaRPr lang="pt-BR"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Escolha e construção do modelo</a:t>
            </a:r>
            <a:endParaRPr lang="pt-BR"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5</a:t>
            </a:r>
            <a:endParaRPr lang="pt-BR"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Treinamento</a:t>
            </a:r>
            <a:endParaRPr lang="pt-BR"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6</a:t>
            </a:r>
            <a:endParaRPr lang="pt-BR"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Avaliação e ajustes</a:t>
            </a:r>
            <a:endParaRPr lang="pt-BR"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pt-BR" altLang="en-US" sz="2200" b="1" dirty="0">
                <a:solidFill>
                  <a:srgbClr val="F5A54A"/>
                </a:solidFill>
                <a:latin typeface="Calibri" pitchFamily="34" charset="0"/>
                <a:ea typeface="Calibri" pitchFamily="34" charset="-122"/>
                <a:cs typeface="Calibri" pitchFamily="34" charset="-120"/>
              </a:rPr>
              <a:t>↺  </a:t>
            </a:r>
            <a:pPr indent="0" marL="0">
              <a:buNone/>
            </a:pPr>
            <a:r>
              <a:rPr lang="pt-BR" alt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pt-BR"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13</a:t>
            </a:r>
            <a:endParaRPr lang="pt-BR"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Quatro decisões conduzem o fluxo</a:t>
            </a:r>
            <a:endParaRPr lang="pt-BR"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Dataset está balanceado?</a:t>
            </a:r>
            <a:endParaRPr lang="pt-BR"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Combinar técnicas?</a:t>
            </a:r>
            <a:endParaRPr lang="pt-BR"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Tipo de tarefa?</a:t>
            </a:r>
            <a:endParaRPr lang="pt-BR"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4</a:t>
            </a:r>
            <a:endParaRPr lang="pt-BR"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Desempenho satisfatório?</a:t>
            </a:r>
            <a:endParaRPr lang="pt-BR"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pt-BR" alt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pt-BR"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14</a:t>
            </a:r>
            <a:endParaRPr lang="pt-BR"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MATERIAIS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Dois cenários de inspeção de isoladores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pt-BR" altLang="en-US" sz="1800" b="1" dirty="0">
                <a:solidFill>
                  <a:srgbClr val="1C7293"/>
                </a:solidFill>
                <a:latin typeface="Cambria" pitchFamily="34" charset="0"/>
                <a:ea typeface="Cambria" pitchFamily="34" charset="-122"/>
                <a:cs typeface="Cambria" pitchFamily="34" charset="-120"/>
              </a:rPr>
              <a:t>CPLID</a:t>
            </a:r>
            <a:endParaRPr lang="pt-BR" sz="1800" dirty="0"/>
          </a:p>
        </p:txBody>
      </p:sp>
      <p:sp>
        <p:nvSpPr>
          <p:cNvPr id="6" name="Text 3"/>
          <p:cNvSpPr/>
          <p:nvPr/>
        </p:nvSpPr>
        <p:spPr>
          <a:xfrm>
            <a:off x="52120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Linhas de transmissão, isoladores majoritariamente cerâmicos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Defeito estrutural: disco ausente e fraturas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678 imagens de treino, 127 de validação e 43 de teste</a:t>
            </a:r>
            <a:endParaRPr lang="pt-BR" sz="10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pt-BR" altLang="en-US" sz="1800" b="1" dirty="0">
                <a:solidFill>
                  <a:srgbClr val="F5A54A"/>
                </a:solidFill>
                <a:latin typeface="Cambria" pitchFamily="34" charset="0"/>
                <a:ea typeface="Cambria" pitchFamily="34" charset="-122"/>
                <a:cs typeface="Cambria" pitchFamily="34" charset="-120"/>
              </a:rPr>
              <a:t>DRNPW</a:t>
            </a:r>
            <a:endParaRPr lang="pt-BR" sz="1800" dirty="0"/>
          </a:p>
        </p:txBody>
      </p:sp>
      <p:sp>
        <p:nvSpPr>
          <p:cNvPr id="9" name="Text 5"/>
          <p:cNvSpPr/>
          <p:nvPr/>
        </p:nvSpPr>
        <p:spPr>
          <a:xfrm>
            <a:off x="472744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Imagens de drones disponibilizadas pela CPFL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Fundos heterogêneos com forte poluição visual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585 imagens: 468 treino, 87 validação, 30 teste</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Desbalanceado: 335 imagens de treino em uma única classe</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 à direita: ilustrativa do cenário de campo</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15</a:t>
            </a:r>
            <a:endParaRPr lang="pt-B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PRÉ-PROCESSAMENTO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cada técnica faz com 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Imagem original</a:t>
            </a:r>
            <a:endParaRPr lang="pt-BR"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pt-BR" altLang="en-US" sz="1050" b="1" dirty="0">
                <a:solidFill>
                  <a:srgbClr val="F5A54A"/>
                </a:solidFill>
                <a:latin typeface="Calibri" pitchFamily="34" charset="0"/>
                <a:ea typeface="Calibri" pitchFamily="34" charset="-122"/>
                <a:cs typeface="Calibri" pitchFamily="34" charset="-120"/>
              </a:rPr>
              <a:t>Realce de contraste</a:t>
            </a:r>
            <a:endParaRPr lang="pt-BR"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Equalização de histograma</a:t>
            </a:r>
            <a:endParaRPr lang="pt-BR"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Escala de cinza</a:t>
            </a:r>
            <a:endParaRPr lang="pt-BR"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Desfoque gaussiano</a:t>
            </a:r>
            <a:endParaRPr lang="pt-BR"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Detecção de bordas</a:t>
            </a:r>
            <a:endParaRPr lang="pt-BR"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pt-BR" altLang="en-US" sz="4400" b="1" dirty="0">
                <a:solidFill>
                  <a:srgbClr val="F5A54A"/>
                </a:solidFill>
                <a:latin typeface="Cambria" pitchFamily="34" charset="0"/>
                <a:ea typeface="Cambria" pitchFamily="34" charset="-122"/>
                <a:cs typeface="Cambria" pitchFamily="34" charset="-120"/>
              </a:rPr>
              <a:t>14</a:t>
            </a:r>
            <a:endParaRPr lang="pt-BR"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pt-BR" altLang="en-US" sz="1150" b="1" dirty="0">
                <a:solidFill>
                  <a:srgbClr val="FFFFFF"/>
                </a:solidFill>
                <a:latin typeface="Calibri" pitchFamily="34" charset="0"/>
                <a:ea typeface="Calibri" pitchFamily="34" charset="-122"/>
                <a:cs typeface="Calibri" pitchFamily="34" charset="-120"/>
              </a:rPr>
              <a:t>variantes avaliadas</a:t>
            </a:r>
            <a:endParaRPr lang="pt-BR"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pt-BR" altLang="en-US" sz="2200" b="1" dirty="0">
                <a:solidFill>
                  <a:srgbClr val="5BB4D6"/>
                </a:solidFill>
                <a:latin typeface="Calibri" pitchFamily="34" charset="0"/>
                <a:ea typeface="Calibri" pitchFamily="34" charset="-122"/>
                <a:cs typeface="Calibri" pitchFamily="34" charset="-120"/>
              </a:rPr>
              <a:t>4</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combinações híbridas</a:t>
            </a:r>
            <a:endParaRPr lang="pt-BR" sz="2200" dirty="0"/>
          </a:p>
          <a:p>
            <a:pPr algn="ctr" indent="0" marL="0">
              <a:buNone/>
            </a:pPr>
            <a:r>
              <a:rPr lang="pt-BR" altLang="en-US" sz="600" dirty="0">
                <a:solidFill>
                  <a:srgbClr val="000000"/>
                </a:solidFill>
                <a:latin typeface="Calibri" pitchFamily="34" charset="0"/>
                <a:ea typeface="Calibri" pitchFamily="34" charset="-122"/>
                <a:cs typeface="Calibri" pitchFamily="34" charset="-120"/>
              </a:rPr>
              <a:t> </a:t>
            </a:r>
            <a:endParaRPr lang="pt-BR" sz="2200" dirty="0"/>
          </a:p>
          <a:p>
            <a:pPr algn="ctr" indent="0" marL="0">
              <a:buNone/>
            </a:pPr>
            <a:r>
              <a:rPr lang="pt-BR" altLang="en-US" sz="2200" b="1" dirty="0">
                <a:solidFill>
                  <a:srgbClr val="5BB4D6"/>
                </a:solidFill>
                <a:latin typeface="Calibri" pitchFamily="34" charset="0"/>
                <a:ea typeface="Calibri" pitchFamily="34" charset="-122"/>
                <a:cs typeface="Calibri" pitchFamily="34" charset="-120"/>
              </a:rPr>
              <a:t>1</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controle sem processamento</a:t>
            </a:r>
            <a:endParaRPr lang="pt-BR"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pt-BR"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16</a:t>
            </a:r>
            <a:endParaRPr lang="pt-B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PROTOCOLO EXPERIMENTAL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Uma variável por vez e uma régua de leitura</a:t>
            </a:r>
            <a:endParaRPr lang="pt-BR"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14</a:t>
            </a:r>
            <a:endParaRPr lang="pt-BR"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variantes</a:t>
            </a:r>
            <a:endParaRPr lang="pt-BR"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conjuntos de dados</a:t>
            </a:r>
            <a:endParaRPr lang="pt-BR"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modelos</a:t>
            </a:r>
            <a:endParaRPr lang="pt-BR"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F5A54A"/>
                </a:solidFill>
                <a:latin typeface="Cambria" pitchFamily="34" charset="0"/>
                <a:ea typeface="Cambria" pitchFamily="34" charset="-122"/>
                <a:cs typeface="Cambria" pitchFamily="34" charset="-120"/>
              </a:rPr>
              <a:t>1</a:t>
            </a:r>
            <a:endParaRPr lang="pt-BR"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FFFFFF"/>
                </a:solidFill>
                <a:latin typeface="Calibri" pitchFamily="34" charset="0"/>
                <a:ea typeface="Calibri" pitchFamily="34" charset="-122"/>
                <a:cs typeface="Calibri" pitchFamily="34" charset="-120"/>
              </a:rPr>
              <a:t>variável: o pré-processamento</a:t>
            </a:r>
            <a:endParaRPr lang="pt-BR"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Piso majoritário</a:t>
            </a:r>
            <a:endParaRPr lang="pt-BR"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pt-BR" alt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pt-BR"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1C7293"/>
                </a:solidFill>
                <a:latin typeface="Cambria" pitchFamily="34" charset="0"/>
                <a:ea typeface="Cambria" pitchFamily="34" charset="-122"/>
                <a:cs typeface="Cambria" pitchFamily="34" charset="-120"/>
              </a:rPr>
              <a:t>74,42%</a:t>
            </a:r>
            <a:endParaRPr lang="pt-BR"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CPLID</a:t>
            </a:r>
            <a:endParaRPr lang="pt-BR"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F5A54A"/>
                </a:solidFill>
                <a:latin typeface="Cambria" pitchFamily="34" charset="0"/>
                <a:ea typeface="Cambria" pitchFamily="34" charset="-122"/>
                <a:cs typeface="Cambria" pitchFamily="34" charset="-120"/>
              </a:rPr>
              <a:t>73,33%</a:t>
            </a:r>
            <a:endParaRPr lang="pt-BR"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DRNPW</a:t>
            </a:r>
            <a:endParaRPr lang="pt-BR"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17</a:t>
            </a:r>
            <a:endParaRPr lang="pt-B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1C7293"/>
                </a:solidFill>
                <a:latin typeface="Cambria" pitchFamily="34" charset="0"/>
                <a:ea typeface="Cambria" pitchFamily="34" charset="-122"/>
                <a:cs typeface="Cambria" pitchFamily="34" charset="-120"/>
              </a:rPr>
              <a:t>95,35%</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67,44%</a:t>
            </a:r>
            <a:pPr indent="0" marL="0">
              <a:buNone/>
            </a:pPr>
            <a:r>
              <a:rPr lang="pt-BR" altLang="en-US" sz="900" b="1" dirty="0">
                <a:solidFill>
                  <a:srgbClr val="A9BCCC"/>
                </a:solidFill>
                <a:latin typeface="Cambria" pitchFamily="34" charset="0"/>
                <a:ea typeface="Cambria" pitchFamily="34" charset="-122"/>
                <a:cs typeface="Cambria" pitchFamily="34" charset="-120"/>
              </a:rPr>
              <a:t>   PIOR</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93,02%</a:t>
            </a:r>
            <a:pPr indent="0" marL="0">
              <a:buNone/>
            </a:pPr>
            <a:r>
              <a:rPr lang="pt-BR" altLang="en-US" sz="900" b="1" dirty="0">
                <a:solidFill>
                  <a:srgbClr val="5C6F80"/>
                </a:solidFill>
                <a:latin typeface="Cambria" pitchFamily="34" charset="0"/>
                <a:ea typeface="Cambria" pitchFamily="34" charset="-122"/>
                <a:cs typeface="Cambria" pitchFamily="34" charset="-120"/>
              </a:rPr>
              <a:t>   ORIGINAL</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18</a:t>
            </a:r>
            <a:endParaRPr lang="pt-BR"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Combinar técnicas separa o isolador do fundo</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83,33%</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49,12%</a:t>
            </a:r>
            <a:pPr indent="0" marL="0">
              <a:buNone/>
            </a:pPr>
            <a:r>
              <a:rPr lang="pt-BR" altLang="en-US" sz="900" b="1" dirty="0">
                <a:solidFill>
                  <a:srgbClr val="A9BCCC"/>
                </a:solidFill>
                <a:latin typeface="Cambria" pitchFamily="34" charset="0"/>
                <a:ea typeface="Cambria" pitchFamily="34" charset="-122"/>
                <a:cs typeface="Cambria" pitchFamily="34" charset="-120"/>
              </a:rPr>
              <a:t>   F1 ORIGINAL</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Imagem sem tratamento, com 63,33% de acurácia.</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3 imagens</a:t>
            </a:r>
            <a:pPr indent="0" marL="0">
              <a:buNone/>
            </a:pPr>
            <a:r>
              <a:rPr lang="pt-BR" altLang="en-US" sz="900" b="1" dirty="0">
                <a:solidFill>
                  <a:srgbClr val="5C6F80"/>
                </a:solidFill>
                <a:latin typeface="Cambria" pitchFamily="34" charset="0"/>
                <a:ea typeface="Cambria" pitchFamily="34" charset="-122"/>
                <a:cs typeface="Cambria" pitchFamily="34" charset="-120"/>
              </a:rPr>
              <a:t>   ACIMA DO PISO</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Vantagem de 10 pontos percentuais sobre o piso de 73,33%.</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19</a:t>
            </a:r>
            <a:endParaRPr lang="pt-BR"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Combinar técnicas compensa com a CNN</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pt-BR"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Combinação</a:t>
            </a:r>
            <a:endParaRPr lang="pt-BR"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pt-BR" altLang="en-US" sz="2200" b="1" dirty="0">
                <a:solidFill>
                  <a:srgbClr val="A9BCCC"/>
                </a:solidFill>
                <a:latin typeface="Cambria" pitchFamily="34" charset="0"/>
                <a:ea typeface="Cambria" pitchFamily="34" charset="-122"/>
                <a:cs typeface="Cambria" pitchFamily="34" charset="-120"/>
              </a:rPr>
              <a:t>+</a:t>
            </a:r>
            <a:endParaRPr lang="pt-BR"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pt-BR" altLang="en-US" sz="1300" b="1" dirty="0">
                <a:solidFill>
                  <a:srgbClr val="F5A54A"/>
                </a:solidFill>
                <a:latin typeface="Calibri" pitchFamily="34" charset="0"/>
                <a:ea typeface="Calibri" pitchFamily="34" charset="-122"/>
                <a:cs typeface="Calibri" pitchFamily="34" charset="-120"/>
              </a:rPr>
              <a:t>A ordem importa</a:t>
            </a:r>
            <a:endParaRPr lang="pt-BR"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pt-BR" alt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pt-BR"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20</a:t>
            </a:r>
            <a:endParaRPr lang="pt-B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OTIMIZAÇÃO DE PARÂMETROS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ajuste do contraste passa a ser automático</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pt-BR"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pt-BR" altLang="en-US" sz="2400" b="1" dirty="0">
                <a:solidFill>
                  <a:srgbClr val="1C7293"/>
                </a:solidFill>
                <a:latin typeface="Cambria" pitchFamily="34" charset="0"/>
                <a:ea typeface="Cambria" pitchFamily="34" charset="-122"/>
                <a:cs typeface="Cambria" pitchFamily="34" charset="-120"/>
              </a:rPr>
              <a:t>1,333</a:t>
            </a:r>
            <a:endParaRPr lang="pt-BR"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em grade</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90,0% de acurácia, 85,3% de F1-score</a:t>
            </a:r>
            <a:endParaRPr lang="pt-BR"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1,4364</a:t>
            </a:r>
            <a:endParaRPr lang="pt-BR"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aleatória</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85,06% de acurácia na validação</a:t>
            </a:r>
            <a:endParaRPr lang="pt-BR"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pt-BR" alt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pt-BR"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21</a:t>
            </a:r>
            <a:endParaRPr lang="pt-B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EXPERIMENTO ADICIONAL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Trocar o modelo inverte a melhor técnica</a:t>
            </a:r>
            <a:endParaRPr lang="pt-BR"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média nas 14 técnicas</a:t>
            </a:r>
            <a:endParaRPr lang="pt-BR"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A mesma técnica: CNN → YOLOv8n-cls</a:t>
            </a:r>
            <a:endParaRPr lang="pt-BR"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CLAHE + realce</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95,35%</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51,16%</a:t>
            </a:r>
            <a:endParaRPr lang="pt-BR"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Realce + equalização</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DRNPW</a:t>
            </a:r>
            <a:endParaRPr lang="pt-BR"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83,33%</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53,33%</a:t>
            </a:r>
            <a:endParaRPr lang="pt-BR"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Escala de cinza</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76,74%</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1C7293"/>
                </a:solidFill>
                <a:latin typeface="Cambria" pitchFamily="34" charset="0"/>
                <a:ea typeface="Cambria" pitchFamily="34" charset="-122"/>
                <a:cs typeface="Cambria" pitchFamily="34" charset="-120"/>
              </a:rPr>
              <a:t>81,40%</a:t>
            </a:r>
            <a:endParaRPr lang="pt-BR"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22</a:t>
            </a:r>
            <a:endParaRPr lang="pt-BR"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que a metodologia entrega</a:t>
            </a:r>
            <a:endParaRPr lang="pt-BR"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49,12% → 75,76%</a:t>
            </a:r>
            <a:endParaRPr lang="pt-BR"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Ganho de desempenho</a:t>
            </a:r>
            <a:endParaRPr lang="pt-BR"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pt-BR"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93,02% → 67,44%</a:t>
            </a:r>
            <a:endParaRPr lang="pt-BR"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Proteção contra a escolha errada</a:t>
            </a:r>
            <a:endParaRPr lang="pt-BR"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pt-BR"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84,55% × 66,28%</a:t>
            </a:r>
            <a:endParaRPr lang="pt-BR"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Onde investir</a:t>
            </a:r>
            <a:endParaRPr lang="pt-BR"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pt-BR"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a:t>
            </a:r>
            <a:endParaRPr lang="pt-BR"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Reexecução controlada</a:t>
            </a:r>
            <a:endParaRPr lang="pt-BR"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pt-BR"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Impacto</a:t>
            </a:r>
            <a:endParaRPr lang="pt-BR"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23</a:t>
            </a:r>
            <a:endParaRPr lang="pt-BR"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Vantagens para o sistema elétrico</a:t>
            </a:r>
            <a:endParaRPr lang="pt-BR"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Continuidade</a:t>
            </a:r>
            <a:endParaRPr lang="pt-BR"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pt-BR"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Custo de manutenção</a:t>
            </a:r>
            <a:endParaRPr lang="pt-BR"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pt-BR"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Segurança</a:t>
            </a:r>
            <a:endParaRPr lang="pt-BR"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pt-BR"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Grandes extensões</a:t>
            </a:r>
            <a:endParaRPr lang="pt-BR"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pt-BR"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5</a:t>
            </a:r>
            <a:endParaRPr lang="pt-BR"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Reprodutibilidade</a:t>
            </a:r>
            <a:endParaRPr lang="pt-BR"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pt-BR"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6</a:t>
            </a:r>
            <a:endParaRPr lang="pt-BR"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Manutenção preditiva</a:t>
            </a:r>
            <a:endParaRPr lang="pt-BR"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Danos identificados antes de se tornarem críticos</a:t>
            </a:r>
            <a:endParaRPr lang="pt-BR"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Impacto</a:t>
            </a:r>
            <a:endParaRPr lang="pt-BR"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24</a:t>
            </a:r>
            <a:endParaRPr lang="pt-BR"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os resultados sustentam</a:t>
            </a:r>
            <a:endParaRPr lang="pt-BR"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pt-BR"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pt-BR"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Não há técnica universalmente superior</a:t>
            </a:r>
            <a:endParaRPr lang="pt-BR"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pt-BR"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pt-BR"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pt-BR"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25</a:t>
            </a:r>
            <a:endParaRPr lang="pt-BR"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Limitações e trabalhos futuros</a:t>
            </a:r>
            <a:endParaRPr lang="pt-BR"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pt-BR" altLang="en-US" sz="1400" b="1" dirty="0">
                <a:solidFill>
                  <a:srgbClr val="5C6F80"/>
                </a:solidFill>
                <a:latin typeface="Calibri" pitchFamily="34" charset="0"/>
                <a:ea typeface="Calibri" pitchFamily="34" charset="-122"/>
                <a:cs typeface="Calibri" pitchFamily="34" charset="-120"/>
              </a:rPr>
              <a:t>Limitações</a:t>
            </a:r>
            <a:endParaRPr lang="pt-BR"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Conjuntos de dados fortemente desbalanceados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pt-BR"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Trabalhos futuros</a:t>
            </a:r>
            <a:endParaRPr lang="pt-BR"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Otimização bayesiana de múltiplos parâmetros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Aumento de dados com GANs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Integração com arquiteturas de detecção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Métricas robustas ao desbalanceamento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Execução embarcada em drones</a:t>
            </a:r>
            <a:endParaRPr lang="pt-BR"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26</a:t>
            </a:r>
            <a:endParaRPr lang="pt-BR"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impacto para a engenharia elétrica</a:t>
            </a:r>
            <a:endParaRPr lang="pt-BR"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Confiabilidade do sistema</a:t>
            </a:r>
            <a:endParaRPr lang="pt-BR"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pt-BR"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Manutenção de linhas</a:t>
            </a:r>
            <a:endParaRPr lang="pt-BR"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pt-BR"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Método para a inspeção automatizada</a:t>
            </a:r>
            <a:endParaRPr lang="pt-BR"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pt-BR"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pt-BR" alt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pt-BR"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Conclusões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27</a:t>
            </a:r>
            <a:endParaRPr lang="pt-BR"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pt-BR" altLang="en-US" sz="3400" b="1" dirty="0">
                <a:solidFill>
                  <a:srgbClr val="FFFFFF"/>
                </a:solidFill>
                <a:latin typeface="Cambria" pitchFamily="34" charset="0"/>
                <a:ea typeface="Cambria" pitchFamily="34" charset="-122"/>
                <a:cs typeface="Cambria" pitchFamily="34" charset="-120"/>
              </a:rPr>
              <a:t>Obrigado pela atenção</a:t>
            </a:r>
            <a:endParaRPr lang="pt-BR"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pt-BR" altLang="en-US" sz="1400" dirty="0">
                <a:solidFill>
                  <a:srgbClr val="A9BCCC"/>
                </a:solidFill>
                <a:latin typeface="Calibri" pitchFamily="34" charset="0"/>
                <a:ea typeface="Calibri" pitchFamily="34" charset="-122"/>
                <a:cs typeface="Calibri" pitchFamily="34" charset="-120"/>
              </a:rPr>
              <a:t>Fico à disposição da banca para as arguições.</a:t>
            </a:r>
            <a:endParaRPr lang="pt-BR"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pt-BR" altLang="en-US" sz="1300" b="1" dirty="0">
                <a:solidFill>
                  <a:srgbClr val="FFFFFF"/>
                </a:solidFill>
                <a:latin typeface="Calibri" pitchFamily="34" charset="0"/>
                <a:ea typeface="Calibri" pitchFamily="34" charset="-122"/>
                <a:cs typeface="Calibri" pitchFamily="34" charset="-120"/>
              </a:rPr>
              <a:t>Luan Willig Silveira</a:t>
            </a:r>
            <a:endParaRPr lang="pt-BR" sz="1300" dirty="0"/>
          </a:p>
          <a:p>
            <a:pPr indent="0" marL="0">
              <a:lnSpc>
                <a:spcPct val="120000"/>
              </a:lnSpc>
              <a:buNone/>
            </a:pPr>
            <a:r>
              <a:rPr lang="pt-BR" altLang="en-US" sz="1200" dirty="0">
                <a:solidFill>
                  <a:srgbClr val="F5A54A"/>
                </a:solidFill>
                <a:latin typeface="Calibri" pitchFamily="34" charset="0"/>
                <a:ea typeface="Calibri" pitchFamily="34" charset="-122"/>
                <a:cs typeface="Calibri" pitchFamily="34" charset="-120"/>
              </a:rPr>
              <a:t>luan.w.silveira@gmail.com</a:t>
            </a:r>
            <a:endParaRPr lang="pt-BR" sz="1300" dirty="0"/>
          </a:p>
          <a:p>
            <a:pPr indent="0" marL="0">
              <a:lnSpc>
                <a:spcPct val="120000"/>
              </a:lnSpc>
              <a:buNone/>
            </a:pPr>
            <a:r>
              <a:rPr lang="pt-BR" altLang="en-US" sz="1100" dirty="0">
                <a:solidFill>
                  <a:srgbClr val="A9BCCC"/>
                </a:solidFill>
                <a:latin typeface="Calibri" pitchFamily="34" charset="0"/>
                <a:ea typeface="Calibri" pitchFamily="34" charset="-122"/>
                <a:cs typeface="Calibri" pitchFamily="34" charset="-120"/>
              </a:rPr>
              <a:t>PPGEE, Universidade Federal de Santa Maria</a:t>
            </a:r>
            <a:endParaRPr lang="pt-BR"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Encerramento</a:t>
            </a:r>
            <a:endParaRPr lang="pt-BR"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28</a:t>
            </a:r>
            <a:endParaRPr lang="pt-B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2026-09-20T23:58:14Z</dcterms:created>
  <dcterms:modified xsi:type="dcterms:W3CDTF">2026-09-20T23:58:14Z</dcterms:modified>
</cp:coreProperties>
</file>