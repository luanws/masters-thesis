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theme/theme1.xml" ContentType="application/vnd.openxmlformats-officedocument.them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3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 /><Relationship Id="rId33" Type="http://schemas.openxmlformats.org/officeDocument/2006/relationships/tableStyles" Target="tableStyles.xml" /><Relationship Id="rId34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 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 bwMode="auto">
            <a:prstGeom prst="rect">
              <a:avLst/>
            </a:prstGeom>
            <a:solidFill>
              <a:srgbClr val="1C7293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F5A54A"/>
              </a:solidFill>
              <a:effectLst/>
            </c:spPr>
          </c:dPt>
          <c:dLbls>
            <c:numFmt formatCode="&quot;+&quot;0.00&quot; pp&quot;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20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/>
              </a:p>
            </c:txPr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200" b="0" i="0" u="none" strike="noStrike">
                  <a:solidFill>
                    <a:srgbClr val="1B2A3A"/>
                  </a:solidFill>
                  <a:latin typeface="Calibri"/>
                </a:defRPr>
              </a:pPr>
              <a:endParaRPr/>
            </a:p>
          </c:txPr>
        </c:dLbls>
        <c:gapWidth val="7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0"/>
  </c:chart>
  <c:spPr bwMode="auto">
    <a:xfrm rot="0">
      <a:off x="274320" y="1325880"/>
      <a:ext cx="4937760" cy="310896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 bwMode="auto">
            <a:prstGeom prst="rect">
              <a:avLst/>
            </a:prstGeom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marker>
            <c:symbol val="circle"/>
            <c:size val="9"/>
            <c:spPr bwMode="auto">
              <a:prstGeom prst="rect">
                <a:avLst/>
              </a:prstGeom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dLbls>
            <c:dLblPos val="t"/>
            <c:numFmt formatCode="0.0&quot;%&quot;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00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dLblPos val="t"/>
          <c:numFmt formatCode="0.0&quot;%&quot;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000" b="0" i="0" u="none" strike="noStrike">
                  <a:solidFill>
                    <a:srgbClr val="1B2A3A"/>
                  </a:solidFill>
                  <a:latin typeface="Calibri"/>
                </a:defRPr>
              </a:pPr>
              <a:endParaRPr/>
            </a:p>
          </c:txPr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000000"/>
          <c:min val="60.000000"/>
        </c:scaling>
        <c:delete val="0"/>
        <c:axPos val="l"/>
        <c:majorGridlines>
          <c:spPr bwMode="auto">
            <a:prstGeom prst="rect">
              <a:avLst/>
            </a:prstGeom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0"/>
  </c:chart>
  <c:spPr bwMode="auto">
    <a:xfrm rot="0">
      <a:off x="274320" y="1325880"/>
      <a:ext cx="4937760" cy="310896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 bwMode="auto">
            <a:prstGeom prst="rect">
              <a:avLst/>
            </a:prstGeom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85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/>
              </a:p>
            </c:txPr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 bwMode="auto">
            <a:prstGeom prst="rect">
              <a:avLst/>
            </a:prstGeom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85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/>
              </a:p>
            </c:txPr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 bwMode="auto">
            <a:prstGeom prst="rect">
              <a:avLst/>
            </a:prstGeom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85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/>
              </a:p>
            </c:txPr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850" b="0" i="0" u="none" strike="noStrike">
                  <a:solidFill>
                    <a:srgbClr val="1B2A3A"/>
                  </a:solidFill>
                  <a:latin typeface="Calibri"/>
                </a:defRPr>
              </a:pPr>
              <a:endParaRPr/>
            </a:p>
          </c:txPr>
        </c:dLbls>
        <c:gapWidth val="5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.000000"/>
          <c:min val="50.000000"/>
        </c:scaling>
        <c:delete val="0"/>
        <c:axPos val="l"/>
        <c:majorGridlines>
          <c:spPr bwMode="auto">
            <a:prstGeom prst="rect">
              <a:avLst/>
            </a:prstGeom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 w="12700" cap="flat">
          <a:solidFill>
            <a:srgbClr val="FFFFFF"/>
          </a:solidFill>
        </a:ln>
        <a:effectLst/>
      </c:spPr>
    </c:plotArea>
    <c:legend>
      <c:legendPos val="b"/>
      <c:layout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0"/>
  </c:chart>
  <c:spPr bwMode="auto">
    <a:xfrm rot="0">
      <a:off x="274320" y="1298448"/>
      <a:ext cx="4754880" cy="315468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embeddings/_rels/Microsoft_Excel_Worksheet2.xlsx.rels><?xml version="1.0" encoding="UTF-8" standalone="yes"?><Relationships xmlns="http://schemas.openxmlformats.org/package/2006/relationships"></Relationships>
</file>

<file path=ppt/embeddings/_rels/Microsoft_Excel_Worksheet3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80090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2880265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35411011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9251486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36678448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7544187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310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3480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Bom dia a todos.</a:t>
            </a:r>
            <a:br>
              <a:rPr lang="en-US"/>
            </a:br>
            <a:r>
              <a:rPr lang="en-US"/>
              <a:t>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</a:t>
            </a:r>
            <a:br>
              <a:rPr lang="en-US"/>
            </a:br>
            <a:r>
              <a:rPr lang="en-US"/>
              <a:t>O título do trabalho é Método de aprimoramento de processamentos de imagens aplicados à detecção e classificação de falhas em cadeias de isoladores. O tema une a manutenção das linhas do sistema elétrico ao uso de imagens e de redes neurais para inspecioná-las.</a:t>
            </a:r>
            <a:br>
              <a:rPr lang="en-US"/>
            </a:br>
            <a:r>
              <a:rPr lang="en-US"/>
              <a:t>Agradeço a presença da banca e passo à apresentação.</a:t>
            </a:r>
            <a:endParaRPr lang="en-US"/>
          </a:p>
        </p:txBody>
      </p:sp>
      <p:sp>
        <p:nvSpPr>
          <p:cNvPr id="4755306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7225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38112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apresentação está dividida em quatro partes.</a:t>
            </a:r>
            <a:br>
              <a:rPr lang="en-US"/>
            </a:br>
            <a:r>
              <a:rPr lang="en-US"/>
              <a:t>Começo pelo problema elétrico: o papel dos isoladores no sistema elétrico de potência, as falhas que eles apresentam e a forma como são inspecionados.</a:t>
            </a:r>
            <a:br>
              <a:rPr lang="en-US"/>
            </a:br>
            <a:r>
              <a:rPr lang="en-US"/>
              <a:t>Em seguida, apresento a proposta, que é a metodologia para comparar, selecionar, combinar e ajustar o processamento das imagens.</a:t>
            </a:r>
            <a:br>
              <a:rPr lang="en-US"/>
            </a:br>
            <a:r>
              <a:rPr lang="en-US"/>
              <a:t>Depois, os resultados obtidos com dois conjuntos de dados e dois modelos de rede neural.</a:t>
            </a:r>
            <a:br>
              <a:rPr lang="en-US"/>
            </a:br>
            <a:r>
              <a:rPr lang="en-US"/>
              <a:t>E termino voltando ao sistema elétrico, com as vantagens e o impacto do trabalho.</a:t>
            </a:r>
            <a:endParaRPr lang="en-US"/>
          </a:p>
        </p:txBody>
      </p:sp>
      <p:sp>
        <p:nvSpPr>
          <p:cNvPr id="10267541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8868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4044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Começo pelo Sistema Elétrico de Potência. A energia gerada percorre as linhas de transmissão, passa pelas subestações e chega aos consumidores pelas redes de distribuição.</a:t>
            </a:r>
            <a:br>
              <a:rPr lang="en-US"/>
            </a:br>
            <a:r>
              <a:rPr lang="en-US"/>
              <a:t>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</a:t>
            </a:r>
            <a:br>
              <a:rPr lang="en-US"/>
            </a:br>
            <a:r>
              <a:rPr lang="en-US"/>
              <a:t>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en-US"/>
          </a:p>
        </p:txBody>
      </p:sp>
      <p:sp>
        <p:nvSpPr>
          <p:cNvPr id="3814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2351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00757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Os isoladores cumprem duas funções ao mesmo tempo.</a:t>
            </a:r>
            <a:br>
              <a:rPr lang="en-US"/>
            </a:br>
            <a:r>
              <a:rPr lang="en-US"/>
              <a:t>A primeira é mecânica: sustentar os condutores.</a:t>
            </a:r>
            <a:br>
              <a:rPr lang="en-US"/>
            </a:br>
            <a:r>
              <a:rPr lang="en-US"/>
              <a:t>A segunda é elétrica: garantir o isolamento entre as partes energizadas e as estruturas aterradas.</a:t>
            </a:r>
            <a:br>
              <a:rPr lang="en-US"/>
            </a:br>
            <a:r>
              <a:rPr lang="en-US"/>
              <a:t>Nas linhas de alta tensão, eles são normalmente agrupados em cadeias, como a que aparece na foto.</a:t>
            </a:r>
            <a:br>
              <a:rPr lang="en-US"/>
            </a:br>
            <a:r>
              <a:rPr lang="en-US"/>
              <a:t>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en-US"/>
          </a:p>
        </p:txBody>
      </p:sp>
      <p:sp>
        <p:nvSpPr>
          <p:cNvPr id="3806000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1596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6163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As falhas aparecem de diferentes formas. A literatura cita trincas, contaminação superficial, perfurações e rupturas, além de corrosões nas estruturas, que também podem ser identificadas por imagem.</a:t>
            </a:r>
            <a:br>
              <a:rPr lang="en-US"/>
            </a:br>
            <a:r>
              <a:rPr lang="en-US"/>
              <a:t>Um caso importante está ligado à poluição. Entre os defeitos citados na literatura estão os flashovers por poluição, isto é, a descarga elétrica que ocorre sobre a superfície isolante quando a rigidez dielétrica é rompida.</a:t>
            </a:r>
            <a:br>
              <a:rPr lang="en-US"/>
            </a:br>
            <a:r>
              <a:rPr lang="en-US"/>
              <a:t>Outro caso é o defeito estrutural das cadeias de discos cerâmicos, à direita, em que o disco está ausente ou fraturado. Essas condições comprometem a rigidez dielétrica da cadeia e podem evoluir para falhas de isolamento na linha.</a:t>
            </a:r>
            <a:br>
              <a:rPr lang="en-US"/>
            </a:br>
            <a:r>
              <a:rPr lang="en-US"/>
              <a:t>O ponto em comum é que todas essas falhas deixam uma assinatura visual. É isso que torna possível usar imagens para encontrá-las.</a:t>
            </a:r>
            <a:endParaRPr lang="en-US"/>
          </a:p>
        </p:txBody>
      </p:sp>
      <p:sp>
        <p:nvSpPr>
          <p:cNvPr id="13736928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67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2312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Por isso, a identificação precoce dessas falhas é essencial, e ela traz três ganhos diretos para o sistema elétrico.</a:t>
            </a:r>
            <a:br>
              <a:rPr lang="en-US"/>
            </a:br>
            <a:r>
              <a:rPr lang="en-US"/>
              <a:t>O primeiro é a continuidade: encontrar a falha a tempo evita interrupções no fornecimento de energia.</a:t>
            </a:r>
            <a:br>
              <a:rPr lang="en-US"/>
            </a:br>
            <a:r>
              <a:rPr lang="en-US"/>
              <a:t>O segundo é econômico: a detecção precoce reduz os custos de manutenção.</a:t>
            </a:r>
            <a:br>
              <a:rPr lang="en-US"/>
            </a:br>
            <a:r>
              <a:rPr lang="en-US"/>
              <a:t>O terceiro é a segurança: previne riscos às instalações e às pessoas.</a:t>
            </a:r>
            <a:br>
              <a:rPr lang="en-US"/>
            </a:br>
            <a:r>
              <a:rPr lang="en-US"/>
              <a:t>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en-US"/>
          </a:p>
        </p:txBody>
      </p:sp>
      <p:sp>
        <p:nvSpPr>
          <p:cNvPr id="16931621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3526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5428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Tradicionalmente, a inspeção de cadeias de isoladores é feita de forma visual e manual, por equipes especializadas. Isso torna a inspeção lenta, custosa e sujeita à subjetividade e a erros humanos.</a:t>
            </a:r>
            <a:br>
              <a:rPr lang="en-US"/>
            </a:br>
            <a:r>
              <a:rPr lang="en-US"/>
              <a:t>Uma alternativa promissora é a inspeção por imagem. O uso de imagens capturadas por drones facilita a inspeção de grandes extensões de linhas de transmissão, reduz custos e aumenta a segurança, porque evita intervenções manuais em locais de difícil acesso.</a:t>
            </a:r>
            <a:br>
              <a:rPr lang="en-US"/>
            </a:br>
            <a:r>
              <a:rPr lang="en-US"/>
              <a:t>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</a:t>
            </a:r>
            <a:br>
              <a:rPr lang="en-US"/>
            </a:br>
            <a:r>
              <a:rPr lang="en-US"/>
              <a:t>É essa combinação de drone e inteligência artificial que forma o contexto de aplicação desta dissertação.</a:t>
            </a:r>
            <a:endParaRPr lang="en-US"/>
          </a:p>
        </p:txBody>
      </p:sp>
      <p:sp>
        <p:nvSpPr>
          <p:cNvPr id="19215791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8226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9913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inspeção por imagem, porém, traz os seus próprios desafios.</a:t>
            </a:r>
            <a:br>
              <a:rPr lang="en-US"/>
            </a:br>
            <a:r>
              <a:rPr lang="en-US"/>
              <a:t>O primeiro é o volume. Uma inspeção produz um grande número de imagens, e a literatura aponta que a inspeção manual se torna ineficaz justamente pelo alto volume de dados.</a:t>
            </a:r>
            <a:br>
              <a:rPr lang="en-US"/>
            </a:br>
            <a:r>
              <a:rPr lang="en-US"/>
              <a:t>O segundo é o fundo das imagens. O isolador aparece sobre vegetação, rios, ocupação urbana e outras estruturas, e essa complexidade dificulta distinguir o componente elétrico do ambiente ao seu redor.</a:t>
            </a:r>
            <a:br>
              <a:rPr lang="en-US"/>
            </a:br>
            <a:r>
              <a:rPr lang="en-US"/>
              <a:t>O terceiro é a anotação. Rotular manualmente as imagens capturadas por drones é demorado e propenso a erros, o que limita o tamanho dos conjuntos de dados disponíveis.</a:t>
            </a:r>
            <a:br>
              <a:rPr lang="en-US"/>
            </a:br>
            <a:r>
              <a:rPr lang="en-US"/>
              <a:t>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en-US"/>
          </a:p>
        </p:txBody>
      </p:sp>
      <p:sp>
        <p:nvSpPr>
          <p:cNvPr id="202312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9074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1226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Um sistema de inspeção automática segue esta sequência. A imagem é adquirida, recebe um pré-processamento, é analisada pelo modelo de rede neural, e o resultado é um diagnóstico: com falha ou sem falha.</a:t>
            </a:r>
            <a:br>
              <a:rPr lang="en-US"/>
            </a:br>
            <a:r>
              <a:rPr lang="en-US"/>
              <a:t>A eficácia desse sistema depende, em grande medida, das técnicas de processamento de imagem empregadas e da forma como elas são combinadas e ajustadas. Diferentes técnicas, parâmetros e arquiteturas podem produzir resultados bastante distintos para o mesmo problema.</a:t>
            </a:r>
            <a:br>
              <a:rPr lang="en-US"/>
            </a:br>
            <a:r>
              <a:rPr lang="en-US"/>
              <a:t>Não basta investir apenas em arquiteturas complexas de rede neural se as imagens de entrada apresentarem ruídos e limitações de contraste que ocultam os defeitos.</a:t>
            </a:r>
            <a:br>
              <a:rPr lang="en-US"/>
            </a:br>
            <a:r>
              <a:rPr lang="en-US"/>
              <a:t>Por isso, este trabalho coloca o pré-processamento no centro, como a variável independente do estudo. A pergunta passa a ser: qual tratamento aplicar à imagem para que o modelo identifique melhor a falha no isolador?</a:t>
            </a:r>
            <a:endParaRPr lang="en-US"/>
          </a:p>
        </p:txBody>
      </p:sp>
      <p:sp>
        <p:nvSpPr>
          <p:cNvPr id="41185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88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12252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Quando se busca na literatura como tratar essas imagens, o que se encontra é falta de consenso.</a:t>
            </a:r>
            <a:br>
              <a:rPr lang="en-US"/>
            </a:br>
            <a:r>
              <a:rPr lang="en-US"/>
              <a:t>Liu e Wang, que detectam falhas em isoladores em imagens aéreas de linhas de transmissão, utilizaram apenas redimensionamento e normalização, e não registram impacto significativo do pré-processamento.</a:t>
            </a:r>
            <a:br>
              <a:rPr lang="en-US"/>
            </a:br>
            <a:r>
              <a:rPr lang="en-US"/>
              <a:t>Zhang, que combina aprendizado profundo com processamento morfológico para segmentar os isoladores, relata melhora no desempenho. Salvi, em uma revisão na área de patologia digital, conclui que essas técnicas melhoram a precisão e reduzem o tempo computacional.</a:t>
            </a:r>
            <a:br>
              <a:rPr lang="en-US"/>
            </a:br>
            <a:r>
              <a:rPr lang="en-US"/>
              <a:t>Já Öztürk e Akdemir mostram que o excesso de processamento pode degradar o desempenho, e Rodrigues observa que as imagens originais favoreceram a rede neural.</a:t>
            </a:r>
            <a:br>
              <a:rPr lang="en-US"/>
            </a:br>
            <a:r>
              <a:rPr lang="en-US"/>
              <a:t>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en-US"/>
          </a:p>
        </p:txBody>
      </p:sp>
      <p:sp>
        <p:nvSpPr>
          <p:cNvPr id="842736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8290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37380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partir dessa lacuna, o objetivo geral do trabalho é desenvolver uma metodologia capaz de comparar, selecionar, combinar e aprimorar técnicas de processamento de imagem para a detecção e a classificação de falhas em cadeias de isoladores.</a:t>
            </a:r>
            <a:br>
              <a:rPr lang="en-US"/>
            </a:br>
            <a:r>
              <a:rPr lang="en-US"/>
              <a:t>Os quatro verbos organizam toda a proposta.</a:t>
            </a:r>
            <a:br>
              <a:rPr lang="en-US"/>
            </a:br>
            <a:r>
              <a:rPr lang="en-US"/>
              <a:t>Comparar as técnicas entre si, sob as mesmas condições.</a:t>
            </a:r>
            <a:br>
              <a:rPr lang="en-US"/>
            </a:br>
            <a:r>
              <a:rPr lang="en-US"/>
              <a:t>Selecionar as mais adequadas a cada caso.</a:t>
            </a:r>
            <a:br>
              <a:rPr lang="en-US"/>
            </a:br>
            <a:r>
              <a:rPr lang="en-US"/>
              <a:t>Combinar técnicas em sequência, formando pipelines.</a:t>
            </a:r>
            <a:br>
              <a:rPr lang="en-US"/>
            </a:br>
            <a:r>
              <a:rPr lang="en-US"/>
              <a:t>E aprimorar os seus parâmetros de forma automática, sem a necessidade de intervenção manual extensa.</a:t>
            </a:r>
            <a:br>
              <a:rPr lang="en-US"/>
            </a:br>
            <a:r>
              <a:rPr lang="en-US"/>
              <a:t>Esse objetivo responde diretamente à lacuna identificada. Em vez de relatar apenas o que funcionou em um experimento, a proposta é oferecer um método para determinar os processamentos mais eficientes e otimizar os seus parâmetros.</a:t>
            </a:r>
            <a:br>
              <a:rPr lang="en-US"/>
            </a:br>
            <a:r>
              <a:rPr lang="en-US"/>
              <a:t>Com isso, a escolha do tratamento das imagens passa a seguir um procedimento sistemático.</a:t>
            </a:r>
            <a:endParaRPr lang="en-US"/>
          </a:p>
        </p:txBody>
      </p:sp>
      <p:sp>
        <p:nvSpPr>
          <p:cNvPr id="12395194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19003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8178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Para alcançar esse objetivo, foram definidos sete objetivos específicos.</a:t>
            </a:r>
            <a:br>
              <a:rPr lang="en-US"/>
            </a:br>
            <a:r>
              <a:rPr lang="en-US"/>
              <a:t>O primeiro é estabelecer métricas para avaliar a eficácia dos processamentos de imagem.</a:t>
            </a:r>
            <a:br>
              <a:rPr lang="en-US"/>
            </a:br>
            <a:r>
              <a:rPr lang="en-US"/>
              <a:t>O segundo e o terceiro são determinar o tipo de rede neural adequado e construir os modelos de avaliação, sem o intuito de encontrar um modelo definitivo.</a:t>
            </a:r>
            <a:br>
              <a:rPr lang="en-US"/>
            </a:br>
            <a:r>
              <a:rPr lang="en-US"/>
              <a:t>O quarto e o quinto são analisar o impacto da escolha do modelo e a influência do conjunto de dados sobre os resultados.</a:t>
            </a:r>
            <a:br>
              <a:rPr lang="en-US"/>
            </a:br>
            <a:r>
              <a:rPr lang="en-US"/>
              <a:t>O sexto é aprimorar os processamentos pela combinação de abordagens unitárias.</a:t>
            </a:r>
            <a:br>
              <a:rPr lang="en-US"/>
            </a:br>
            <a:r>
              <a:rPr lang="en-US"/>
              <a:t>E o sétimo é criar um método de ajuste automático dos parâmetros.</a:t>
            </a:r>
            <a:br>
              <a:rPr lang="en-US"/>
            </a:br>
            <a:r>
              <a:rPr lang="en-US"/>
              <a:t>Destaco o sentido do terceiro objetivo: os modelos treinados servem para avaliar o impacto dos diferentes processamentos, e não são o produto final do trabalho.</a:t>
            </a:r>
            <a:endParaRPr lang="en-US"/>
          </a:p>
        </p:txBody>
      </p:sp>
      <p:sp>
        <p:nvSpPr>
          <p:cNvPr id="1179598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6434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6322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metodologia é estruturada, iterativa e modular.</a:t>
            </a:r>
            <a:br>
              <a:rPr lang="en-US"/>
            </a:br>
            <a:r>
              <a:rPr lang="en-US"/>
              <a:t>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</a:t>
            </a:r>
            <a:br>
              <a:rPr lang="en-US"/>
            </a:br>
            <a:r>
              <a:rPr lang="en-US"/>
              <a:t>O caráter iterativo vem do ciclo de avaliação. Quando o desempenho não é satisfatório, a avaliação retroalimenta o pré-processamento e a escolha do modelo, o que permite refinar as técnicas e os parâmetros a cada iteração.</a:t>
            </a:r>
            <a:br>
              <a:rPr lang="en-US"/>
            </a:br>
            <a:r>
              <a:rPr lang="en-US"/>
              <a:t>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en-US"/>
          </a:p>
        </p:txBody>
      </p:sp>
      <p:sp>
        <p:nvSpPr>
          <p:cNvPr id="1880890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3072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7987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Cada etapa se desdobra em operações e decisões, mostradas no fluxograma detalhado. Destaco os quatro pontos de decisão.</a:t>
            </a:r>
            <a:br>
              <a:rPr lang="en-US"/>
            </a:br>
            <a:r>
              <a:rPr lang="en-US"/>
              <a:t>O primeiro verifica se o conjunto de dados está balanceado. Isso é especialmente relevante na detecção de falhas, em que costuma haver muito mais amostras de isoladores saudáveis do que de defeituosos.</a:t>
            </a:r>
            <a:br>
              <a:rPr lang="en-US"/>
            </a:br>
            <a:r>
              <a:rPr lang="en-US"/>
              <a:t>O segundo decide se as técnicas serão usadas isoladas ou combinadas em um pipeline.</a:t>
            </a:r>
            <a:br>
              <a:rPr lang="en-US"/>
            </a:br>
            <a:r>
              <a:rPr lang="en-US"/>
              <a:t>O terceiro define o tipo de tarefa, entre classificação, detecção e regressão.</a:t>
            </a:r>
            <a:br>
              <a:rPr lang="en-US"/>
            </a:br>
            <a:r>
              <a:rPr lang="en-US"/>
              <a:t>E o quarto verifica se o desempenho atende aos critérios definidos. Se não atende, o bloco de ajuste de processamentos e modelo devolve o fluxo às etapas anteriores.</a:t>
            </a:r>
            <a:br>
              <a:rPr lang="en-US"/>
            </a:br>
            <a:r>
              <a:rPr lang="en-US"/>
              <a:t>Neste trabalho, foram percorridos os dois ramos do pré-processamento, o de técnicas isoladas e o de técnicas combinadas, com a tarefa de classificação e o ajuste automático de parâmetros.</a:t>
            </a:r>
            <a:endParaRPr lang="en-US"/>
          </a:p>
        </p:txBody>
      </p:sp>
      <p:sp>
        <p:nvSpPr>
          <p:cNvPr id="1715280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4004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111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Para validar a metodologia, foram usados dois conjuntos de dados de inspeção de infraestrutura elétrica, que representam cenários bem diferentes.</a:t>
            </a:r>
            <a:br>
              <a:rPr lang="en-US"/>
            </a:br>
            <a:r>
              <a:rPr lang="en-US"/>
              <a:t>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com 678 imagens de treino e 43 de teste.</a:t>
            </a:r>
            <a:br>
              <a:rPr lang="en-US"/>
            </a:br>
            <a:r>
              <a:rPr lang="en-US"/>
              <a:t>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São 585 imagens, divididas em 468 de treino, 87 de validação e 30 de teste.</a:t>
            </a:r>
            <a:br>
              <a:rPr lang="en-US"/>
            </a:br>
            <a:r>
              <a:rPr lang="en-US"/>
              <a:t>Esse conjunto é fortemente desbalanceado: das 468 imagens de treino, 335 pertencem a uma única categoria.</a:t>
            </a:r>
            <a:endParaRPr lang="en-US"/>
          </a:p>
        </p:txBody>
      </p:sp>
      <p:sp>
        <p:nvSpPr>
          <p:cNvPr id="8234347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6683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61635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Foram avaliadas 14 variantes de pré-processamento, aplicadas às imagens antes do treinamento. A figura ilustra o efeito de algumas delas sobre uma mesma imagem.</a:t>
            </a:r>
            <a:br>
              <a:rPr lang="en-US"/>
            </a:br>
            <a:r>
              <a:rPr lang="en-US"/>
              <a:t>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</a:t>
            </a:r>
            <a:br>
              <a:rPr lang="en-US"/>
            </a:br>
            <a:r>
              <a:rPr lang="en-US"/>
              <a:t>Além dessas, foram avaliadas a binarização adaptativa, o CLAHE, que equaliza o histograma por regiões locais, a redução de ruído por médias não locais e o filtro de mediana.</a:t>
            </a:r>
            <a:br>
              <a:rPr lang="en-US"/>
            </a:br>
            <a:r>
              <a:rPr lang="en-US"/>
              <a:t>Quatro variantes são híbridas, combinando o realce de contraste com o CLAHE ou com a equalização de histograma, em ordens diferentes.</a:t>
            </a:r>
            <a:br>
              <a:rPr lang="en-US"/>
            </a:br>
            <a:r>
              <a:rPr lang="en-US"/>
              <a:t>E a imagem original entra como amostra de controle, a linha de base sem processamento.</a:t>
            </a:r>
            <a:endParaRPr lang="en-US"/>
          </a:p>
        </p:txBody>
      </p:sp>
      <p:sp>
        <p:nvSpPr>
          <p:cNvPr id="1938246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968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5220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 protocolo experimental isola uma única variável.</a:t>
            </a:r>
            <a:br>
              <a:rPr lang="en-US"/>
            </a:br>
            <a:r>
              <a:rPr lang="en-US"/>
              <a:t>Foi implementada uma rede neural convolucional clássica e padronizada, com duas camadas convolucionais de 32 filtros, max-pooling, uma camada densa de 8 unidades e saída softmax. O treinamento usou o otimizador Adam por 50 épocas, com data augmentation em tempo de treino e imagens de 512 por 512 pixels. Com o modelo fixo, a única variável entre as execuções é o pré-processamento aplicado às imagens. Depois, a mesma varredura foi repetida com uma segunda arquitetura.</a:t>
            </a:r>
            <a:br>
              <a:rPr lang="en-US"/>
            </a:br>
            <a:r>
              <a:rPr lang="en-US"/>
              <a:t>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</a:t>
            </a:r>
            <a:br>
              <a:rPr lang="en-US"/>
            </a:br>
            <a:r>
              <a:rPr lang="en-US"/>
              <a:t>No CPLID, 32 das 43 imagens de teste são de isoladores normais, o que dá um piso de 74,42 por cento. No DRNPW, o piso é de 73,33 por cento. Um modelo abaixo desse valor não extrai informação útil das imagens.</a:t>
            </a:r>
            <a:endParaRPr lang="en-US"/>
          </a:p>
        </p:txBody>
      </p:sp>
      <p:sp>
        <p:nvSpPr>
          <p:cNvPr id="545032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9841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4036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Começo pelos resultados da rede convolucional no CPLID, o cenário das cadeias cerâmicas de linhas de transmissão com defeito estrutural. O gráfico mostra a acurácia de cada técnica, em ordem crescente, com a imagem tratada acima de cada barra.</a:t>
            </a:r>
            <a:br>
              <a:rPr lang="en-US"/>
            </a:br>
            <a:r>
              <a:rPr lang="en-US"/>
              <a:t>No topo, três técnicas empataram em 95,35 por cento de acurácia, e todas ampliam o contraste: o realce de contraste simples, a combinação de CLAHE com realce e a combinação de realce com equalização de histograma. O realce simples teve ainda o maior F1-score do conjunto, 96,55 por cento, superando inclusive a imagem original sem tratamento, que alcançou 93,02 por cento de acurácia.</a:t>
            </a:r>
            <a:br>
              <a:rPr lang="en-US"/>
            </a:br>
            <a:r>
              <a:rPr lang="en-US"/>
              <a:t>Esse resultado é coerente com a natureza do defeito. As assinaturas visuais do disco ausente e da fratura se concentram na estrutura física do isolador e são realçadas pela ampliação do intervalo tonal.</a:t>
            </a:r>
            <a:br>
              <a:rPr lang="en-US"/>
            </a:br>
            <a:r>
              <a:rPr lang="en-US"/>
              <a:t>No outro extremo, as técnicas de suavização e desfoque reduziram consideravelmente o desempenho. O desfoque gaussiano ficou em apenas 67,44 por cento, abaixo da imagem original e abaixo do piso majoritário. Ou seja, um tratamento inadequado piorou o resultado em relação a não tratar a imagem.</a:t>
            </a:r>
            <a:endParaRPr lang="en-US"/>
          </a:p>
        </p:txBody>
      </p:sp>
      <p:sp>
        <p:nvSpPr>
          <p:cNvPr id="11594281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9085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115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No DRNPW, o cenário de inspeção aérea em ambiente operacional real, o comportamento muda.</a:t>
            </a:r>
            <a:br>
              <a:rPr lang="en-US"/>
            </a:br>
            <a:r>
              <a:rPr lang="en-US"/>
              <a:t>Com fundos de forte poluição visual, os melhores resultados vieram das combinações que ampliam o contraste. A combinação de realce de contraste e equalização de histograma teve o melhor desempenho, com 83,33 por cento de acurácia e 75,76 por cento de F1-score, contra 63,33 por cento de acurácia e 49,12 por cento de F1-score dos modelos treinados apenas com as imagens originais.</a:t>
            </a:r>
            <a:br>
              <a:rPr lang="en-US"/>
            </a:br>
            <a:r>
              <a:rPr lang="en-US"/>
              <a:t>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</a:t>
            </a:r>
            <a:br>
              <a:rPr lang="en-US"/>
            </a:br>
            <a:r>
              <a:rPr lang="en-US"/>
              <a:t>Faço aqui uma ressalva: esse melhor resultado supera o piso de 73,33 por cento em 10 pontos percentuais, o equivalente a três imagens de teste, e seis das 14 técnicas ficaram no piso ou abaixo dele. Por isso, a inspeção em ambiente com forte poluição visual permanece como o caso mais desafiador.</a:t>
            </a:r>
            <a:endParaRPr lang="en-US"/>
          </a:p>
        </p:txBody>
      </p:sp>
      <p:sp>
        <p:nvSpPr>
          <p:cNvPr id="3228346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1828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1869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Agrupando as 14 técnicas em simples e híbridas, as combinações se destacam com a rede convolucional.</a:t>
            </a:r>
            <a:br>
              <a:rPr lang="en-US"/>
            </a:br>
            <a:r>
              <a:rPr lang="en-US"/>
              <a:t>No CPLID, a média de acurácia das técnicas híbridas foi 13,49 pontos percentuais superior à das técnicas simples. No DRNPW, a vantagem foi de 5,17 pontos.</a:t>
            </a:r>
            <a:br>
              <a:rPr lang="en-US"/>
            </a:br>
            <a:r>
              <a:rPr lang="en-US"/>
              <a:t>Isso confirma a decisão da metodologia de avaliar também pipelines de técnicas combinadas, em que a saída de uma técnica serve de entrada para a próxima. Um pipeline pode reunir, por exemplo, normalização, redução de ruído, ajuste de contraste e aumento de nitidez.</a:t>
            </a:r>
            <a:br>
              <a:rPr lang="en-US"/>
            </a:br>
            <a:r>
              <a:rPr lang="en-US"/>
              <a:t>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en-US"/>
          </a:p>
        </p:txBody>
      </p:sp>
      <p:sp>
        <p:nvSpPr>
          <p:cNvPr id="14874036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10211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028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etapa de ajuste automático foi aplicada ao parâmetro do realce de contraste, o fator multiplicador, no DRNPW. Valores menores que 1 reduzem o contraste, e valores maiores que 1 o aumentam.</a:t>
            </a:r>
            <a:br>
              <a:rPr lang="en-US"/>
            </a:br>
            <a:r>
              <a:rPr lang="en-US"/>
              <a:t>Primeiro, a busca em grade avaliou cinco valores entre 0,5 e 1,611. O melhor foi o fator 1,333, com 90 por cento de acurácia, 81 por cento de precisão e 85,3 por cento de F1-score. A redução excessiva de contraste, com fator 0,5, resultou na menor acurácia, 76,7 por cento.</a:t>
            </a:r>
            <a:br>
              <a:rPr lang="en-US"/>
            </a:br>
            <a:r>
              <a:rPr lang="en-US"/>
              <a:t>Como complemento, a busca aleatória testou cinco valores entre 0,5 e 3. O melhor foi 1,4364, com 85,06 por cento de acurácia na validação, e contrastes muito altos degradaram o desempenho, com 71,26 por cento no fator 2,33.</a:t>
            </a:r>
            <a:br>
              <a:rPr lang="en-US"/>
            </a:br>
            <a:r>
              <a:rPr lang="en-US"/>
              <a:t>Os dois métodos apontam para valores próximos, um pouco acima de 1.</a:t>
            </a:r>
            <a:br>
              <a:rPr lang="en-US"/>
            </a:br>
            <a:r>
              <a:rPr lang="en-US"/>
              <a:t>O ganho metodológico é que o ajuste deixa de depender de otimização manual.</a:t>
            </a:r>
            <a:endParaRPr lang="en-US"/>
          </a:p>
        </p:txBody>
      </p:sp>
      <p:sp>
        <p:nvSpPr>
          <p:cNvPr id="1124394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058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29748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Até aqui, todas as avaliações usaram uma única arquitetura. Isso isola o pré-processamento, mas deixa uma pergunta em aberto: os efeitos observados vêm das imagens ou do modelo usado para avaliá-las?</a:t>
            </a:r>
            <a:br>
              <a:rPr lang="en-US"/>
            </a:br>
            <a:r>
              <a:rPr lang="en-US"/>
              <a:t>Como a metodologia trata o modelo como um bloco substituível, a mesma varredura foi repetida com o YOLOv8n-cls, a variante de classificação da família YOLO, com pesos iniciais do COCO e cerca de 1,4 milhão de parâmetros treináveis. Foram 28 treinamentos completos, mantendo os conjuntos, as 14 técnicas e as 50 épocas.</a:t>
            </a:r>
            <a:br>
              <a:rPr lang="en-US"/>
            </a:br>
            <a:r>
              <a:rPr lang="en-US"/>
              <a:t>O YOLOv8n-cls não superou a rede convolucional. No CPLID, a sua acurácia média foi de 66,28 por cento, contra 84,55, e ele superou o piso em apenas 1 das 14 técnicas. No DRNPW, as duas arquiteturas ficaram na vizinhança do piso.</a:t>
            </a:r>
            <a:br>
              <a:rPr lang="en-US"/>
            </a:br>
            <a:r>
              <a:rPr lang="en-US"/>
              <a:t>E a ordem de mérito das técnicas se inverteu. A combinação de CLAHE com realce caiu de 95,35 para 51,16 por cento. A melhor combinação do DRNPW caiu de 83,33 para 53,33. E a escala de cinza subiu de 76,74 para 81,40 por cento.</a:t>
            </a:r>
            <a:br>
              <a:rPr lang="en-US"/>
            </a:br>
            <a:r>
              <a:rPr lang="en-US"/>
              <a:t>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en-US"/>
          </a:p>
        </p:txBody>
      </p:sp>
      <p:sp>
        <p:nvSpPr>
          <p:cNvPr id="13311455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45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119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Reunindo os resultados, destaco o que a metodologia entrega para quem desenvolve um sistema de inspeção de isoladores.</a:t>
            </a:r>
            <a:br>
              <a:rPr lang="en-US"/>
            </a:br>
            <a:r>
              <a:rPr lang="en-US"/>
              <a:t>Primeiro, ganho de desempenho. No cenário de campo, a escolha do tratamento levou o F1-score de 49,12 por cento, com as imagens originais, para 75,76 por cento, com a mesma rede.</a:t>
            </a:r>
            <a:br>
              <a:rPr lang="en-US"/>
            </a:br>
            <a:r>
              <a:rPr lang="en-US"/>
              <a:t>Segundo, proteção contra a escolha errada. No CPLID, o desfoque gaussiano derrubou a acurácia de 93,02 para 67,44 por cento.</a:t>
            </a:r>
            <a:br>
              <a:rPr lang="en-US"/>
            </a:br>
            <a:r>
              <a:rPr lang="en-US"/>
              <a:t>Terceiro, uma indicação sobre onde investir. Em regime de poucos dados, a arquitetura maior e pré-treinada não superou a rede convolucional simples, porque o aumento da capacidade do modelo não compensou as limitações do conjunto de dados.</a:t>
            </a:r>
            <a:br>
              <a:rPr lang="en-US"/>
            </a:br>
            <a:r>
              <a:rPr lang="en-US"/>
              <a:t>E quarto, um procedimento. Como a melhor técnica muda com a arquitetura e com o conjunto de dados, a seleção precisa ser refeita a cada mudança, e a estrutura iterativa da metodologia viabiliza essa reexecução controlada.</a:t>
            </a:r>
            <a:br>
              <a:rPr lang="en-US"/>
            </a:br>
            <a:r>
              <a:rPr lang="en-US"/>
              <a:t>Em síntese, o tratamento adequado das imagens brutas, ajustado a cada conjunto de dados e ao modelo adotado, é condição essencial para o bom desempenho.</a:t>
            </a:r>
            <a:endParaRPr lang="en-US"/>
          </a:p>
        </p:txBody>
      </p:sp>
      <p:sp>
        <p:nvSpPr>
          <p:cNvPr id="1296001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63663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7762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Voltando ao sistema elétrico, a inspeção automatizada por imagem, que este trabalho ajuda a tornar mais confiável, traz vantagens em seis frentes.</a:t>
            </a:r>
            <a:br>
              <a:rPr lang="en-US"/>
            </a:br>
            <a:r>
              <a:rPr lang="en-US"/>
              <a:t>A continuidade do fornecimento, porque a detecção precoce de falhas evita interrupções.</a:t>
            </a:r>
            <a:br>
              <a:rPr lang="en-US"/>
            </a:br>
            <a:r>
              <a:rPr lang="en-US"/>
              <a:t>O custo, porque identificar a falha cedo reduz os custos de manutenção.</a:t>
            </a:r>
            <a:br>
              <a:rPr lang="en-US"/>
            </a:br>
            <a:r>
              <a:rPr lang="en-US"/>
              <a:t>A segurança, porque o uso de imagens evita intervenções manuais em locais de difícil acesso.</a:t>
            </a:r>
            <a:br>
              <a:rPr lang="en-US"/>
            </a:br>
            <a:r>
              <a:rPr lang="en-US"/>
              <a:t>A abrangência, porque os drones facilitam a inspeção de grandes extensões de linhas.</a:t>
            </a:r>
            <a:br>
              <a:rPr lang="en-US"/>
            </a:br>
            <a:r>
              <a:rPr lang="en-US"/>
              <a:t>A reprodutibilidade, porque o diagnóstico automatizado é mais rápido, econômico e menos sujeito à subjetividade e ao erro humano.</a:t>
            </a:r>
            <a:br>
              <a:rPr lang="en-US"/>
            </a:br>
            <a:r>
              <a:rPr lang="en-US"/>
              <a:t>E a manutenção preditiva, porque as técnicas modernas permitem monitorar os equipamentos e identificar danos antes que se tornem críticos.</a:t>
            </a:r>
            <a:br>
              <a:rPr lang="en-US"/>
            </a:br>
            <a:r>
              <a:rPr lang="en-US"/>
              <a:t>Em todas essas frentes, o ganho depende de o modelo acertar, e o acerto do modelo depende, como vimos, do tratamento dado às imagens.</a:t>
            </a:r>
            <a:endParaRPr lang="en-US"/>
          </a:p>
        </p:txBody>
      </p:sp>
      <p:sp>
        <p:nvSpPr>
          <p:cNvPr id="1028316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0810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7955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Concluindo.</a:t>
            </a:r>
            <a:br>
              <a:rPr lang="en-US"/>
            </a:br>
            <a:r>
              <a:rPr lang="en-US"/>
              <a:t>Primeira conclusão: o pré-processamento das imagens exerce papel determinante no desempenho dos modelos em cenários de inspeção de infraestrutura elétrica.</a:t>
            </a:r>
            <a:br>
              <a:rPr lang="en-US"/>
            </a:br>
            <a:r>
              <a:rPr lang="en-US"/>
              <a:t>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</a:t>
            </a:r>
            <a:br>
              <a:rPr lang="en-US"/>
            </a:br>
            <a:r>
              <a:rPr lang="en-US"/>
              <a:t>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en-US"/>
          </a:p>
        </p:txBody>
      </p:sp>
      <p:sp>
        <p:nvSpPr>
          <p:cNvPr id="18958278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02497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25844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 trabalho enfrentou limitações.</a:t>
            </a:r>
            <a:br>
              <a:rPr lang="en-US"/>
            </a:br>
            <a:r>
              <a:rPr lang="en-US"/>
              <a:t>A principal foi a quantidade e a disponibilidade de dados. Há grande escassez de bancos de imagens públicos focados em redes de distribuição, com número expressivo de componentes defeituosos e anotações rigorosas, o que obriga o uso de conjuntos fortemente desbalanceados.</a:t>
            </a:r>
            <a:br>
              <a:rPr lang="en-US"/>
            </a:br>
            <a:r>
              <a:rPr lang="en-US"/>
              <a:t>Outra limitação foi o custo computacional. Otimizar todos os parâmetros do pipeline ao mesmo tempo leva à explosão combinatória, o que inviabiliza a avaliação exaustiva em tempo hábil.</a:t>
            </a:r>
            <a:br>
              <a:rPr lang="en-US"/>
            </a:br>
            <a:r>
              <a:rPr lang="en-US"/>
              <a:t>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en-US"/>
          </a:p>
        </p:txBody>
      </p:sp>
      <p:sp>
        <p:nvSpPr>
          <p:cNvPr id="1927030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3156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81817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Encerro voltando ao ponto de partida, o Sistema Elétrico de Potência.</a:t>
            </a:r>
            <a:br>
              <a:rPr lang="en-US"/>
            </a:br>
            <a:r>
              <a:rPr lang="en-US"/>
              <a:t>A principal contribuição deste trabalho é uma metodologia estruturada para a inspeção automatizada de linhas de transmissão, que mapeia de forma sistemática o impacto do processamento das imagens aéreas.</a:t>
            </a:r>
            <a:br>
              <a:rPr lang="en-US"/>
            </a:br>
            <a:r>
              <a:rPr lang="en-US"/>
              <a:t>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</a:t>
            </a:r>
            <a:br>
              <a:rPr lang="en-US"/>
            </a:br>
            <a:r>
              <a:rPr lang="en-US"/>
              <a:t>A mensagem final é que o tratamento adequado das imagens brutas é tão relevante quanto a escolha da arquitetura da rede neural.</a:t>
            </a:r>
            <a:endParaRPr lang="en-US"/>
          </a:p>
        </p:txBody>
      </p:sp>
      <p:sp>
        <p:nvSpPr>
          <p:cNvPr id="150879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766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173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Muito obrigado pela atenção. Fico à disposição da banca para as arguições.</a:t>
            </a:r>
            <a:endParaRPr lang="en-US"/>
          </a:p>
        </p:txBody>
      </p:sp>
      <p:sp>
        <p:nvSpPr>
          <p:cNvPr id="13873651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png"/><Relationship Id="rId6" Type="http://schemas.openxmlformats.org/officeDocument/2006/relationships/image" Target="../media/image17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jp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.xml" /><Relationship Id="rId4" Type="http://schemas.openxmlformats.org/officeDocument/2006/relationships/image" Target="../media/image31.jpg"/><Relationship Id="rId5" Type="http://schemas.openxmlformats.org/officeDocument/2006/relationships/image" Target="../media/image32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3.xml" 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3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226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468728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948999448" name="Text 0"/>
          <p:cNvSpPr/>
          <p:nvPr/>
        </p:nvSpPr>
        <p:spPr bwMode="auto"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Universidade Federal de Santa Maria</a:t>
            </a:r>
            <a:endParaRPr lang="en-US" sz="1200"/>
          </a:p>
        </p:txBody>
      </p:sp>
      <p:sp>
        <p:nvSpPr>
          <p:cNvPr id="1777910943" name="Text 1"/>
          <p:cNvSpPr/>
          <p:nvPr/>
        </p:nvSpPr>
        <p:spPr bwMode="auto"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Programa de Pós-Graduação em Engenharia Elétrica</a:t>
            </a:r>
            <a:endParaRPr lang="en-US" sz="1100"/>
          </a:p>
        </p:txBody>
      </p:sp>
      <p:sp>
        <p:nvSpPr>
          <p:cNvPr id="972642450" name="Text 2"/>
          <p:cNvSpPr/>
          <p:nvPr/>
        </p:nvSpPr>
        <p:spPr bwMode="auto"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2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Método de aprimoramento de processamentos de imagens aplicados à detecção e classificação de falhas em cadeias de isoladores</a:t>
            </a:r>
            <a:endParaRPr lang="en-US" sz="2300"/>
          </a:p>
        </p:txBody>
      </p:sp>
      <p:sp>
        <p:nvSpPr>
          <p:cNvPr id="221699862" name="Text 3"/>
          <p:cNvSpPr/>
          <p:nvPr/>
        </p:nvSpPr>
        <p:spPr bwMode="auto"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FFD9A8"/>
                </a:solidFill>
                <a:latin typeface="Calibri"/>
                <a:ea typeface="Calibri"/>
                <a:cs typeface="Calibri"/>
              </a:rPr>
              <a:t>Defesa de Dissertação de Mestrado</a:t>
            </a:r>
            <a:endParaRPr lang="en-US" sz="1200"/>
          </a:p>
        </p:txBody>
      </p:sp>
      <p:sp>
        <p:nvSpPr>
          <p:cNvPr id="1381766177" name="Text 4"/>
          <p:cNvSpPr/>
          <p:nvPr/>
        </p:nvSpPr>
        <p:spPr bwMode="auto"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999"/>
              </a:lnSpc>
              <a:buNone/>
              <a:defRPr/>
            </a:pPr>
            <a:r>
              <a:rPr lang="en-US" sz="12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Mestrando: </a:t>
            </a: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Luan Willig Silveira</a:t>
            </a:r>
            <a:endParaRPr lang="en-US" sz="1200"/>
          </a:p>
          <a:p>
            <a:pPr marL="0" indent="0">
              <a:lnSpc>
                <a:spcPct val="114999"/>
              </a:lnSpc>
              <a:buNone/>
              <a:defRPr/>
            </a:pPr>
            <a:r>
              <a:rPr lang="en-US" sz="12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Orientador: </a:t>
            </a: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Prof. Dr. Daniel Pinheiro Bernardon</a:t>
            </a:r>
            <a:endParaRPr lang="en-US" sz="1200"/>
          </a:p>
          <a:p>
            <a:pPr marL="0" indent="0">
              <a:lnSpc>
                <a:spcPct val="114999"/>
              </a:lnSpc>
              <a:buNone/>
              <a:defRPr/>
            </a:pPr>
            <a:r>
              <a:rPr lang="en-US" sz="12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Coorientador: </a:t>
            </a: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Prof. Dr. Paulo César Vargas Luz</a:t>
            </a:r>
            <a:endParaRPr lang="en-US" sz="1200"/>
          </a:p>
        </p:txBody>
      </p:sp>
      <p:sp>
        <p:nvSpPr>
          <p:cNvPr id="41500274" name="Text 5"/>
          <p:cNvSpPr/>
          <p:nvPr/>
        </p:nvSpPr>
        <p:spPr bwMode="auto"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Santa Maria, RS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503367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ROTEIRO</a:t>
            </a:r>
            <a:endParaRPr lang="en-US" sz="1050"/>
          </a:p>
        </p:txBody>
      </p:sp>
      <p:sp>
        <p:nvSpPr>
          <p:cNvPr id="856350325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Do sistema elétrico de volta ao sistema elétrico</a:t>
            </a:r>
            <a:endParaRPr lang="en-US" sz="2800"/>
          </a:p>
        </p:txBody>
      </p:sp>
      <p:pic>
        <p:nvPicPr>
          <p:cNvPr id="162651885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1614036499" name="Shape 2"/>
          <p:cNvSpPr/>
          <p:nvPr/>
        </p:nvSpPr>
        <p:spPr bwMode="auto"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18885940" name="Text 3"/>
          <p:cNvSpPr/>
          <p:nvPr/>
        </p:nvSpPr>
        <p:spPr bwMode="auto"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612337365" name="Text 4"/>
          <p:cNvSpPr/>
          <p:nvPr/>
        </p:nvSpPr>
        <p:spPr bwMode="auto"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O problema elétrico</a:t>
            </a:r>
            <a:endParaRPr lang="en-US" sz="1400"/>
          </a:p>
        </p:txBody>
      </p:sp>
      <p:sp>
        <p:nvSpPr>
          <p:cNvPr id="1294423814" name="Text 5"/>
          <p:cNvSpPr/>
          <p:nvPr/>
        </p:nvSpPr>
        <p:spPr bwMode="auto"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Isoladores, falhas e inspeção</a:t>
            </a:r>
            <a:endParaRPr lang="en-US" sz="1050"/>
          </a:p>
        </p:txBody>
      </p:sp>
      <p:pic>
        <p:nvPicPr>
          <p:cNvPr id="81903036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979158807" name="Shape 6"/>
          <p:cNvSpPr/>
          <p:nvPr/>
        </p:nvSpPr>
        <p:spPr bwMode="auto"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99205411" name="Text 7"/>
          <p:cNvSpPr/>
          <p:nvPr/>
        </p:nvSpPr>
        <p:spPr bwMode="auto"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880580941" name="Text 8"/>
          <p:cNvSpPr/>
          <p:nvPr/>
        </p:nvSpPr>
        <p:spPr bwMode="auto"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 proposta</a:t>
            </a:r>
            <a:endParaRPr lang="en-US" sz="1400"/>
          </a:p>
        </p:txBody>
      </p:sp>
      <p:sp>
        <p:nvSpPr>
          <p:cNvPr id="425723504" name="Text 9"/>
          <p:cNvSpPr/>
          <p:nvPr/>
        </p:nvSpPr>
        <p:spPr bwMode="auto"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Metodologia de processamento</a:t>
            </a:r>
            <a:endParaRPr lang="en-US" sz="1050"/>
          </a:p>
        </p:txBody>
      </p:sp>
      <p:pic>
        <p:nvPicPr>
          <p:cNvPr id="159426716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872159073" name="Shape 10"/>
          <p:cNvSpPr/>
          <p:nvPr/>
        </p:nvSpPr>
        <p:spPr bwMode="auto"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67010500" name="Text 11"/>
          <p:cNvSpPr/>
          <p:nvPr/>
        </p:nvSpPr>
        <p:spPr bwMode="auto"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966480346" name="Text 12"/>
          <p:cNvSpPr/>
          <p:nvPr/>
        </p:nvSpPr>
        <p:spPr bwMode="auto"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1400"/>
          </a:p>
        </p:txBody>
      </p:sp>
      <p:sp>
        <p:nvSpPr>
          <p:cNvPr id="1859470927" name="Text 13"/>
          <p:cNvSpPr/>
          <p:nvPr/>
        </p:nvSpPr>
        <p:spPr bwMode="auto"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Dois cenários, dois modelos</a:t>
            </a:r>
            <a:endParaRPr lang="en-US" sz="1050"/>
          </a:p>
        </p:txBody>
      </p:sp>
      <p:pic>
        <p:nvPicPr>
          <p:cNvPr id="1291377935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1330705849" name="Shape 14"/>
          <p:cNvSpPr/>
          <p:nvPr/>
        </p:nvSpPr>
        <p:spPr bwMode="auto"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890211903" name="Text 15"/>
          <p:cNvSpPr/>
          <p:nvPr/>
        </p:nvSpPr>
        <p:spPr bwMode="auto"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200"/>
          </a:p>
        </p:txBody>
      </p:sp>
      <p:sp>
        <p:nvSpPr>
          <p:cNvPr id="1187373851" name="Text 16"/>
          <p:cNvSpPr/>
          <p:nvPr/>
        </p:nvSpPr>
        <p:spPr bwMode="auto"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Impacto</a:t>
            </a:r>
            <a:endParaRPr lang="en-US" sz="1400"/>
          </a:p>
        </p:txBody>
      </p:sp>
      <p:sp>
        <p:nvSpPr>
          <p:cNvPr id="1375920470" name="Text 17"/>
          <p:cNvSpPr/>
          <p:nvPr/>
        </p:nvSpPr>
        <p:spPr bwMode="auto"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Vantagens para o sistema elétrico</a:t>
            </a:r>
            <a:endParaRPr lang="en-US" sz="1050"/>
          </a:p>
        </p:txBody>
      </p:sp>
      <p:sp>
        <p:nvSpPr>
          <p:cNvPr id="1701322725" name="Text 1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Roteiro</a:t>
            </a:r>
            <a:endParaRPr lang="en-US" sz="900"/>
          </a:p>
        </p:txBody>
      </p:sp>
      <p:sp>
        <p:nvSpPr>
          <p:cNvPr id="1402477647" name="Text 19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589188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1050"/>
          </a:p>
        </p:txBody>
      </p:sp>
      <p:sp>
        <p:nvSpPr>
          <p:cNvPr id="1133195656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O isolador no Sistema Elétrico de Potência</a:t>
            </a:r>
            <a:endParaRPr lang="en-US" sz="2800"/>
          </a:p>
        </p:txBody>
      </p:sp>
      <p:pic>
        <p:nvPicPr>
          <p:cNvPr id="144279718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1240927980" name="Shape 2"/>
          <p:cNvSpPr/>
          <p:nvPr/>
        </p:nvSpPr>
        <p:spPr bwMode="auto"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12250513" name="Text 3"/>
          <p:cNvSpPr/>
          <p:nvPr/>
        </p:nvSpPr>
        <p:spPr bwMode="auto"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Transmissão e distribuição</a:t>
            </a:r>
            <a:endParaRPr lang="en-US" sz="1350"/>
          </a:p>
        </p:txBody>
      </p:sp>
      <p:sp>
        <p:nvSpPr>
          <p:cNvPr id="1282848509" name="Text 4"/>
          <p:cNvSpPr/>
          <p:nvPr/>
        </p:nvSpPr>
        <p:spPr bwMode="auto"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Linhas que levam a energia até os consumidores</a:t>
            </a:r>
            <a:endParaRPr lang="en-US" sz="1100"/>
          </a:p>
        </p:txBody>
      </p:sp>
      <p:sp>
        <p:nvSpPr>
          <p:cNvPr id="1569738071" name="Shape 5"/>
          <p:cNvSpPr/>
          <p:nvPr/>
        </p:nvSpPr>
        <p:spPr bwMode="auto"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99494280" name="Text 6"/>
          <p:cNvSpPr/>
          <p:nvPr/>
        </p:nvSpPr>
        <p:spPr bwMode="auto"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Isoladores, fixadores e suportes</a:t>
            </a:r>
            <a:endParaRPr lang="en-US" sz="1350"/>
          </a:p>
        </p:txBody>
      </p:sp>
      <p:sp>
        <p:nvSpPr>
          <p:cNvPr id="1901298410" name="Text 7"/>
          <p:cNvSpPr/>
          <p:nvPr/>
        </p:nvSpPr>
        <p:spPr bwMode="auto"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Componentes inspecionados ao longo das linhas</a:t>
            </a:r>
            <a:endParaRPr lang="en-US" sz="1100"/>
          </a:p>
        </p:txBody>
      </p:sp>
      <p:sp>
        <p:nvSpPr>
          <p:cNvPr id="449359751" name="Shape 8"/>
          <p:cNvSpPr/>
          <p:nvPr/>
        </p:nvSpPr>
        <p:spPr bwMode="auto"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54880565" name="Text 9"/>
          <p:cNvSpPr/>
          <p:nvPr/>
        </p:nvSpPr>
        <p:spPr bwMode="auto"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Falha não tratada</a:t>
            </a:r>
            <a:endParaRPr lang="en-US" sz="1350"/>
          </a:p>
        </p:txBody>
      </p:sp>
      <p:sp>
        <p:nvSpPr>
          <p:cNvPr id="1864943190" name="Text 10"/>
          <p:cNvSpPr/>
          <p:nvPr/>
        </p:nvSpPr>
        <p:spPr bwMode="auto"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Pode causar interrupções no fornecimento de energia</a:t>
            </a:r>
            <a:endParaRPr lang="en-US" sz="1100"/>
          </a:p>
        </p:txBody>
      </p:sp>
      <p:sp>
        <p:nvSpPr>
          <p:cNvPr id="1144776847" name="Text 11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900"/>
          </a:p>
        </p:txBody>
      </p:sp>
      <p:sp>
        <p:nvSpPr>
          <p:cNvPr id="1484705379" name="Text 12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685586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1139748969" name="Text 0"/>
          <p:cNvSpPr/>
          <p:nvPr/>
        </p:nvSpPr>
        <p:spPr bwMode="auto"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1050"/>
          </a:p>
        </p:txBody>
      </p:sp>
      <p:sp>
        <p:nvSpPr>
          <p:cNvPr id="49209089" name="Text 1"/>
          <p:cNvSpPr/>
          <p:nvPr/>
        </p:nvSpPr>
        <p:spPr bwMode="auto"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Isolador: sustentação e isolamento</a:t>
            </a:r>
            <a:endParaRPr lang="en-US" sz="2400"/>
          </a:p>
        </p:txBody>
      </p:sp>
      <p:sp>
        <p:nvSpPr>
          <p:cNvPr id="695079494" name="Shape 2"/>
          <p:cNvSpPr/>
          <p:nvPr/>
        </p:nvSpPr>
        <p:spPr bwMode="auto"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6622237" name="Text 3"/>
          <p:cNvSpPr/>
          <p:nvPr/>
        </p:nvSpPr>
        <p:spPr bwMode="auto"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664266077" name="Text 4"/>
          <p:cNvSpPr/>
          <p:nvPr/>
        </p:nvSpPr>
        <p:spPr bwMode="auto">
          <a:xfrm>
            <a:off x="6080760" y="1655063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Sustenta</a:t>
            </a:r>
            <a:endParaRPr lang="en-US" sz="1500"/>
          </a:p>
        </p:txBody>
      </p:sp>
      <p:sp>
        <p:nvSpPr>
          <p:cNvPr id="602575553" name="Text 5"/>
          <p:cNvSpPr/>
          <p:nvPr/>
        </p:nvSpPr>
        <p:spPr bwMode="auto">
          <a:xfrm>
            <a:off x="6080760" y="1947671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mecanicamente os condutores</a:t>
            </a:r>
            <a:endParaRPr lang="en-US" sz="1100"/>
          </a:p>
        </p:txBody>
      </p:sp>
      <p:sp>
        <p:nvSpPr>
          <p:cNvPr id="683309764" name="Shape 6"/>
          <p:cNvSpPr/>
          <p:nvPr/>
        </p:nvSpPr>
        <p:spPr bwMode="auto"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888190739" name="Text 7"/>
          <p:cNvSpPr/>
          <p:nvPr/>
        </p:nvSpPr>
        <p:spPr bwMode="auto"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493977621" name="Text 8"/>
          <p:cNvSpPr/>
          <p:nvPr/>
        </p:nvSpPr>
        <p:spPr bwMode="auto"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Isola</a:t>
            </a:r>
            <a:endParaRPr lang="en-US" sz="1500"/>
          </a:p>
        </p:txBody>
      </p:sp>
      <p:sp>
        <p:nvSpPr>
          <p:cNvPr id="306850991" name="Text 9"/>
          <p:cNvSpPr/>
          <p:nvPr/>
        </p:nvSpPr>
        <p:spPr bwMode="auto"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as partes energizadas das estruturas aterradas</a:t>
            </a:r>
            <a:endParaRPr lang="en-US" sz="1100"/>
          </a:p>
        </p:txBody>
      </p:sp>
      <p:sp>
        <p:nvSpPr>
          <p:cNvPr id="1261076055" name="Shape 10"/>
          <p:cNvSpPr/>
          <p:nvPr/>
        </p:nvSpPr>
        <p:spPr bwMode="auto"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58059004" name="Text 11"/>
          <p:cNvSpPr/>
          <p:nvPr/>
        </p:nvSpPr>
        <p:spPr bwMode="auto"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1171806891" name="Text 12"/>
          <p:cNvSpPr/>
          <p:nvPr/>
        </p:nvSpPr>
        <p:spPr bwMode="auto"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Fica exposto</a:t>
            </a:r>
            <a:endParaRPr lang="en-US" sz="1500"/>
          </a:p>
        </p:txBody>
      </p:sp>
      <p:sp>
        <p:nvSpPr>
          <p:cNvPr id="1187724199" name="Text 13"/>
          <p:cNvSpPr/>
          <p:nvPr/>
        </p:nvSpPr>
        <p:spPr bwMode="auto"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 temperatura, umidade, poluição e descargas atmosféricas</a:t>
            </a:r>
            <a:endParaRPr lang="en-US" sz="1100"/>
          </a:p>
        </p:txBody>
      </p:sp>
      <p:sp>
        <p:nvSpPr>
          <p:cNvPr id="1997190389" name="Text 14"/>
          <p:cNvSpPr/>
          <p:nvPr/>
        </p:nvSpPr>
        <p:spPr bwMode="auto"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900"/>
          </a:p>
        </p:txBody>
      </p:sp>
      <p:sp>
        <p:nvSpPr>
          <p:cNvPr id="496076609" name="Text 15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6290980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1050"/>
          </a:p>
        </p:txBody>
      </p:sp>
      <p:sp>
        <p:nvSpPr>
          <p:cNvPr id="74423302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Falhas que deixam marca na imagem</a:t>
            </a:r>
            <a:endParaRPr lang="en-US" sz="2800"/>
          </a:p>
        </p:txBody>
      </p:sp>
      <p:pic>
        <p:nvPicPr>
          <p:cNvPr id="140157579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143000"/>
            <a:ext cx="2606040" cy="2606040"/>
          </a:xfrm>
          <a:prstGeom prst="rect">
            <a:avLst/>
          </a:prstGeom>
        </p:spPr>
      </p:pic>
      <p:sp>
        <p:nvSpPr>
          <p:cNvPr id="1104734767" name="Text 2"/>
          <p:cNvSpPr/>
          <p:nvPr/>
        </p:nvSpPr>
        <p:spPr bwMode="auto">
          <a:xfrm>
            <a:off x="502920" y="3840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Corrosão</a:t>
            </a:r>
            <a:endParaRPr lang="en-US" sz="1400"/>
          </a:p>
        </p:txBody>
      </p:sp>
      <p:sp>
        <p:nvSpPr>
          <p:cNvPr id="473648761" name="Text 3"/>
          <p:cNvSpPr/>
          <p:nvPr/>
        </p:nvSpPr>
        <p:spPr bwMode="auto">
          <a:xfrm>
            <a:off x="50292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Identificável em imagens de inspeção</a:t>
            </a:r>
            <a:endParaRPr lang="en-US" sz="1050"/>
          </a:p>
        </p:txBody>
      </p:sp>
      <p:pic>
        <p:nvPicPr>
          <p:cNvPr id="162823374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91840" y="1143000"/>
            <a:ext cx="2606040" cy="2606040"/>
          </a:xfrm>
          <a:prstGeom prst="rect">
            <a:avLst/>
          </a:prstGeom>
        </p:spPr>
      </p:pic>
      <p:sp>
        <p:nvSpPr>
          <p:cNvPr id="410595733" name="Text 4"/>
          <p:cNvSpPr/>
          <p:nvPr/>
        </p:nvSpPr>
        <p:spPr bwMode="auto">
          <a:xfrm>
            <a:off x="3291840" y="3840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Contaminação superficial</a:t>
            </a:r>
            <a:endParaRPr lang="en-US" sz="1400"/>
          </a:p>
        </p:txBody>
      </p:sp>
      <p:sp>
        <p:nvSpPr>
          <p:cNvPr id="1668224794" name="Text 5"/>
          <p:cNvSpPr/>
          <p:nvPr/>
        </p:nvSpPr>
        <p:spPr bwMode="auto">
          <a:xfrm>
            <a:off x="329184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Relacionada aos flashovers por poluição</a:t>
            </a:r>
            <a:endParaRPr lang="en-US" sz="1050"/>
          </a:p>
        </p:txBody>
      </p:sp>
      <p:pic>
        <p:nvPicPr>
          <p:cNvPr id="1499977509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080760" y="1143000"/>
            <a:ext cx="2606040" cy="2606040"/>
          </a:xfrm>
          <a:prstGeom prst="rect">
            <a:avLst/>
          </a:prstGeom>
        </p:spPr>
      </p:pic>
      <p:sp>
        <p:nvSpPr>
          <p:cNvPr id="1301329003" name="Text 6"/>
          <p:cNvSpPr/>
          <p:nvPr/>
        </p:nvSpPr>
        <p:spPr bwMode="auto">
          <a:xfrm>
            <a:off x="6080760" y="3840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Disco ausente e fraturas</a:t>
            </a:r>
            <a:endParaRPr lang="en-US" sz="1400"/>
          </a:p>
        </p:txBody>
      </p:sp>
      <p:sp>
        <p:nvSpPr>
          <p:cNvPr id="1328466040" name="Text 7"/>
          <p:cNvSpPr/>
          <p:nvPr/>
        </p:nvSpPr>
        <p:spPr bwMode="auto">
          <a:xfrm>
            <a:off x="608076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Comprometem a rigidez dielétrica da cadeia</a:t>
            </a:r>
            <a:endParaRPr lang="en-US" sz="1050"/>
          </a:p>
        </p:txBody>
      </p:sp>
      <p:sp>
        <p:nvSpPr>
          <p:cNvPr id="1856048717" name="Text 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900"/>
          </a:p>
        </p:txBody>
      </p:sp>
      <p:sp>
        <p:nvSpPr>
          <p:cNvPr id="616462004" name="Text 9"/>
          <p:cNvSpPr/>
          <p:nvPr/>
        </p:nvSpPr>
        <p:spPr bwMode="auto"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7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Fotos ilustrativas de cadeias de isoladores</a:t>
            </a:r>
            <a:endParaRPr lang="en-US" sz="750"/>
          </a:p>
        </p:txBody>
      </p:sp>
      <p:sp>
        <p:nvSpPr>
          <p:cNvPr id="1600630887" name="Text 10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1226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825815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1129978144" name="Text 0"/>
          <p:cNvSpPr/>
          <p:nvPr/>
        </p:nvSpPr>
        <p:spPr bwMode="auto"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1050"/>
          </a:p>
        </p:txBody>
      </p:sp>
      <p:sp>
        <p:nvSpPr>
          <p:cNvPr id="224647947" name="Text 1"/>
          <p:cNvSpPr/>
          <p:nvPr/>
        </p:nvSpPr>
        <p:spPr bwMode="auto"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Detectar cedo protege o sistema elétrico</a:t>
            </a:r>
            <a:endParaRPr lang="en-US" sz="2600"/>
          </a:p>
        </p:txBody>
      </p:sp>
      <p:sp>
        <p:nvSpPr>
          <p:cNvPr id="1191294531" name="Shape 2"/>
          <p:cNvSpPr/>
          <p:nvPr/>
        </p:nvSpPr>
        <p:spPr bwMode="auto"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304261717" name="Shape 3"/>
          <p:cNvSpPr/>
          <p:nvPr/>
        </p:nvSpPr>
        <p:spPr bwMode="auto"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914654031" name="Text 4"/>
          <p:cNvSpPr/>
          <p:nvPr/>
        </p:nvSpPr>
        <p:spPr bwMode="auto"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1078780281" name="Text 5"/>
          <p:cNvSpPr/>
          <p:nvPr/>
        </p:nvSpPr>
        <p:spPr bwMode="auto"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Continuidade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Evita interrupções no fornecimento de energia</a:t>
            </a:r>
            <a:endParaRPr lang="en-US" sz="1250"/>
          </a:p>
        </p:txBody>
      </p:sp>
      <p:sp>
        <p:nvSpPr>
          <p:cNvPr id="924967451" name="Shape 6"/>
          <p:cNvSpPr/>
          <p:nvPr/>
        </p:nvSpPr>
        <p:spPr bwMode="auto"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2098325453" name="Shape 7"/>
          <p:cNvSpPr/>
          <p:nvPr/>
        </p:nvSpPr>
        <p:spPr bwMode="auto"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948602983" name="Text 8"/>
          <p:cNvSpPr/>
          <p:nvPr/>
        </p:nvSpPr>
        <p:spPr bwMode="auto"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160845941" name="Text 9"/>
          <p:cNvSpPr/>
          <p:nvPr/>
        </p:nvSpPr>
        <p:spPr bwMode="auto">
          <a:xfrm>
            <a:off x="1234440" y="2432303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Custo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Reduz os custos de manutenção</a:t>
            </a:r>
            <a:endParaRPr lang="en-US" sz="1250"/>
          </a:p>
        </p:txBody>
      </p:sp>
      <p:sp>
        <p:nvSpPr>
          <p:cNvPr id="302783672" name="Shape 10"/>
          <p:cNvSpPr/>
          <p:nvPr/>
        </p:nvSpPr>
        <p:spPr bwMode="auto"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37884540" name="Shape 11"/>
          <p:cNvSpPr/>
          <p:nvPr/>
        </p:nvSpPr>
        <p:spPr bwMode="auto"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92012728" name="Text 12"/>
          <p:cNvSpPr/>
          <p:nvPr/>
        </p:nvSpPr>
        <p:spPr bwMode="auto"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743576185" name="Text 13"/>
          <p:cNvSpPr/>
          <p:nvPr/>
        </p:nvSpPr>
        <p:spPr bwMode="auto"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Segurança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Previne riscos às instalações e às pessoas</a:t>
            </a:r>
            <a:endParaRPr lang="en-US" sz="1250"/>
          </a:p>
        </p:txBody>
      </p:sp>
      <p:sp>
        <p:nvSpPr>
          <p:cNvPr id="1071784526" name="Text 14"/>
          <p:cNvSpPr/>
          <p:nvPr/>
        </p:nvSpPr>
        <p:spPr bwMode="auto"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Falhas não detectadas podem ter consequências graves.</a:t>
            </a:r>
            <a:endParaRPr lang="en-US" sz="1400"/>
          </a:p>
        </p:txBody>
      </p:sp>
      <p:sp>
        <p:nvSpPr>
          <p:cNvPr id="524615791" name="Text 15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900"/>
          </a:p>
        </p:txBody>
      </p:sp>
      <p:sp>
        <p:nvSpPr>
          <p:cNvPr id="1645777760" name="Text 16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992571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1050"/>
          </a:p>
        </p:txBody>
      </p:sp>
      <p:sp>
        <p:nvSpPr>
          <p:cNvPr id="1063806652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Da inspeção manual à inspeção automatizada</a:t>
            </a:r>
            <a:endParaRPr lang="en-US" sz="2800"/>
          </a:p>
        </p:txBody>
      </p:sp>
      <p:pic>
        <p:nvPicPr>
          <p:cNvPr id="165601492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1075636602" name="Text 2"/>
          <p:cNvSpPr/>
          <p:nvPr/>
        </p:nvSpPr>
        <p:spPr bwMode="auto"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Imagens capturadas por drones facilitam a inspeção de grandes extensões de linhas.</a:t>
            </a:r>
            <a:endParaRPr lang="en-US" sz="950"/>
          </a:p>
        </p:txBody>
      </p:sp>
      <p:sp>
        <p:nvSpPr>
          <p:cNvPr id="1327517883" name="Shape 3"/>
          <p:cNvSpPr/>
          <p:nvPr/>
        </p:nvSpPr>
        <p:spPr bwMode="auto"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10546924" name="Text 4"/>
          <p:cNvSpPr/>
          <p:nvPr/>
        </p:nvSpPr>
        <p:spPr bwMode="auto">
          <a:xfrm>
            <a:off x="4919471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Inspeção visual e manual</a:t>
            </a:r>
            <a:endParaRPr lang="en-US" sz="1350"/>
          </a:p>
        </p:txBody>
      </p:sp>
      <p:sp>
        <p:nvSpPr>
          <p:cNvPr id="1574856182" name="Text 5"/>
          <p:cNvSpPr/>
          <p:nvPr/>
        </p:nvSpPr>
        <p:spPr bwMode="auto"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Lenta e custosa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Sujeita à subjetividade e a erros humanos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Feita por equipes especializadas</a:t>
            </a:r>
            <a:endParaRPr lang="en-US" sz="1150"/>
          </a:p>
        </p:txBody>
      </p:sp>
      <p:sp>
        <p:nvSpPr>
          <p:cNvPr id="1562573949" name="Shape 6"/>
          <p:cNvSpPr/>
          <p:nvPr/>
        </p:nvSpPr>
        <p:spPr bwMode="auto"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456904102" name="Text 7"/>
          <p:cNvSpPr/>
          <p:nvPr/>
        </p:nvSpPr>
        <p:spPr bwMode="auto">
          <a:xfrm>
            <a:off x="4919471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Inspeção por imagem com IA</a:t>
            </a:r>
            <a:endParaRPr lang="en-US" sz="1350"/>
          </a:p>
        </p:txBody>
      </p:sp>
      <p:sp>
        <p:nvSpPr>
          <p:cNvPr id="559887459" name="Text 8"/>
          <p:cNvSpPr/>
          <p:nvPr/>
        </p:nvSpPr>
        <p:spPr bwMode="auto"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Mais rápida, econômica e reprodutível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Evita intervenções manuais em locais de difícil acesso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Reconhece padrões de falha em condições adversas</a:t>
            </a:r>
            <a:endParaRPr lang="en-US" sz="1150"/>
          </a:p>
        </p:txBody>
      </p:sp>
      <p:sp>
        <p:nvSpPr>
          <p:cNvPr id="2031032102" name="Text 9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900"/>
          </a:p>
        </p:txBody>
      </p:sp>
      <p:sp>
        <p:nvSpPr>
          <p:cNvPr id="1605606315" name="Text 10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7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472657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1050"/>
          </a:p>
        </p:txBody>
      </p:sp>
      <p:sp>
        <p:nvSpPr>
          <p:cNvPr id="193257136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O desafio: muitas imagens e fundos complexos</a:t>
            </a:r>
            <a:endParaRPr lang="en-US" sz="2800"/>
          </a:p>
        </p:txBody>
      </p:sp>
      <p:pic>
        <p:nvPicPr>
          <p:cNvPr id="175619302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1291107859" name="Text 2"/>
          <p:cNvSpPr/>
          <p:nvPr/>
        </p:nvSpPr>
        <p:spPr bwMode="auto"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Imagens ilustrativas de inspeção de cadeias de isoladores</a:t>
            </a:r>
            <a:endParaRPr lang="en-US" sz="950"/>
          </a:p>
        </p:txBody>
      </p:sp>
      <p:sp>
        <p:nvSpPr>
          <p:cNvPr id="1398748652" name="Shape 3"/>
          <p:cNvSpPr/>
          <p:nvPr/>
        </p:nvSpPr>
        <p:spPr bwMode="auto"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46426808" name="Text 4"/>
          <p:cNvSpPr/>
          <p:nvPr/>
        </p:nvSpPr>
        <p:spPr bwMode="auto"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Alto volume de dados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Torna a inspeção manual ineficaz</a:t>
            </a:r>
            <a:endParaRPr lang="en-US" sz="1250"/>
          </a:p>
        </p:txBody>
      </p:sp>
      <p:sp>
        <p:nvSpPr>
          <p:cNvPr id="1744265676" name="Shape 5"/>
          <p:cNvSpPr/>
          <p:nvPr/>
        </p:nvSpPr>
        <p:spPr bwMode="auto"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216205913" name="Text 6"/>
          <p:cNvSpPr/>
          <p:nvPr/>
        </p:nvSpPr>
        <p:spPr bwMode="auto"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Fundos complexos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Vegetação, rios e ocupação urbana ao redor do isolador</a:t>
            </a:r>
            <a:endParaRPr lang="en-US" sz="1250"/>
          </a:p>
        </p:txBody>
      </p:sp>
      <p:sp>
        <p:nvSpPr>
          <p:cNvPr id="393285490" name="Shape 7"/>
          <p:cNvSpPr/>
          <p:nvPr/>
        </p:nvSpPr>
        <p:spPr bwMode="auto"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39527910" name="Text 8"/>
          <p:cNvSpPr/>
          <p:nvPr/>
        </p:nvSpPr>
        <p:spPr bwMode="auto"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Anotação manual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Demorada e propensa a erros</a:t>
            </a:r>
            <a:endParaRPr lang="en-US" sz="1250"/>
          </a:p>
        </p:txBody>
      </p:sp>
      <p:sp>
        <p:nvSpPr>
          <p:cNvPr id="1098840316" name="Text 9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Contexto elétrico</a:t>
            </a:r>
            <a:endParaRPr lang="en-US" sz="900"/>
          </a:p>
        </p:txBody>
      </p:sp>
      <p:sp>
        <p:nvSpPr>
          <p:cNvPr id="480173148" name="Text 10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8654087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1050"/>
          </a:p>
        </p:txBody>
      </p:sp>
      <p:sp>
        <p:nvSpPr>
          <p:cNvPr id="140931826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A IA depende da imagem que recebe</a:t>
            </a:r>
            <a:endParaRPr lang="en-US" sz="2800"/>
          </a:p>
        </p:txBody>
      </p:sp>
      <p:pic>
        <p:nvPicPr>
          <p:cNvPr id="43315779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2034846634" name="Text 2"/>
          <p:cNvSpPr/>
          <p:nvPr/>
        </p:nvSpPr>
        <p:spPr bwMode="auto"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Aquisição</a:t>
            </a:r>
            <a:endParaRPr lang="en-US" sz="1300"/>
          </a:p>
        </p:txBody>
      </p:sp>
      <p:sp>
        <p:nvSpPr>
          <p:cNvPr id="515402355" name="Text 3"/>
          <p:cNvSpPr/>
          <p:nvPr/>
        </p:nvSpPr>
        <p:spPr bwMode="auto">
          <a:xfrm>
            <a:off x="502920" y="3017519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Imagem da cadeia</a:t>
            </a:r>
            <a:endParaRPr lang="en-US" sz="1050"/>
          </a:p>
        </p:txBody>
      </p:sp>
      <p:sp>
        <p:nvSpPr>
          <p:cNvPr id="1182088665" name="Text 4"/>
          <p:cNvSpPr/>
          <p:nvPr/>
        </p:nvSpPr>
        <p:spPr bwMode="auto"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300"/>
          </a:p>
        </p:txBody>
      </p:sp>
      <p:pic>
        <p:nvPicPr>
          <p:cNvPr id="124030860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1794428823" name="Shape 5"/>
          <p:cNvSpPr/>
          <p:nvPr/>
        </p:nvSpPr>
        <p:spPr bwMode="auto"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355907557" name="Text 6"/>
          <p:cNvSpPr/>
          <p:nvPr/>
        </p:nvSpPr>
        <p:spPr bwMode="auto"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Pré-processamento</a:t>
            </a:r>
            <a:endParaRPr lang="en-US" sz="1300"/>
          </a:p>
        </p:txBody>
      </p:sp>
      <p:sp>
        <p:nvSpPr>
          <p:cNvPr id="1504461561" name="Text 7"/>
          <p:cNvSpPr/>
          <p:nvPr/>
        </p:nvSpPr>
        <p:spPr bwMode="auto">
          <a:xfrm>
            <a:off x="2624328" y="3017519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Tratamento da imagem</a:t>
            </a:r>
            <a:endParaRPr lang="en-US" sz="1050"/>
          </a:p>
        </p:txBody>
      </p:sp>
      <p:sp>
        <p:nvSpPr>
          <p:cNvPr id="1214303600" name="Text 8"/>
          <p:cNvSpPr/>
          <p:nvPr/>
        </p:nvSpPr>
        <p:spPr bwMode="auto"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300"/>
          </a:p>
        </p:txBody>
      </p:sp>
      <p:pic>
        <p:nvPicPr>
          <p:cNvPr id="1505225572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2146189848" name="Text 9"/>
          <p:cNvSpPr/>
          <p:nvPr/>
        </p:nvSpPr>
        <p:spPr bwMode="auto"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Modelo</a:t>
            </a:r>
            <a:endParaRPr lang="en-US" sz="1300"/>
          </a:p>
        </p:txBody>
      </p:sp>
      <p:sp>
        <p:nvSpPr>
          <p:cNvPr id="1240035239" name="Text 10"/>
          <p:cNvSpPr/>
          <p:nvPr/>
        </p:nvSpPr>
        <p:spPr bwMode="auto">
          <a:xfrm>
            <a:off x="4745736" y="3017519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Rede neural</a:t>
            </a:r>
            <a:endParaRPr lang="en-US" sz="1050"/>
          </a:p>
        </p:txBody>
      </p:sp>
      <p:sp>
        <p:nvSpPr>
          <p:cNvPr id="1106126393" name="Text 11"/>
          <p:cNvSpPr/>
          <p:nvPr/>
        </p:nvSpPr>
        <p:spPr bwMode="auto"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300"/>
          </a:p>
        </p:txBody>
      </p:sp>
      <p:pic>
        <p:nvPicPr>
          <p:cNvPr id="749620639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672811507" name="Text 12"/>
          <p:cNvSpPr/>
          <p:nvPr/>
        </p:nvSpPr>
        <p:spPr bwMode="auto"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Diagnóstico</a:t>
            </a:r>
            <a:endParaRPr lang="en-US" sz="1300"/>
          </a:p>
        </p:txBody>
      </p:sp>
      <p:sp>
        <p:nvSpPr>
          <p:cNvPr id="268892787" name="Text 13"/>
          <p:cNvSpPr/>
          <p:nvPr/>
        </p:nvSpPr>
        <p:spPr bwMode="auto">
          <a:xfrm>
            <a:off x="6867144" y="3017519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Com falha ou sem falha</a:t>
            </a:r>
            <a:endParaRPr lang="en-US" sz="1050"/>
          </a:p>
        </p:txBody>
      </p:sp>
      <p:sp>
        <p:nvSpPr>
          <p:cNvPr id="1879052729" name="Shape 14"/>
          <p:cNvSpPr/>
          <p:nvPr/>
        </p:nvSpPr>
        <p:spPr bwMode="auto"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324178188" name="Text 15"/>
          <p:cNvSpPr/>
          <p:nvPr/>
        </p:nvSpPr>
        <p:spPr bwMode="auto"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Foco deste trabalho</a:t>
            </a:r>
            <a:endParaRPr lang="en-US" sz="1000"/>
          </a:p>
        </p:txBody>
      </p:sp>
      <p:sp>
        <p:nvSpPr>
          <p:cNvPr id="1169090730" name="Shape 16"/>
          <p:cNvSpPr/>
          <p:nvPr/>
        </p:nvSpPr>
        <p:spPr bwMode="auto"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93776966" name="Text 17"/>
          <p:cNvSpPr/>
          <p:nvPr/>
        </p:nvSpPr>
        <p:spPr bwMode="auto"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Não basta investir em arquiteturas complexas se a imagem oculta o defeito.</a:t>
            </a:r>
            <a:endParaRPr lang="en-US" sz="1500"/>
          </a:p>
        </p:txBody>
      </p:sp>
      <p:sp>
        <p:nvSpPr>
          <p:cNvPr id="911315014" name="Text 1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900"/>
          </a:p>
        </p:txBody>
      </p:sp>
      <p:sp>
        <p:nvSpPr>
          <p:cNvPr id="54307114" name="Text 19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7237925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ESTADO DA ARTE</a:t>
            </a:r>
            <a:endParaRPr lang="en-US" sz="1050"/>
          </a:p>
        </p:txBody>
      </p:sp>
      <p:sp>
        <p:nvSpPr>
          <p:cNvPr id="2070626522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A literatura não chega a um consenso</a:t>
            </a:r>
            <a:endParaRPr lang="en-US" sz="2800"/>
          </a:p>
        </p:txBody>
      </p:sp>
      <p:sp>
        <p:nvSpPr>
          <p:cNvPr id="695145038" name="Shape 2"/>
          <p:cNvSpPr/>
          <p:nvPr/>
        </p:nvSpPr>
        <p:spPr bwMode="auto"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675551793" name="Shape 3"/>
          <p:cNvSpPr/>
          <p:nvPr/>
        </p:nvSpPr>
        <p:spPr bwMode="auto"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1026183504" name="Text 4"/>
          <p:cNvSpPr/>
          <p:nvPr/>
        </p:nvSpPr>
        <p:spPr bwMode="auto"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=</a:t>
            </a:r>
            <a:endParaRPr lang="en-US" sz="2600"/>
          </a:p>
        </p:txBody>
      </p:sp>
      <p:sp>
        <p:nvSpPr>
          <p:cNvPr id="2017233584" name="Text 5"/>
          <p:cNvSpPr/>
          <p:nvPr/>
        </p:nvSpPr>
        <p:spPr bwMode="auto"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Sem impacto significativo</a:t>
            </a:r>
            <a:endParaRPr lang="en-US" sz="1400"/>
          </a:p>
        </p:txBody>
      </p:sp>
      <p:sp>
        <p:nvSpPr>
          <p:cNvPr id="461870640" name="Text 6"/>
          <p:cNvSpPr/>
          <p:nvPr/>
        </p:nvSpPr>
        <p:spPr bwMode="auto"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4999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Liu et al. (2021)</a:t>
            </a:r>
            <a:endParaRPr lang="en-US" sz="1150"/>
          </a:p>
          <a:p>
            <a:pPr marL="0" indent="0" algn="ctr">
              <a:lnSpc>
                <a:spcPct val="114999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Wang et al. (2023)</a:t>
            </a:r>
            <a:endParaRPr lang="en-US" sz="1150"/>
          </a:p>
        </p:txBody>
      </p:sp>
      <p:sp>
        <p:nvSpPr>
          <p:cNvPr id="193961494" name="Shape 7"/>
          <p:cNvSpPr/>
          <p:nvPr/>
        </p:nvSpPr>
        <p:spPr bwMode="auto"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32952897" name="Shape 8"/>
          <p:cNvSpPr/>
          <p:nvPr/>
        </p:nvSpPr>
        <p:spPr bwMode="auto"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81983410" name="Text 9"/>
          <p:cNvSpPr/>
          <p:nvPr/>
        </p:nvSpPr>
        <p:spPr bwMode="auto"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▲</a:t>
            </a:r>
            <a:endParaRPr lang="en-US" sz="2600"/>
          </a:p>
        </p:txBody>
      </p:sp>
      <p:sp>
        <p:nvSpPr>
          <p:cNvPr id="941252036" name="Text 10"/>
          <p:cNvSpPr/>
          <p:nvPr/>
        </p:nvSpPr>
        <p:spPr bwMode="auto"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Melhorou o desempenho</a:t>
            </a:r>
            <a:endParaRPr lang="en-US" sz="1400"/>
          </a:p>
        </p:txBody>
      </p:sp>
      <p:sp>
        <p:nvSpPr>
          <p:cNvPr id="919060983" name="Text 11"/>
          <p:cNvSpPr/>
          <p:nvPr/>
        </p:nvSpPr>
        <p:spPr bwMode="auto"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4999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Zhang et al. (2022)</a:t>
            </a:r>
            <a:endParaRPr lang="en-US" sz="1150"/>
          </a:p>
          <a:p>
            <a:pPr marL="0" indent="0" algn="ctr">
              <a:lnSpc>
                <a:spcPct val="114999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Salvi et al. (2021)</a:t>
            </a:r>
            <a:endParaRPr lang="en-US" sz="1150"/>
          </a:p>
        </p:txBody>
      </p:sp>
      <p:sp>
        <p:nvSpPr>
          <p:cNvPr id="1468380359" name="Shape 12"/>
          <p:cNvSpPr/>
          <p:nvPr/>
        </p:nvSpPr>
        <p:spPr bwMode="auto"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08073480" name="Shape 13"/>
          <p:cNvSpPr/>
          <p:nvPr/>
        </p:nvSpPr>
        <p:spPr bwMode="auto"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63809416" name="Text 14"/>
          <p:cNvSpPr/>
          <p:nvPr/>
        </p:nvSpPr>
        <p:spPr bwMode="auto"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▼</a:t>
            </a:r>
            <a:endParaRPr lang="en-US" sz="2600"/>
          </a:p>
        </p:txBody>
      </p:sp>
      <p:sp>
        <p:nvSpPr>
          <p:cNvPr id="696234572" name="Text 15"/>
          <p:cNvSpPr/>
          <p:nvPr/>
        </p:nvSpPr>
        <p:spPr bwMode="auto"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Riscos e efeito negativo</a:t>
            </a:r>
            <a:endParaRPr lang="en-US" sz="1400"/>
          </a:p>
        </p:txBody>
      </p:sp>
      <p:sp>
        <p:nvSpPr>
          <p:cNvPr id="424075842" name="Text 16"/>
          <p:cNvSpPr/>
          <p:nvPr/>
        </p:nvSpPr>
        <p:spPr bwMode="auto"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4999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Öztürk e Akdemir (2018)</a:t>
            </a:r>
            <a:endParaRPr lang="en-US" sz="1150"/>
          </a:p>
          <a:p>
            <a:pPr marL="0" indent="0" algn="ctr">
              <a:lnSpc>
                <a:spcPct val="114999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Rodrigues et al. (2020)</a:t>
            </a:r>
            <a:endParaRPr lang="en-US" sz="1150"/>
          </a:p>
        </p:txBody>
      </p:sp>
      <p:sp>
        <p:nvSpPr>
          <p:cNvPr id="1629779124" name="Shape 17"/>
          <p:cNvSpPr/>
          <p:nvPr/>
        </p:nvSpPr>
        <p:spPr bwMode="auto"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221822797" name="Text 18"/>
          <p:cNvSpPr/>
          <p:nvPr/>
        </p:nvSpPr>
        <p:spPr bwMode="auto"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Nenhum estudo propõe um método para determinar os processamentos mais eficientes.</a:t>
            </a:r>
            <a:endParaRPr lang="en-US" sz="1400"/>
          </a:p>
        </p:txBody>
      </p:sp>
      <p:sp>
        <p:nvSpPr>
          <p:cNvPr id="2126032464" name="Text 19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900"/>
          </a:p>
        </p:txBody>
      </p:sp>
      <p:sp>
        <p:nvSpPr>
          <p:cNvPr id="527938430" name="Text 20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1226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373779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1001890245" name="Text 0"/>
          <p:cNvSpPr/>
          <p:nvPr/>
        </p:nvSpPr>
        <p:spPr bwMode="auto"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OBJETIVO</a:t>
            </a:r>
            <a:endParaRPr lang="en-US" sz="1050"/>
          </a:p>
        </p:txBody>
      </p:sp>
      <p:sp>
        <p:nvSpPr>
          <p:cNvPr id="1017318343" name="Text 1"/>
          <p:cNvSpPr/>
          <p:nvPr/>
        </p:nvSpPr>
        <p:spPr bwMode="auto"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Objetivo geral</a:t>
            </a:r>
            <a:endParaRPr lang="en-US" sz="2800"/>
          </a:p>
        </p:txBody>
      </p:sp>
      <p:sp>
        <p:nvSpPr>
          <p:cNvPr id="464334496" name="Shape 2"/>
          <p:cNvSpPr/>
          <p:nvPr/>
        </p:nvSpPr>
        <p:spPr bwMode="auto"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1201196330" name="Text 3"/>
          <p:cNvSpPr/>
          <p:nvPr/>
        </p:nvSpPr>
        <p:spPr bwMode="auto"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en-US" sz="1600"/>
          </a:p>
        </p:txBody>
      </p:sp>
      <p:sp>
        <p:nvSpPr>
          <p:cNvPr id="1400612287" name="Shape 4"/>
          <p:cNvSpPr/>
          <p:nvPr/>
        </p:nvSpPr>
        <p:spPr bwMode="auto"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508538032" name="Text 5"/>
          <p:cNvSpPr/>
          <p:nvPr/>
        </p:nvSpPr>
        <p:spPr bwMode="auto"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Comparar</a:t>
            </a:r>
            <a:endParaRPr lang="en-US" sz="1150"/>
          </a:p>
        </p:txBody>
      </p:sp>
      <p:sp>
        <p:nvSpPr>
          <p:cNvPr id="47188583" name="Shape 6"/>
          <p:cNvSpPr/>
          <p:nvPr/>
        </p:nvSpPr>
        <p:spPr bwMode="auto"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641486157" name="Text 7"/>
          <p:cNvSpPr/>
          <p:nvPr/>
        </p:nvSpPr>
        <p:spPr bwMode="auto"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Selecionar</a:t>
            </a:r>
            <a:endParaRPr lang="en-US" sz="1150"/>
          </a:p>
        </p:txBody>
      </p:sp>
      <p:sp>
        <p:nvSpPr>
          <p:cNvPr id="1565008180" name="Shape 8"/>
          <p:cNvSpPr/>
          <p:nvPr/>
        </p:nvSpPr>
        <p:spPr bwMode="auto"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302019992" name="Text 9"/>
          <p:cNvSpPr/>
          <p:nvPr/>
        </p:nvSpPr>
        <p:spPr bwMode="auto"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Combinar</a:t>
            </a:r>
            <a:endParaRPr lang="en-US" sz="1150"/>
          </a:p>
        </p:txBody>
      </p:sp>
      <p:sp>
        <p:nvSpPr>
          <p:cNvPr id="1204764457" name="Shape 10"/>
          <p:cNvSpPr/>
          <p:nvPr/>
        </p:nvSpPr>
        <p:spPr bwMode="auto"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062171524" name="Text 11"/>
          <p:cNvSpPr/>
          <p:nvPr/>
        </p:nvSpPr>
        <p:spPr bwMode="auto"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Aprimorar</a:t>
            </a:r>
            <a:endParaRPr lang="en-US" sz="1150"/>
          </a:p>
        </p:txBody>
      </p:sp>
      <p:sp>
        <p:nvSpPr>
          <p:cNvPr id="1852463231" name="Text 12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900"/>
          </a:p>
        </p:txBody>
      </p:sp>
      <p:sp>
        <p:nvSpPr>
          <p:cNvPr id="2035806896" name="Text 13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5471796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OBJETIVO</a:t>
            </a:r>
            <a:endParaRPr lang="en-US" sz="1050"/>
          </a:p>
        </p:txBody>
      </p:sp>
      <p:sp>
        <p:nvSpPr>
          <p:cNvPr id="1257770705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Objetivos específicos</a:t>
            </a:r>
            <a:endParaRPr lang="en-US" sz="2800"/>
          </a:p>
        </p:txBody>
      </p:sp>
      <p:sp>
        <p:nvSpPr>
          <p:cNvPr id="2020847193" name="Shape 2"/>
          <p:cNvSpPr/>
          <p:nvPr/>
        </p:nvSpPr>
        <p:spPr bwMode="auto"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646006" name="Shape 3"/>
          <p:cNvSpPr/>
          <p:nvPr/>
        </p:nvSpPr>
        <p:spPr bwMode="auto"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44752058" name="Text 4"/>
          <p:cNvSpPr/>
          <p:nvPr/>
        </p:nvSpPr>
        <p:spPr bwMode="auto"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100"/>
          </a:p>
        </p:txBody>
      </p:sp>
      <p:sp>
        <p:nvSpPr>
          <p:cNvPr id="203806408" name="Text 5"/>
          <p:cNvSpPr/>
          <p:nvPr/>
        </p:nvSpPr>
        <p:spPr bwMode="auto"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Métricas</a:t>
            </a:r>
            <a:endParaRPr lang="en-US" sz="1250"/>
          </a:p>
        </p:txBody>
      </p:sp>
      <p:sp>
        <p:nvSpPr>
          <p:cNvPr id="1149493799" name="Text 6"/>
          <p:cNvSpPr/>
          <p:nvPr/>
        </p:nvSpPr>
        <p:spPr bwMode="auto"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Estabelecer métricas para avaliar a eficácia dos processamentos</a:t>
            </a:r>
            <a:endParaRPr lang="en-US" sz="1050"/>
          </a:p>
        </p:txBody>
      </p:sp>
      <p:sp>
        <p:nvSpPr>
          <p:cNvPr id="364099881" name="Shape 7"/>
          <p:cNvSpPr/>
          <p:nvPr/>
        </p:nvSpPr>
        <p:spPr bwMode="auto"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76443115" name="Shape 8"/>
          <p:cNvSpPr/>
          <p:nvPr/>
        </p:nvSpPr>
        <p:spPr bwMode="auto"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39184693" name="Text 9"/>
          <p:cNvSpPr/>
          <p:nvPr/>
        </p:nvSpPr>
        <p:spPr bwMode="auto"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100"/>
          </a:p>
        </p:txBody>
      </p:sp>
      <p:sp>
        <p:nvSpPr>
          <p:cNvPr id="1897301183" name="Text 10"/>
          <p:cNvSpPr/>
          <p:nvPr/>
        </p:nvSpPr>
        <p:spPr bwMode="auto"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Tipo de modelo</a:t>
            </a:r>
            <a:endParaRPr lang="en-US" sz="1250"/>
          </a:p>
        </p:txBody>
      </p:sp>
      <p:sp>
        <p:nvSpPr>
          <p:cNvPr id="1239041762" name="Text 11"/>
          <p:cNvSpPr/>
          <p:nvPr/>
        </p:nvSpPr>
        <p:spPr bwMode="auto"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Determinar o tipo de rede neural para avaliar os processamentos</a:t>
            </a:r>
            <a:endParaRPr lang="en-US" sz="1050"/>
          </a:p>
        </p:txBody>
      </p:sp>
      <p:sp>
        <p:nvSpPr>
          <p:cNvPr id="1435919930" name="Shape 12"/>
          <p:cNvSpPr/>
          <p:nvPr/>
        </p:nvSpPr>
        <p:spPr bwMode="auto"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677142071" name="Shape 13"/>
          <p:cNvSpPr/>
          <p:nvPr/>
        </p:nvSpPr>
        <p:spPr bwMode="auto"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3064312" name="Text 14"/>
          <p:cNvSpPr/>
          <p:nvPr/>
        </p:nvSpPr>
        <p:spPr bwMode="auto"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100"/>
          </a:p>
        </p:txBody>
      </p:sp>
      <p:sp>
        <p:nvSpPr>
          <p:cNvPr id="1835077787" name="Text 15"/>
          <p:cNvSpPr/>
          <p:nvPr/>
        </p:nvSpPr>
        <p:spPr bwMode="auto"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Construção do modelo</a:t>
            </a:r>
            <a:endParaRPr lang="en-US" sz="1250"/>
          </a:p>
        </p:txBody>
      </p:sp>
      <p:sp>
        <p:nvSpPr>
          <p:cNvPr id="405692785" name="Text 16"/>
          <p:cNvSpPr/>
          <p:nvPr/>
        </p:nvSpPr>
        <p:spPr bwMode="auto"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Construir redes de avaliação, sem buscar um modelo definitivo</a:t>
            </a:r>
            <a:endParaRPr lang="en-US" sz="1050"/>
          </a:p>
        </p:txBody>
      </p:sp>
      <p:sp>
        <p:nvSpPr>
          <p:cNvPr id="1920264329" name="Shape 17"/>
          <p:cNvSpPr/>
          <p:nvPr/>
        </p:nvSpPr>
        <p:spPr bwMode="auto"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143756537" name="Shape 18"/>
          <p:cNvSpPr/>
          <p:nvPr/>
        </p:nvSpPr>
        <p:spPr bwMode="auto"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02773922" name="Text 19"/>
          <p:cNvSpPr/>
          <p:nvPr/>
        </p:nvSpPr>
        <p:spPr bwMode="auto"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100"/>
          </a:p>
        </p:txBody>
      </p:sp>
      <p:sp>
        <p:nvSpPr>
          <p:cNvPr id="1255934454" name="Text 20"/>
          <p:cNvSpPr/>
          <p:nvPr/>
        </p:nvSpPr>
        <p:spPr bwMode="auto"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Efeito do modelo</a:t>
            </a:r>
            <a:endParaRPr lang="en-US" sz="1250"/>
          </a:p>
        </p:txBody>
      </p:sp>
      <p:sp>
        <p:nvSpPr>
          <p:cNvPr id="798578116" name="Text 21"/>
          <p:cNvSpPr/>
          <p:nvPr/>
        </p:nvSpPr>
        <p:spPr bwMode="auto"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Analisar o impacto da escolha do modelo no processamento</a:t>
            </a:r>
            <a:endParaRPr lang="en-US" sz="1050"/>
          </a:p>
        </p:txBody>
      </p:sp>
      <p:sp>
        <p:nvSpPr>
          <p:cNvPr id="634090353" name="Shape 22"/>
          <p:cNvSpPr/>
          <p:nvPr/>
        </p:nvSpPr>
        <p:spPr bwMode="auto"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27309084" name="Shape 23"/>
          <p:cNvSpPr/>
          <p:nvPr/>
        </p:nvSpPr>
        <p:spPr bwMode="auto">
          <a:xfrm>
            <a:off x="685800" y="3017519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061583444" name="Text 24"/>
          <p:cNvSpPr/>
          <p:nvPr/>
        </p:nvSpPr>
        <p:spPr bwMode="auto">
          <a:xfrm>
            <a:off x="685800" y="301751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100"/>
          </a:p>
        </p:txBody>
      </p:sp>
      <p:sp>
        <p:nvSpPr>
          <p:cNvPr id="925992682" name="Text 25"/>
          <p:cNvSpPr/>
          <p:nvPr/>
        </p:nvSpPr>
        <p:spPr bwMode="auto"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Efeito do dataset</a:t>
            </a:r>
            <a:endParaRPr lang="en-US" sz="1250"/>
          </a:p>
        </p:txBody>
      </p:sp>
      <p:sp>
        <p:nvSpPr>
          <p:cNvPr id="382773051" name="Text 26"/>
          <p:cNvSpPr/>
          <p:nvPr/>
        </p:nvSpPr>
        <p:spPr bwMode="auto"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Avaliar a influência do conjunto de dados na eficácia</a:t>
            </a:r>
            <a:endParaRPr lang="en-US" sz="1050"/>
          </a:p>
        </p:txBody>
      </p:sp>
      <p:sp>
        <p:nvSpPr>
          <p:cNvPr id="348390122" name="Shape 27"/>
          <p:cNvSpPr/>
          <p:nvPr/>
        </p:nvSpPr>
        <p:spPr bwMode="auto"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95339334" name="Shape 28"/>
          <p:cNvSpPr/>
          <p:nvPr/>
        </p:nvSpPr>
        <p:spPr bwMode="auto">
          <a:xfrm>
            <a:off x="4800600" y="3017519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017035716" name="Text 29"/>
          <p:cNvSpPr/>
          <p:nvPr/>
        </p:nvSpPr>
        <p:spPr bwMode="auto">
          <a:xfrm>
            <a:off x="4800600" y="301751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100"/>
          </a:p>
        </p:txBody>
      </p:sp>
      <p:sp>
        <p:nvSpPr>
          <p:cNvPr id="1673447981" name="Text 30"/>
          <p:cNvSpPr/>
          <p:nvPr/>
        </p:nvSpPr>
        <p:spPr bwMode="auto"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Combinação</a:t>
            </a:r>
            <a:endParaRPr lang="en-US" sz="1250"/>
          </a:p>
        </p:txBody>
      </p:sp>
      <p:sp>
        <p:nvSpPr>
          <p:cNvPr id="2065615599" name="Text 31"/>
          <p:cNvSpPr/>
          <p:nvPr/>
        </p:nvSpPr>
        <p:spPr bwMode="auto"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Aprimorar os processamentos combinando abordagens unitárias</a:t>
            </a:r>
            <a:endParaRPr lang="en-US" sz="1050"/>
          </a:p>
        </p:txBody>
      </p:sp>
      <p:sp>
        <p:nvSpPr>
          <p:cNvPr id="1197654625" name="Shape 32"/>
          <p:cNvSpPr/>
          <p:nvPr/>
        </p:nvSpPr>
        <p:spPr bwMode="auto"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58340887" name="Shape 33"/>
          <p:cNvSpPr/>
          <p:nvPr/>
        </p:nvSpPr>
        <p:spPr bwMode="auto"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901699703" name="Text 34"/>
          <p:cNvSpPr/>
          <p:nvPr/>
        </p:nvSpPr>
        <p:spPr bwMode="auto"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7</a:t>
            </a:r>
            <a:endParaRPr lang="en-US" sz="1100"/>
          </a:p>
        </p:txBody>
      </p:sp>
      <p:sp>
        <p:nvSpPr>
          <p:cNvPr id="1678100160" name="Text 35"/>
          <p:cNvSpPr/>
          <p:nvPr/>
        </p:nvSpPr>
        <p:spPr bwMode="auto"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Ajuste automático</a:t>
            </a:r>
            <a:endParaRPr lang="en-US" sz="1250"/>
          </a:p>
        </p:txBody>
      </p:sp>
      <p:sp>
        <p:nvSpPr>
          <p:cNvPr id="2060774783" name="Text 36"/>
          <p:cNvSpPr/>
          <p:nvPr/>
        </p:nvSpPr>
        <p:spPr bwMode="auto"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Otimizar parâmetros sem intervenção manual extensa</a:t>
            </a:r>
            <a:endParaRPr lang="en-US" sz="1050"/>
          </a:p>
        </p:txBody>
      </p:sp>
      <p:sp>
        <p:nvSpPr>
          <p:cNvPr id="744769498" name="Text 37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900"/>
          </a:p>
        </p:txBody>
      </p:sp>
      <p:sp>
        <p:nvSpPr>
          <p:cNvPr id="893360702" name="Text 38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45056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METODOLOGIA</a:t>
            </a:r>
            <a:endParaRPr lang="en-US" sz="1050"/>
          </a:p>
        </p:txBody>
      </p:sp>
      <p:sp>
        <p:nvSpPr>
          <p:cNvPr id="545001225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Estruturada, iterativa e modular</a:t>
            </a:r>
            <a:endParaRPr lang="en-US" sz="2800"/>
          </a:p>
        </p:txBody>
      </p:sp>
      <p:sp>
        <p:nvSpPr>
          <p:cNvPr id="2015527652" name="Shape 2"/>
          <p:cNvSpPr/>
          <p:nvPr/>
        </p:nvSpPr>
        <p:spPr bwMode="auto"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77958243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1245502699" name="Shape 3"/>
          <p:cNvSpPr/>
          <p:nvPr/>
        </p:nvSpPr>
        <p:spPr bwMode="auto"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08972278" name="Shape 4"/>
          <p:cNvSpPr/>
          <p:nvPr/>
        </p:nvSpPr>
        <p:spPr bwMode="auto"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5175970" name="Text 5"/>
          <p:cNvSpPr/>
          <p:nvPr/>
        </p:nvSpPr>
        <p:spPr bwMode="auto"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000"/>
          </a:p>
        </p:txBody>
      </p:sp>
      <p:sp>
        <p:nvSpPr>
          <p:cNvPr id="556146314" name="Text 6"/>
          <p:cNvSpPr/>
          <p:nvPr/>
        </p:nvSpPr>
        <p:spPr bwMode="auto"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Seleção e validação do dataset</a:t>
            </a:r>
            <a:endParaRPr lang="en-US" sz="1200"/>
          </a:p>
        </p:txBody>
      </p:sp>
      <p:sp>
        <p:nvSpPr>
          <p:cNvPr id="930927219" name="Shape 7"/>
          <p:cNvSpPr/>
          <p:nvPr/>
        </p:nvSpPr>
        <p:spPr bwMode="auto"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53905911" name="Shape 8"/>
          <p:cNvSpPr/>
          <p:nvPr/>
        </p:nvSpPr>
        <p:spPr bwMode="auto"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94928680" name="Text 9"/>
          <p:cNvSpPr/>
          <p:nvPr/>
        </p:nvSpPr>
        <p:spPr bwMode="auto"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000"/>
          </a:p>
        </p:txBody>
      </p:sp>
      <p:sp>
        <p:nvSpPr>
          <p:cNvPr id="1473112042" name="Text 10"/>
          <p:cNvSpPr/>
          <p:nvPr/>
        </p:nvSpPr>
        <p:spPr bwMode="auto"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Pré-processamento</a:t>
            </a:r>
            <a:endParaRPr lang="en-US" sz="1200"/>
          </a:p>
        </p:txBody>
      </p:sp>
      <p:sp>
        <p:nvSpPr>
          <p:cNvPr id="1635867809" name="Shape 11"/>
          <p:cNvSpPr/>
          <p:nvPr/>
        </p:nvSpPr>
        <p:spPr bwMode="auto"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93215035" name="Shape 12"/>
          <p:cNvSpPr/>
          <p:nvPr/>
        </p:nvSpPr>
        <p:spPr bwMode="auto"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55904747" name="Text 13"/>
          <p:cNvSpPr/>
          <p:nvPr/>
        </p:nvSpPr>
        <p:spPr bwMode="auto"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000"/>
          </a:p>
        </p:txBody>
      </p:sp>
      <p:sp>
        <p:nvSpPr>
          <p:cNvPr id="879795157" name="Text 14"/>
          <p:cNvSpPr/>
          <p:nvPr/>
        </p:nvSpPr>
        <p:spPr bwMode="auto"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Ajuste de parâmetros</a:t>
            </a:r>
            <a:endParaRPr lang="en-US" sz="1200"/>
          </a:p>
        </p:txBody>
      </p:sp>
      <p:sp>
        <p:nvSpPr>
          <p:cNvPr id="1478872698" name="Shape 15"/>
          <p:cNvSpPr/>
          <p:nvPr/>
        </p:nvSpPr>
        <p:spPr bwMode="auto"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39178186" name="Shape 16"/>
          <p:cNvSpPr/>
          <p:nvPr/>
        </p:nvSpPr>
        <p:spPr bwMode="auto"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2458887" name="Text 17"/>
          <p:cNvSpPr/>
          <p:nvPr/>
        </p:nvSpPr>
        <p:spPr bwMode="auto"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000"/>
          </a:p>
        </p:txBody>
      </p:sp>
      <p:sp>
        <p:nvSpPr>
          <p:cNvPr id="1573038705" name="Text 18"/>
          <p:cNvSpPr/>
          <p:nvPr/>
        </p:nvSpPr>
        <p:spPr bwMode="auto"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Escolha e construção do modelo</a:t>
            </a:r>
            <a:endParaRPr lang="en-US" sz="1200"/>
          </a:p>
        </p:txBody>
      </p:sp>
      <p:sp>
        <p:nvSpPr>
          <p:cNvPr id="970501447" name="Shape 19"/>
          <p:cNvSpPr/>
          <p:nvPr/>
        </p:nvSpPr>
        <p:spPr bwMode="auto"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14560463" name="Shape 20"/>
          <p:cNvSpPr/>
          <p:nvPr/>
        </p:nvSpPr>
        <p:spPr bwMode="auto"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51189091" name="Text 21"/>
          <p:cNvSpPr/>
          <p:nvPr/>
        </p:nvSpPr>
        <p:spPr bwMode="auto"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000"/>
          </a:p>
        </p:txBody>
      </p:sp>
      <p:sp>
        <p:nvSpPr>
          <p:cNvPr id="811056566" name="Text 22"/>
          <p:cNvSpPr/>
          <p:nvPr/>
        </p:nvSpPr>
        <p:spPr bwMode="auto"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Treinamento</a:t>
            </a:r>
            <a:endParaRPr lang="en-US" sz="1200"/>
          </a:p>
        </p:txBody>
      </p:sp>
      <p:sp>
        <p:nvSpPr>
          <p:cNvPr id="1447106806" name="Shape 23"/>
          <p:cNvSpPr/>
          <p:nvPr/>
        </p:nvSpPr>
        <p:spPr bwMode="auto"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33082000" name="Shape 24"/>
          <p:cNvSpPr/>
          <p:nvPr/>
        </p:nvSpPr>
        <p:spPr bwMode="auto"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835288048" name="Text 25"/>
          <p:cNvSpPr/>
          <p:nvPr/>
        </p:nvSpPr>
        <p:spPr bwMode="auto"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000"/>
          </a:p>
        </p:txBody>
      </p:sp>
      <p:sp>
        <p:nvSpPr>
          <p:cNvPr id="749743050" name="Text 26"/>
          <p:cNvSpPr/>
          <p:nvPr/>
        </p:nvSpPr>
        <p:spPr bwMode="auto"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Avaliação e ajustes</a:t>
            </a:r>
            <a:endParaRPr lang="en-US" sz="1200"/>
          </a:p>
        </p:txBody>
      </p:sp>
      <p:sp>
        <p:nvSpPr>
          <p:cNvPr id="1140192964" name="Shape 27"/>
          <p:cNvSpPr/>
          <p:nvPr/>
        </p:nvSpPr>
        <p:spPr bwMode="auto"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683704984" name="Text 28"/>
          <p:cNvSpPr/>
          <p:nvPr/>
        </p:nvSpPr>
        <p:spPr bwMode="auto">
          <a:xfrm>
            <a:off x="2514600" y="3520440"/>
            <a:ext cx="60350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↺  </a:t>
            </a:r>
            <a:r>
              <a:rPr lang="en-US"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avaliação retroalimenta o pré-processamento e a escolha do modelo.</a:t>
            </a:r>
            <a:endParaRPr lang="en-US" sz="2200"/>
          </a:p>
        </p:txBody>
      </p:sp>
      <p:sp>
        <p:nvSpPr>
          <p:cNvPr id="1624354278" name="Text 29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900"/>
          </a:p>
        </p:txBody>
      </p:sp>
      <p:sp>
        <p:nvSpPr>
          <p:cNvPr id="1678456777" name="Text 30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546025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METODOLOGIA</a:t>
            </a:r>
            <a:endParaRPr lang="en-US" sz="1050"/>
          </a:p>
        </p:txBody>
      </p:sp>
      <p:sp>
        <p:nvSpPr>
          <p:cNvPr id="1603560942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Quatro decisões conduzem o fluxo</a:t>
            </a:r>
            <a:endParaRPr lang="en-US" sz="2800"/>
          </a:p>
        </p:txBody>
      </p:sp>
      <p:sp>
        <p:nvSpPr>
          <p:cNvPr id="1094379811" name="Shape 2"/>
          <p:cNvSpPr/>
          <p:nvPr/>
        </p:nvSpPr>
        <p:spPr bwMode="auto"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169536161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1685961007" name="Shape 3"/>
          <p:cNvSpPr/>
          <p:nvPr/>
        </p:nvSpPr>
        <p:spPr bwMode="auto"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98342648" name="Text 4"/>
          <p:cNvSpPr/>
          <p:nvPr/>
        </p:nvSpPr>
        <p:spPr bwMode="auto"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100"/>
          </a:p>
        </p:txBody>
      </p:sp>
      <p:sp>
        <p:nvSpPr>
          <p:cNvPr id="277625927" name="Text 5"/>
          <p:cNvSpPr/>
          <p:nvPr/>
        </p:nvSpPr>
        <p:spPr bwMode="auto"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Dataset está balanceado?</a:t>
            </a:r>
            <a:endParaRPr lang="en-US" sz="1500"/>
          </a:p>
        </p:txBody>
      </p:sp>
      <p:sp>
        <p:nvSpPr>
          <p:cNvPr id="1554185789" name="Shape 6"/>
          <p:cNvSpPr/>
          <p:nvPr/>
        </p:nvSpPr>
        <p:spPr bwMode="auto"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210577736" name="Text 7"/>
          <p:cNvSpPr/>
          <p:nvPr/>
        </p:nvSpPr>
        <p:spPr bwMode="auto"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100"/>
          </a:p>
        </p:txBody>
      </p:sp>
      <p:sp>
        <p:nvSpPr>
          <p:cNvPr id="1592697148" name="Text 8"/>
          <p:cNvSpPr/>
          <p:nvPr/>
        </p:nvSpPr>
        <p:spPr bwMode="auto"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Combinar técnicas?</a:t>
            </a:r>
            <a:endParaRPr lang="en-US" sz="1500"/>
          </a:p>
        </p:txBody>
      </p:sp>
      <p:sp>
        <p:nvSpPr>
          <p:cNvPr id="1926412523" name="Shape 9"/>
          <p:cNvSpPr/>
          <p:nvPr/>
        </p:nvSpPr>
        <p:spPr bwMode="auto"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501939797" name="Text 10"/>
          <p:cNvSpPr/>
          <p:nvPr/>
        </p:nvSpPr>
        <p:spPr bwMode="auto"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100"/>
          </a:p>
        </p:txBody>
      </p:sp>
      <p:sp>
        <p:nvSpPr>
          <p:cNvPr id="1132837255" name="Text 11"/>
          <p:cNvSpPr/>
          <p:nvPr/>
        </p:nvSpPr>
        <p:spPr bwMode="auto"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Tipo de tarefa?</a:t>
            </a:r>
            <a:endParaRPr lang="en-US" sz="1500"/>
          </a:p>
        </p:txBody>
      </p:sp>
      <p:sp>
        <p:nvSpPr>
          <p:cNvPr id="441026094" name="Shape 12"/>
          <p:cNvSpPr/>
          <p:nvPr/>
        </p:nvSpPr>
        <p:spPr bwMode="auto"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545959096" name="Text 13"/>
          <p:cNvSpPr/>
          <p:nvPr/>
        </p:nvSpPr>
        <p:spPr bwMode="auto"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100"/>
          </a:p>
        </p:txBody>
      </p:sp>
      <p:sp>
        <p:nvSpPr>
          <p:cNvPr id="911824130" name="Text 14"/>
          <p:cNvSpPr/>
          <p:nvPr/>
        </p:nvSpPr>
        <p:spPr bwMode="auto"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Desempenho satisfatório?</a:t>
            </a:r>
            <a:endParaRPr lang="en-US" sz="1500"/>
          </a:p>
        </p:txBody>
      </p:sp>
      <p:sp>
        <p:nvSpPr>
          <p:cNvPr id="1124598481" name="Shape 15"/>
          <p:cNvSpPr/>
          <p:nvPr/>
        </p:nvSpPr>
        <p:spPr bwMode="auto"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09699174" name="Text 16"/>
          <p:cNvSpPr/>
          <p:nvPr/>
        </p:nvSpPr>
        <p:spPr bwMode="auto">
          <a:xfrm>
            <a:off x="2468880" y="3931920"/>
            <a:ext cx="60350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 i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Neste trabalho: técnicas isoladas e combinadas, classificação e ajuste automático de parâmetros.</a:t>
            </a:r>
            <a:endParaRPr lang="en-US" sz="1150"/>
          </a:p>
        </p:txBody>
      </p:sp>
      <p:sp>
        <p:nvSpPr>
          <p:cNvPr id="1136521736" name="Text 17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Proposta</a:t>
            </a:r>
            <a:endParaRPr lang="en-US" sz="900"/>
          </a:p>
        </p:txBody>
      </p:sp>
      <p:sp>
        <p:nvSpPr>
          <p:cNvPr id="369172022" name="Text 18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375392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MATERIAIS</a:t>
            </a:r>
            <a:endParaRPr lang="en-US" sz="1050"/>
          </a:p>
        </p:txBody>
      </p:sp>
      <p:sp>
        <p:nvSpPr>
          <p:cNvPr id="786512909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Dois cenários de inspeção de isoladores</a:t>
            </a:r>
            <a:endParaRPr lang="en-US" sz="2800"/>
          </a:p>
        </p:txBody>
      </p:sp>
      <p:pic>
        <p:nvPicPr>
          <p:cNvPr id="81608016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1561837988" name="Text 2"/>
          <p:cNvSpPr/>
          <p:nvPr/>
        </p:nvSpPr>
        <p:spPr bwMode="auto"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CPLID</a:t>
            </a:r>
            <a:endParaRPr lang="en-US" sz="1800"/>
          </a:p>
        </p:txBody>
      </p:sp>
      <p:sp>
        <p:nvSpPr>
          <p:cNvPr id="13992060" name="Text 3"/>
          <p:cNvSpPr/>
          <p:nvPr/>
        </p:nvSpPr>
        <p:spPr bwMode="auto">
          <a:xfrm>
            <a:off x="521208" y="349300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Linhas de transmissão, isoladores majoritariamente cerâmicos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Defeito estrutural: disco ausente e fraturas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678 imagens de treino e 43 de teste</a:t>
            </a:r>
            <a:endParaRPr lang="en-US" sz="1150"/>
          </a:p>
        </p:txBody>
      </p:sp>
      <p:pic>
        <p:nvPicPr>
          <p:cNvPr id="141773143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1368056499" name="Text 4"/>
          <p:cNvSpPr/>
          <p:nvPr/>
        </p:nvSpPr>
        <p:spPr bwMode="auto"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DRNPW</a:t>
            </a:r>
            <a:endParaRPr lang="en-US" sz="1800"/>
          </a:p>
        </p:txBody>
      </p:sp>
      <p:sp>
        <p:nvSpPr>
          <p:cNvPr id="452687087" name="Text 5"/>
          <p:cNvSpPr/>
          <p:nvPr/>
        </p:nvSpPr>
        <p:spPr bwMode="auto">
          <a:xfrm>
            <a:off x="4727448" y="349300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Imagens de drones disponibilizadas pela CPFL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Fundos heterogêneos com forte poluição visual</a:t>
            </a:r>
            <a:endParaRPr lang="en-US" sz="1150"/>
          </a:p>
          <a:p>
            <a:pPr marL="342900" indent="-342900">
              <a:spcAft>
                <a:spcPts val="300"/>
              </a:spcAft>
              <a:buSzPct val="100000"/>
              <a:buChar char="•"/>
              <a:defRPr/>
            </a:pPr>
            <a:r>
              <a:rPr lang="en-US" sz="11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585 imagens, fortemente desbalanceado</a:t>
            </a:r>
            <a:endParaRPr lang="en-US" sz="1150"/>
          </a:p>
        </p:txBody>
      </p:sp>
      <p:sp>
        <p:nvSpPr>
          <p:cNvPr id="1289013051" name="Text 6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Materiais</a:t>
            </a:r>
            <a:endParaRPr lang="en-US" sz="900"/>
          </a:p>
        </p:txBody>
      </p:sp>
      <p:sp>
        <p:nvSpPr>
          <p:cNvPr id="490464574" name="Text 7"/>
          <p:cNvSpPr/>
          <p:nvPr/>
        </p:nvSpPr>
        <p:spPr bwMode="auto"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7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Foto à direita: ilustrativa do cenário de campo</a:t>
            </a:r>
            <a:endParaRPr lang="en-US" sz="750"/>
          </a:p>
        </p:txBody>
      </p:sp>
      <p:sp>
        <p:nvSpPr>
          <p:cNvPr id="200776627" name="Text 8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368572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PRÉ-PROCESSAMENTO</a:t>
            </a:r>
            <a:endParaRPr lang="en-US" sz="1050"/>
          </a:p>
        </p:txBody>
      </p:sp>
      <p:sp>
        <p:nvSpPr>
          <p:cNvPr id="210281938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O que cada técnica faz com a imagem</a:t>
            </a:r>
            <a:endParaRPr lang="en-US" sz="2800"/>
          </a:p>
        </p:txBody>
      </p:sp>
      <p:pic>
        <p:nvPicPr>
          <p:cNvPr id="23805228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1486882512" name="Text 2"/>
          <p:cNvSpPr/>
          <p:nvPr/>
        </p:nvSpPr>
        <p:spPr bwMode="auto"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Imagem original</a:t>
            </a:r>
            <a:endParaRPr lang="en-US" sz="1050"/>
          </a:p>
        </p:txBody>
      </p:sp>
      <p:pic>
        <p:nvPicPr>
          <p:cNvPr id="570602850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1854148870" name="Shape 3"/>
          <p:cNvSpPr/>
          <p:nvPr/>
        </p:nvSpPr>
        <p:spPr bwMode="auto"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2042223950" name="Text 4"/>
          <p:cNvSpPr/>
          <p:nvPr/>
        </p:nvSpPr>
        <p:spPr bwMode="auto"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Realce de contraste</a:t>
            </a:r>
            <a:endParaRPr lang="en-US" sz="1050"/>
          </a:p>
        </p:txBody>
      </p:sp>
      <p:pic>
        <p:nvPicPr>
          <p:cNvPr id="72659835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76613878" name="Text 5"/>
          <p:cNvSpPr/>
          <p:nvPr/>
        </p:nvSpPr>
        <p:spPr bwMode="auto"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Equalização de histograma</a:t>
            </a:r>
            <a:endParaRPr lang="en-US" sz="1050"/>
          </a:p>
        </p:txBody>
      </p:sp>
      <p:pic>
        <p:nvPicPr>
          <p:cNvPr id="196158370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796997610" name="Text 6"/>
          <p:cNvSpPr/>
          <p:nvPr/>
        </p:nvSpPr>
        <p:spPr bwMode="auto"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Escala de cinza</a:t>
            </a:r>
            <a:endParaRPr lang="en-US" sz="1050"/>
          </a:p>
        </p:txBody>
      </p:sp>
      <p:pic>
        <p:nvPicPr>
          <p:cNvPr id="1491341754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656083532" name="Text 7"/>
          <p:cNvSpPr/>
          <p:nvPr/>
        </p:nvSpPr>
        <p:spPr bwMode="auto"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Desfoque gaussiano</a:t>
            </a:r>
            <a:endParaRPr lang="en-US" sz="1050"/>
          </a:p>
        </p:txBody>
      </p:sp>
      <p:pic>
        <p:nvPicPr>
          <p:cNvPr id="1142539675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71847870" name="Text 8"/>
          <p:cNvSpPr/>
          <p:nvPr/>
        </p:nvSpPr>
        <p:spPr bwMode="auto"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Detecção de bordas</a:t>
            </a:r>
            <a:endParaRPr lang="en-US" sz="1050"/>
          </a:p>
        </p:txBody>
      </p:sp>
      <p:sp>
        <p:nvSpPr>
          <p:cNvPr id="2117536995" name="Shape 9"/>
          <p:cNvSpPr/>
          <p:nvPr/>
        </p:nvSpPr>
        <p:spPr bwMode="auto"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376823500" name="Text 10"/>
          <p:cNvSpPr/>
          <p:nvPr/>
        </p:nvSpPr>
        <p:spPr bwMode="auto"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4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14</a:t>
            </a:r>
            <a:endParaRPr lang="en-US" sz="4400"/>
          </a:p>
        </p:txBody>
      </p:sp>
      <p:sp>
        <p:nvSpPr>
          <p:cNvPr id="783734614" name="Text 11"/>
          <p:cNvSpPr/>
          <p:nvPr/>
        </p:nvSpPr>
        <p:spPr bwMode="auto"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variantes avaliadas</a:t>
            </a:r>
            <a:endParaRPr lang="en-US" sz="1150"/>
          </a:p>
        </p:txBody>
      </p:sp>
      <p:sp>
        <p:nvSpPr>
          <p:cNvPr id="294342188" name="Text 12"/>
          <p:cNvSpPr/>
          <p:nvPr/>
        </p:nvSpPr>
        <p:spPr bwMode="auto"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5BB4D6"/>
                </a:solidFill>
                <a:latin typeface="Calibri"/>
                <a:ea typeface="Calibri"/>
                <a:cs typeface="Calibri"/>
              </a:rPr>
              <a:t>4</a:t>
            </a:r>
            <a:endParaRPr lang="en-US" sz="2200"/>
          </a:p>
          <a:p>
            <a:pPr marL="0" indent="0" algn="ctr">
              <a:buNone/>
              <a:defRPr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combinações híbridas</a:t>
            </a:r>
            <a:endParaRPr lang="en-US" sz="2200"/>
          </a:p>
          <a:p>
            <a:pPr marL="0" indent="0" algn="ctr">
              <a:buNone/>
              <a:defRPr/>
            </a:pPr>
            <a:r>
              <a:rPr lang="en-US"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lang="en-US" sz="2200"/>
          </a:p>
          <a:p>
            <a:pPr marL="0" indent="0" algn="ctr">
              <a:buNone/>
              <a:defRPr/>
            </a:pPr>
            <a:r>
              <a:rPr lang="en-US" sz="2200" b="1">
                <a:solidFill>
                  <a:srgbClr val="5BB4D6"/>
                </a:solidFill>
                <a:latin typeface="Calibri"/>
                <a:ea typeface="Calibri"/>
                <a:cs typeface="Calibri"/>
              </a:rPr>
              <a:t>1</a:t>
            </a:r>
            <a:endParaRPr lang="en-US" sz="2200"/>
          </a:p>
          <a:p>
            <a:pPr marL="0" indent="0" algn="ctr">
              <a:buNone/>
              <a:defRPr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controle sem processamento</a:t>
            </a:r>
            <a:endParaRPr lang="en-US" sz="2200"/>
          </a:p>
        </p:txBody>
      </p:sp>
      <p:sp>
        <p:nvSpPr>
          <p:cNvPr id="409538646" name="Text 13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Materiais</a:t>
            </a:r>
            <a:endParaRPr lang="en-US" sz="900"/>
          </a:p>
        </p:txBody>
      </p:sp>
      <p:sp>
        <p:nvSpPr>
          <p:cNvPr id="1814638219" name="Text 14"/>
          <p:cNvSpPr/>
          <p:nvPr/>
        </p:nvSpPr>
        <p:spPr bwMode="auto"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7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Ilustração do efeito das técnicas sobre uma mesma imagem</a:t>
            </a:r>
            <a:endParaRPr lang="en-US" sz="750"/>
          </a:p>
        </p:txBody>
      </p:sp>
      <p:sp>
        <p:nvSpPr>
          <p:cNvPr id="772404084" name="Text 15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18075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PROTOCOLO EXPERIMENTAL</a:t>
            </a:r>
            <a:endParaRPr lang="en-US" sz="1050"/>
          </a:p>
        </p:txBody>
      </p:sp>
      <p:sp>
        <p:nvSpPr>
          <p:cNvPr id="790581171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Uma variável por vez e uma régua de leitura</a:t>
            </a:r>
            <a:endParaRPr lang="en-US" sz="2800"/>
          </a:p>
        </p:txBody>
      </p:sp>
      <p:sp>
        <p:nvSpPr>
          <p:cNvPr id="521718619" name="Shape 2"/>
          <p:cNvSpPr/>
          <p:nvPr/>
        </p:nvSpPr>
        <p:spPr bwMode="auto"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81307967" name="Text 3"/>
          <p:cNvSpPr/>
          <p:nvPr/>
        </p:nvSpPr>
        <p:spPr bwMode="auto"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14</a:t>
            </a:r>
            <a:endParaRPr lang="en-US" sz="3400"/>
          </a:p>
        </p:txBody>
      </p:sp>
      <p:sp>
        <p:nvSpPr>
          <p:cNvPr id="594642881" name="Text 4"/>
          <p:cNvSpPr/>
          <p:nvPr/>
        </p:nvSpPr>
        <p:spPr bwMode="auto"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variantes</a:t>
            </a:r>
            <a:endParaRPr lang="en-US" sz="1050"/>
          </a:p>
        </p:txBody>
      </p:sp>
      <p:sp>
        <p:nvSpPr>
          <p:cNvPr id="444455495" name="Text 5"/>
          <p:cNvSpPr/>
          <p:nvPr/>
        </p:nvSpPr>
        <p:spPr bwMode="auto"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×</a:t>
            </a:r>
            <a:endParaRPr lang="en-US" sz="2600"/>
          </a:p>
        </p:txBody>
      </p:sp>
      <p:sp>
        <p:nvSpPr>
          <p:cNvPr id="470855436" name="Shape 6"/>
          <p:cNvSpPr/>
          <p:nvPr/>
        </p:nvSpPr>
        <p:spPr bwMode="auto"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64580268" name="Text 7"/>
          <p:cNvSpPr/>
          <p:nvPr/>
        </p:nvSpPr>
        <p:spPr bwMode="auto"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2</a:t>
            </a:r>
            <a:endParaRPr lang="en-US" sz="3400"/>
          </a:p>
        </p:txBody>
      </p:sp>
      <p:sp>
        <p:nvSpPr>
          <p:cNvPr id="1570524437" name="Text 8"/>
          <p:cNvSpPr/>
          <p:nvPr/>
        </p:nvSpPr>
        <p:spPr bwMode="auto"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conjuntos de dados</a:t>
            </a:r>
            <a:endParaRPr lang="en-US" sz="1050"/>
          </a:p>
        </p:txBody>
      </p:sp>
      <p:sp>
        <p:nvSpPr>
          <p:cNvPr id="591154443" name="Text 9"/>
          <p:cNvSpPr/>
          <p:nvPr/>
        </p:nvSpPr>
        <p:spPr bwMode="auto"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×</a:t>
            </a:r>
            <a:endParaRPr lang="en-US" sz="2600"/>
          </a:p>
        </p:txBody>
      </p:sp>
      <p:sp>
        <p:nvSpPr>
          <p:cNvPr id="998321315" name="Shape 10"/>
          <p:cNvSpPr/>
          <p:nvPr/>
        </p:nvSpPr>
        <p:spPr bwMode="auto"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613266578" name="Text 11"/>
          <p:cNvSpPr/>
          <p:nvPr/>
        </p:nvSpPr>
        <p:spPr bwMode="auto"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2</a:t>
            </a:r>
            <a:endParaRPr lang="en-US" sz="3400"/>
          </a:p>
        </p:txBody>
      </p:sp>
      <p:sp>
        <p:nvSpPr>
          <p:cNvPr id="1541911297" name="Text 12"/>
          <p:cNvSpPr/>
          <p:nvPr/>
        </p:nvSpPr>
        <p:spPr bwMode="auto"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modelos</a:t>
            </a:r>
            <a:endParaRPr lang="en-US" sz="1050"/>
          </a:p>
        </p:txBody>
      </p:sp>
      <p:sp>
        <p:nvSpPr>
          <p:cNvPr id="2102605080" name="Text 13"/>
          <p:cNvSpPr/>
          <p:nvPr/>
        </p:nvSpPr>
        <p:spPr bwMode="auto"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→</a:t>
            </a:r>
            <a:endParaRPr lang="en-US" sz="2600"/>
          </a:p>
        </p:txBody>
      </p:sp>
      <p:sp>
        <p:nvSpPr>
          <p:cNvPr id="517626183" name="Shape 14"/>
          <p:cNvSpPr/>
          <p:nvPr/>
        </p:nvSpPr>
        <p:spPr bwMode="auto"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893169159" name="Text 15"/>
          <p:cNvSpPr/>
          <p:nvPr/>
        </p:nvSpPr>
        <p:spPr bwMode="auto"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1</a:t>
            </a:r>
            <a:endParaRPr lang="en-US" sz="3400"/>
          </a:p>
        </p:txBody>
      </p:sp>
      <p:sp>
        <p:nvSpPr>
          <p:cNvPr id="2108796543" name="Text 16"/>
          <p:cNvSpPr/>
          <p:nvPr/>
        </p:nvSpPr>
        <p:spPr bwMode="auto"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variável: o pré-processamento</a:t>
            </a:r>
            <a:endParaRPr lang="en-US" sz="1050"/>
          </a:p>
        </p:txBody>
      </p:sp>
      <p:sp>
        <p:nvSpPr>
          <p:cNvPr id="1551431058" name="Shape 17"/>
          <p:cNvSpPr/>
          <p:nvPr/>
        </p:nvSpPr>
        <p:spPr bwMode="auto"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821241766" name="Text 18"/>
          <p:cNvSpPr/>
          <p:nvPr/>
        </p:nvSpPr>
        <p:spPr bwMode="auto"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Piso majoritário</a:t>
            </a:r>
            <a:endParaRPr lang="en-US" sz="1400"/>
          </a:p>
        </p:txBody>
      </p:sp>
      <p:sp>
        <p:nvSpPr>
          <p:cNvPr id="1278828365" name="Text 19"/>
          <p:cNvSpPr/>
          <p:nvPr/>
        </p:nvSpPr>
        <p:spPr bwMode="auto"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Acurácia obtida ao responder sempre a classe mais frequente do teste, sem observar a imagem. Abaixo dele, o modelo não extrai informação útil.</a:t>
            </a:r>
            <a:endParaRPr lang="en-US" sz="1250"/>
          </a:p>
        </p:txBody>
      </p:sp>
      <p:sp>
        <p:nvSpPr>
          <p:cNvPr id="1690743367" name="Text 20"/>
          <p:cNvSpPr/>
          <p:nvPr/>
        </p:nvSpPr>
        <p:spPr bwMode="auto"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74,42%</a:t>
            </a:r>
            <a:endParaRPr lang="en-US" sz="2800"/>
          </a:p>
        </p:txBody>
      </p:sp>
      <p:sp>
        <p:nvSpPr>
          <p:cNvPr id="1727100513" name="Text 21"/>
          <p:cNvSpPr/>
          <p:nvPr/>
        </p:nvSpPr>
        <p:spPr bwMode="auto"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piso do CPLID</a:t>
            </a:r>
            <a:endParaRPr lang="en-US" sz="1100"/>
          </a:p>
        </p:txBody>
      </p:sp>
      <p:sp>
        <p:nvSpPr>
          <p:cNvPr id="333601633" name="Text 22"/>
          <p:cNvSpPr/>
          <p:nvPr/>
        </p:nvSpPr>
        <p:spPr bwMode="auto"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73,33%</a:t>
            </a:r>
            <a:endParaRPr lang="en-US" sz="2800"/>
          </a:p>
        </p:txBody>
      </p:sp>
      <p:sp>
        <p:nvSpPr>
          <p:cNvPr id="1039143400" name="Text 23"/>
          <p:cNvSpPr/>
          <p:nvPr/>
        </p:nvSpPr>
        <p:spPr bwMode="auto"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piso do DRNPW</a:t>
            </a:r>
            <a:endParaRPr lang="en-US" sz="1100"/>
          </a:p>
        </p:txBody>
      </p:sp>
      <p:sp>
        <p:nvSpPr>
          <p:cNvPr id="2092827499" name="Text 24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Materiais</a:t>
            </a:r>
            <a:endParaRPr lang="en-US" sz="900"/>
          </a:p>
        </p:txBody>
      </p:sp>
      <p:sp>
        <p:nvSpPr>
          <p:cNvPr id="138974692" name="Text 25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17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859923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RESULTADOS · LINHAS DE TRANSMISSÃO COM ISOLADORES CERÂMICOS</a:t>
            </a:r>
            <a:endParaRPr lang="en-US" sz="1050"/>
          </a:p>
        </p:txBody>
      </p:sp>
      <p:sp>
        <p:nvSpPr>
          <p:cNvPr id="2040723468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5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Realçar o contraste evidencia o defeito estrutural</a:t>
            </a:r>
            <a:endParaRPr lang="en-US" sz="2500"/>
          </a:p>
        </p:txBody>
      </p:sp>
      <p:sp>
        <p:nvSpPr>
          <p:cNvPr id="825140108" name="Text 2"/>
          <p:cNvSpPr/>
          <p:nvPr/>
        </p:nvSpPr>
        <p:spPr bwMode="auto"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Acurácia da CNN por técnica, em ordem crescente, com a imagem tratada acima de cada barra (CPLID)</a:t>
            </a:r>
            <a:endParaRPr lang="en-US" sz="950"/>
          </a:p>
        </p:txBody>
      </p:sp>
      <p:pic>
        <p:nvPicPr>
          <p:cNvPr id="36997106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2127373767" name="Shape 3"/>
          <p:cNvSpPr/>
          <p:nvPr/>
        </p:nvSpPr>
        <p:spPr bwMode="auto"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15722144" name="Text 4"/>
          <p:cNvSpPr/>
          <p:nvPr/>
        </p:nvSpPr>
        <p:spPr bwMode="auto"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95,35%</a:t>
            </a:r>
            <a:r>
              <a:rPr lang="en-US" sz="900" b="1">
                <a:solidFill>
                  <a:srgbClr val="5C6F80"/>
                </a:solidFill>
                <a:latin typeface="Cambria"/>
                <a:ea typeface="Cambria"/>
                <a:cs typeface="Cambria"/>
              </a:rPr>
              <a:t>   MELHOR</a:t>
            </a:r>
            <a:endParaRPr lang="en-US" sz="1700"/>
          </a:p>
        </p:txBody>
      </p:sp>
      <p:sp>
        <p:nvSpPr>
          <p:cNvPr id="824545631" name="Text 5"/>
          <p:cNvSpPr/>
          <p:nvPr/>
        </p:nvSpPr>
        <p:spPr bwMode="auto"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  <a:defRPr/>
            </a:pPr>
            <a:r>
              <a:rPr lang="en-US" sz="9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Realce de contraste, com F1-score de 96,55%, o maior do conjunto.</a:t>
            </a:r>
            <a:endParaRPr lang="en-US" sz="900"/>
          </a:p>
        </p:txBody>
      </p:sp>
      <p:sp>
        <p:nvSpPr>
          <p:cNvPr id="1230631667" name="Shape 6"/>
          <p:cNvSpPr/>
          <p:nvPr/>
        </p:nvSpPr>
        <p:spPr bwMode="auto"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411351258" name="Text 7"/>
          <p:cNvSpPr/>
          <p:nvPr/>
        </p:nvSpPr>
        <p:spPr bwMode="auto"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67,44%</a:t>
            </a:r>
            <a:r>
              <a:rPr lang="en-US" sz="900" b="1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   PIOR</a:t>
            </a:r>
            <a:endParaRPr lang="en-US" sz="1700"/>
          </a:p>
        </p:txBody>
      </p:sp>
      <p:sp>
        <p:nvSpPr>
          <p:cNvPr id="488184854" name="Text 8"/>
          <p:cNvSpPr/>
          <p:nvPr/>
        </p:nvSpPr>
        <p:spPr bwMode="auto"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Desfoque gaussiano, abaixo da imagem original e do piso de 74,42%.</a:t>
            </a:r>
            <a:endParaRPr lang="en-US" sz="900"/>
          </a:p>
        </p:txBody>
      </p:sp>
      <p:sp>
        <p:nvSpPr>
          <p:cNvPr id="2144098331" name="Shape 9"/>
          <p:cNvSpPr/>
          <p:nvPr/>
        </p:nvSpPr>
        <p:spPr bwMode="auto"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21582861" name="Text 10"/>
          <p:cNvSpPr/>
          <p:nvPr/>
        </p:nvSpPr>
        <p:spPr bwMode="auto"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93,02%</a:t>
            </a:r>
            <a:r>
              <a:rPr lang="en-US" sz="900" b="1">
                <a:solidFill>
                  <a:srgbClr val="5C6F80"/>
                </a:solidFill>
                <a:latin typeface="Cambria"/>
                <a:ea typeface="Cambria"/>
                <a:cs typeface="Cambria"/>
              </a:rPr>
              <a:t>   ORIGINAL</a:t>
            </a:r>
            <a:endParaRPr lang="en-US" sz="1700"/>
          </a:p>
        </p:txBody>
      </p:sp>
      <p:sp>
        <p:nvSpPr>
          <p:cNvPr id="843971661" name="Text 11"/>
          <p:cNvSpPr/>
          <p:nvPr/>
        </p:nvSpPr>
        <p:spPr bwMode="auto"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  <a:defRPr/>
            </a:pPr>
            <a:r>
              <a:rPr lang="en-US" sz="9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Imagem sem tratamento, superada pelo realce de contraste.</a:t>
            </a:r>
            <a:endParaRPr lang="en-US" sz="900"/>
          </a:p>
        </p:txBody>
      </p:sp>
      <p:sp>
        <p:nvSpPr>
          <p:cNvPr id="1834573281" name="Text 12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900"/>
          </a:p>
        </p:txBody>
      </p:sp>
      <p:sp>
        <p:nvSpPr>
          <p:cNvPr id="1290572500" name="Text 13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465981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RESULTADOS · INSPEÇÃO AÉREA EM AMBIENTE OPERACIONAL REAL</a:t>
            </a:r>
            <a:endParaRPr lang="en-US" sz="1050"/>
          </a:p>
        </p:txBody>
      </p:sp>
      <p:sp>
        <p:nvSpPr>
          <p:cNvPr id="1447060810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5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Combinar técnicas separa o isolador do fundo</a:t>
            </a:r>
            <a:endParaRPr lang="en-US" sz="2500"/>
          </a:p>
        </p:txBody>
      </p:sp>
      <p:sp>
        <p:nvSpPr>
          <p:cNvPr id="1122013466" name="Text 2"/>
          <p:cNvSpPr/>
          <p:nvPr/>
        </p:nvSpPr>
        <p:spPr bwMode="auto"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Acurácia da CNN por técnica, em ordem crescente, nas imagens de drones da CPFL (DRNPW)</a:t>
            </a:r>
            <a:endParaRPr lang="en-US" sz="950"/>
          </a:p>
        </p:txBody>
      </p:sp>
      <p:pic>
        <p:nvPicPr>
          <p:cNvPr id="109079681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377462378" name="Shape 3"/>
          <p:cNvSpPr/>
          <p:nvPr/>
        </p:nvSpPr>
        <p:spPr bwMode="auto"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54574860" name="Text 4"/>
          <p:cNvSpPr/>
          <p:nvPr/>
        </p:nvSpPr>
        <p:spPr bwMode="auto"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83,33%</a:t>
            </a:r>
            <a:r>
              <a:rPr lang="en-US" sz="900" b="1">
                <a:solidFill>
                  <a:srgbClr val="5C6F80"/>
                </a:solidFill>
                <a:latin typeface="Cambria"/>
                <a:ea typeface="Cambria"/>
                <a:cs typeface="Cambria"/>
              </a:rPr>
              <a:t>   MELHOR</a:t>
            </a:r>
            <a:endParaRPr lang="en-US" sz="1700"/>
          </a:p>
        </p:txBody>
      </p:sp>
      <p:sp>
        <p:nvSpPr>
          <p:cNvPr id="851134434" name="Text 5"/>
          <p:cNvSpPr/>
          <p:nvPr/>
        </p:nvSpPr>
        <p:spPr bwMode="auto"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  <a:defRPr/>
            </a:pPr>
            <a:r>
              <a:rPr lang="en-US" sz="9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Realce de contraste com equalização de histograma, F1-score de 75,76%.</a:t>
            </a:r>
            <a:endParaRPr lang="en-US" sz="900"/>
          </a:p>
        </p:txBody>
      </p:sp>
      <p:sp>
        <p:nvSpPr>
          <p:cNvPr id="970616332" name="Shape 6"/>
          <p:cNvSpPr/>
          <p:nvPr/>
        </p:nvSpPr>
        <p:spPr bwMode="auto"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2114638577" name="Text 7"/>
          <p:cNvSpPr/>
          <p:nvPr/>
        </p:nvSpPr>
        <p:spPr bwMode="auto"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49,12%</a:t>
            </a:r>
            <a:r>
              <a:rPr lang="en-US" sz="900" b="1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   F1 ORIGINAL</a:t>
            </a:r>
            <a:endParaRPr lang="en-US" sz="1700"/>
          </a:p>
        </p:txBody>
      </p:sp>
      <p:sp>
        <p:nvSpPr>
          <p:cNvPr id="1990962068" name="Text 8"/>
          <p:cNvSpPr/>
          <p:nvPr/>
        </p:nvSpPr>
        <p:spPr bwMode="auto"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Imagem sem tratamento, com 63,33% de acurácia.</a:t>
            </a:r>
            <a:endParaRPr lang="en-US" sz="900"/>
          </a:p>
        </p:txBody>
      </p:sp>
      <p:sp>
        <p:nvSpPr>
          <p:cNvPr id="1250463886" name="Shape 9"/>
          <p:cNvSpPr/>
          <p:nvPr/>
        </p:nvSpPr>
        <p:spPr bwMode="auto"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642669131" name="Text 10"/>
          <p:cNvSpPr/>
          <p:nvPr/>
        </p:nvSpPr>
        <p:spPr bwMode="auto"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3 imagens</a:t>
            </a:r>
            <a:r>
              <a:rPr lang="en-US" sz="900" b="1">
                <a:solidFill>
                  <a:srgbClr val="5C6F80"/>
                </a:solidFill>
                <a:latin typeface="Cambria"/>
                <a:ea typeface="Cambria"/>
                <a:cs typeface="Cambria"/>
              </a:rPr>
              <a:t>   ACIMA DO PISO</a:t>
            </a:r>
            <a:endParaRPr lang="en-US" sz="1700"/>
          </a:p>
        </p:txBody>
      </p:sp>
      <p:sp>
        <p:nvSpPr>
          <p:cNvPr id="2107247020" name="Text 11"/>
          <p:cNvSpPr/>
          <p:nvPr/>
        </p:nvSpPr>
        <p:spPr bwMode="auto"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  <a:defRPr/>
            </a:pPr>
            <a:r>
              <a:rPr lang="en-US" sz="90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Vantagem do melhor resultado sobre o piso de 73,33%.</a:t>
            </a:r>
            <a:endParaRPr lang="en-US" sz="900"/>
          </a:p>
        </p:txBody>
      </p:sp>
      <p:sp>
        <p:nvSpPr>
          <p:cNvPr id="1022133695" name="Text 12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900"/>
          </a:p>
        </p:txBody>
      </p:sp>
      <p:sp>
        <p:nvSpPr>
          <p:cNvPr id="1848104915" name="Text 13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19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332273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1050"/>
          </a:p>
        </p:txBody>
      </p:sp>
      <p:sp>
        <p:nvSpPr>
          <p:cNvPr id="865607720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Combinar técnicas compensa com a CNN</a:t>
            </a:r>
            <a:endParaRPr lang="en-US" sz="2800"/>
          </a:p>
        </p:txBody>
      </p:sp>
      <p:graphicFrame>
        <p:nvGraphicFramePr>
          <p:cNvPr id="1094300703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274320" y="1325880"/>
          <a:ext cx="49377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493362" name="Text 2"/>
          <p:cNvSpPr/>
          <p:nvPr/>
        </p:nvSpPr>
        <p:spPr bwMode="auto"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Diferença média de acurácia entre técnicas híbridas e simples, CNN (pontos percentuais)</a:t>
            </a:r>
            <a:endParaRPr lang="en-US" sz="950"/>
          </a:p>
        </p:txBody>
      </p:sp>
      <p:sp>
        <p:nvSpPr>
          <p:cNvPr id="1556173165" name="Text 3"/>
          <p:cNvSpPr/>
          <p:nvPr/>
        </p:nvSpPr>
        <p:spPr bwMode="auto"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Combinação</a:t>
            </a:r>
            <a:endParaRPr lang="en-US" sz="1150"/>
          </a:p>
        </p:txBody>
      </p:sp>
      <p:pic>
        <p:nvPicPr>
          <p:cNvPr id="1116913313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21285068" name="Text 4"/>
          <p:cNvSpPr/>
          <p:nvPr/>
        </p:nvSpPr>
        <p:spPr bwMode="auto"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+</a:t>
            </a:r>
            <a:endParaRPr lang="en-US" sz="2200"/>
          </a:p>
        </p:txBody>
      </p:sp>
      <p:pic>
        <p:nvPicPr>
          <p:cNvPr id="1524496792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564142292" name="Shape 5"/>
          <p:cNvSpPr/>
          <p:nvPr/>
        </p:nvSpPr>
        <p:spPr bwMode="auto"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938347629" name="Text 6"/>
          <p:cNvSpPr/>
          <p:nvPr/>
        </p:nvSpPr>
        <p:spPr bwMode="auto">
          <a:xfrm>
            <a:off x="5687568" y="3017519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A ordem importa</a:t>
            </a:r>
            <a:endParaRPr lang="en-US" sz="1300"/>
          </a:p>
        </p:txBody>
      </p:sp>
      <p:sp>
        <p:nvSpPr>
          <p:cNvPr id="1069501095" name="Text 7"/>
          <p:cNvSpPr/>
          <p:nvPr/>
        </p:nvSpPr>
        <p:spPr bwMode="auto"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Sequências diferentes produzem resultados distintos.</a:t>
            </a:r>
            <a:endParaRPr lang="en-US" sz="1300"/>
          </a:p>
        </p:txBody>
      </p:sp>
      <p:sp>
        <p:nvSpPr>
          <p:cNvPr id="2134624087" name="Text 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900"/>
          </a:p>
        </p:txBody>
      </p:sp>
      <p:sp>
        <p:nvSpPr>
          <p:cNvPr id="1336696204" name="Text 9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299597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OTIMIZAÇÃO DE PARÂMETROS</a:t>
            </a:r>
            <a:endParaRPr lang="en-US" sz="1050"/>
          </a:p>
        </p:txBody>
      </p:sp>
      <p:sp>
        <p:nvSpPr>
          <p:cNvPr id="185672257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O ajuste do contraste passa a ser automático</a:t>
            </a:r>
            <a:endParaRPr lang="en-US" sz="2800"/>
          </a:p>
        </p:txBody>
      </p:sp>
      <p:graphicFrame>
        <p:nvGraphicFramePr>
          <p:cNvPr id="1268378959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274320" y="1325880"/>
          <a:ext cx="49377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71319925" name="Text 2"/>
          <p:cNvSpPr/>
          <p:nvPr/>
        </p:nvSpPr>
        <p:spPr bwMode="auto"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Busca em grade: acurácia no teste por fator de realce de contraste (DRNPW)</a:t>
            </a:r>
            <a:endParaRPr lang="en-US" sz="950"/>
          </a:p>
        </p:txBody>
      </p:sp>
      <p:sp>
        <p:nvSpPr>
          <p:cNvPr id="116172752" name="Shape 3"/>
          <p:cNvSpPr/>
          <p:nvPr/>
        </p:nvSpPr>
        <p:spPr bwMode="auto"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47243435" name="Text 4"/>
          <p:cNvSpPr/>
          <p:nvPr/>
        </p:nvSpPr>
        <p:spPr bwMode="auto"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1,333</a:t>
            </a:r>
            <a:endParaRPr lang="en-US" sz="2400"/>
          </a:p>
        </p:txBody>
      </p:sp>
      <p:sp>
        <p:nvSpPr>
          <p:cNvPr id="1859382433" name="Text 5"/>
          <p:cNvSpPr/>
          <p:nvPr/>
        </p:nvSpPr>
        <p:spPr bwMode="auto"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Busca em grade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90,0% de acurácia no teste</a:t>
            </a:r>
            <a:endParaRPr lang="en-US" sz="1050"/>
          </a:p>
        </p:txBody>
      </p:sp>
      <p:sp>
        <p:nvSpPr>
          <p:cNvPr id="2122997727" name="Shape 6"/>
          <p:cNvSpPr/>
          <p:nvPr/>
        </p:nvSpPr>
        <p:spPr bwMode="auto"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83946220" name="Text 7"/>
          <p:cNvSpPr/>
          <p:nvPr/>
        </p:nvSpPr>
        <p:spPr bwMode="auto"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1,4364</a:t>
            </a:r>
            <a:endParaRPr lang="en-US" sz="2400"/>
          </a:p>
        </p:txBody>
      </p:sp>
      <p:sp>
        <p:nvSpPr>
          <p:cNvPr id="1428519186" name="Text 8"/>
          <p:cNvSpPr/>
          <p:nvPr/>
        </p:nvSpPr>
        <p:spPr bwMode="auto"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Busca aleatória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85,06% de acurácia na validação</a:t>
            </a:r>
            <a:endParaRPr lang="en-US" sz="1050"/>
          </a:p>
        </p:txBody>
      </p:sp>
      <p:sp>
        <p:nvSpPr>
          <p:cNvPr id="1013405116" name="Shape 9"/>
          <p:cNvSpPr/>
          <p:nvPr/>
        </p:nvSpPr>
        <p:spPr bwMode="auto"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1676466370" name="Text 10"/>
          <p:cNvSpPr/>
          <p:nvPr/>
        </p:nvSpPr>
        <p:spPr bwMode="auto"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Os dois métodos apontam para valores um pouco acima de 1,0.</a:t>
            </a:r>
            <a:endParaRPr lang="en-US" sz="1250"/>
          </a:p>
        </p:txBody>
      </p:sp>
      <p:sp>
        <p:nvSpPr>
          <p:cNvPr id="2125560188" name="Text 11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900"/>
          </a:p>
        </p:txBody>
      </p:sp>
      <p:sp>
        <p:nvSpPr>
          <p:cNvPr id="1418528195" name="Text 12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21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9220448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EXPERIMENTO ADICIONAL</a:t>
            </a:r>
            <a:endParaRPr lang="en-US" sz="1050"/>
          </a:p>
        </p:txBody>
      </p:sp>
      <p:sp>
        <p:nvSpPr>
          <p:cNvPr id="364119769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Trocar o modelo inverte a melhor técnica</a:t>
            </a:r>
            <a:endParaRPr lang="en-US" sz="2800"/>
          </a:p>
        </p:txBody>
      </p:sp>
      <p:graphicFrame>
        <p:nvGraphicFramePr>
          <p:cNvPr id="827001682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274320" y="1298448"/>
          <a:ext cx="475488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79284370" name="Text 2"/>
          <p:cNvSpPr/>
          <p:nvPr/>
        </p:nvSpPr>
        <p:spPr bwMode="auto"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950" i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Acurácia média nas 14 técnicas</a:t>
            </a:r>
            <a:endParaRPr lang="en-US" sz="950"/>
          </a:p>
        </p:txBody>
      </p:sp>
      <p:sp>
        <p:nvSpPr>
          <p:cNvPr id="178162313" name="Text 3"/>
          <p:cNvSpPr/>
          <p:nvPr/>
        </p:nvSpPr>
        <p:spPr bwMode="auto"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 mesma técnica: CNN → YOLOv8n-cls</a:t>
            </a:r>
            <a:endParaRPr lang="en-US" sz="1150"/>
          </a:p>
        </p:txBody>
      </p:sp>
      <p:sp>
        <p:nvSpPr>
          <p:cNvPr id="1129249530" name="Shape 4"/>
          <p:cNvSpPr/>
          <p:nvPr/>
        </p:nvSpPr>
        <p:spPr bwMode="auto"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11641956" name="Text 5"/>
          <p:cNvSpPr/>
          <p:nvPr/>
        </p:nvSpPr>
        <p:spPr bwMode="auto"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CLAHE + realce</a:t>
            </a:r>
            <a:endParaRPr lang="en-US" sz="1100"/>
          </a:p>
          <a:p>
            <a:pPr marL="0" indent="0">
              <a:buNone/>
              <a:defRPr/>
            </a:pPr>
            <a:r>
              <a:rPr lang="en-US" sz="9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CPLID</a:t>
            </a:r>
            <a:endParaRPr lang="en-US" sz="1100"/>
          </a:p>
        </p:txBody>
      </p:sp>
      <p:sp>
        <p:nvSpPr>
          <p:cNvPr id="1145855994" name="Text 6"/>
          <p:cNvSpPr/>
          <p:nvPr/>
        </p:nvSpPr>
        <p:spPr bwMode="auto"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95,35%</a:t>
            </a:r>
            <a:r>
              <a:rPr lang="en-US" sz="1350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  →  </a:t>
            </a:r>
            <a:r>
              <a:rPr lang="en-US" sz="135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51,16%</a:t>
            </a:r>
            <a:endParaRPr lang="en-US" sz="1350"/>
          </a:p>
        </p:txBody>
      </p:sp>
      <p:sp>
        <p:nvSpPr>
          <p:cNvPr id="800590572" name="Shape 7"/>
          <p:cNvSpPr/>
          <p:nvPr/>
        </p:nvSpPr>
        <p:spPr bwMode="auto"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60123443" name="Text 8"/>
          <p:cNvSpPr/>
          <p:nvPr/>
        </p:nvSpPr>
        <p:spPr bwMode="auto"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Realce + equalização</a:t>
            </a:r>
            <a:endParaRPr lang="en-US" sz="1100"/>
          </a:p>
          <a:p>
            <a:pPr marL="0" indent="0">
              <a:buNone/>
              <a:defRPr/>
            </a:pPr>
            <a:r>
              <a:rPr lang="en-US" sz="9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DRNPW</a:t>
            </a:r>
            <a:endParaRPr lang="en-US" sz="1100"/>
          </a:p>
        </p:txBody>
      </p:sp>
      <p:sp>
        <p:nvSpPr>
          <p:cNvPr id="1662600565" name="Text 9"/>
          <p:cNvSpPr/>
          <p:nvPr/>
        </p:nvSpPr>
        <p:spPr bwMode="auto"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83,33%</a:t>
            </a:r>
            <a:r>
              <a:rPr lang="en-US" sz="1350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  →  </a:t>
            </a:r>
            <a:r>
              <a:rPr lang="en-US" sz="135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53,33%</a:t>
            </a:r>
            <a:endParaRPr lang="en-US" sz="1350"/>
          </a:p>
        </p:txBody>
      </p:sp>
      <p:sp>
        <p:nvSpPr>
          <p:cNvPr id="1973394808" name="Shape 10"/>
          <p:cNvSpPr/>
          <p:nvPr/>
        </p:nvSpPr>
        <p:spPr bwMode="auto"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84612936" name="Text 11"/>
          <p:cNvSpPr/>
          <p:nvPr/>
        </p:nvSpPr>
        <p:spPr bwMode="auto"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Escala de cinza</a:t>
            </a:r>
            <a:endParaRPr lang="en-US" sz="1100"/>
          </a:p>
          <a:p>
            <a:pPr marL="0" indent="0">
              <a:buNone/>
              <a:defRPr/>
            </a:pPr>
            <a:r>
              <a:rPr lang="en-US" sz="9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CPLID</a:t>
            </a:r>
            <a:endParaRPr lang="en-US" sz="1100"/>
          </a:p>
        </p:txBody>
      </p:sp>
      <p:sp>
        <p:nvSpPr>
          <p:cNvPr id="33774271" name="Text 12"/>
          <p:cNvSpPr/>
          <p:nvPr/>
        </p:nvSpPr>
        <p:spPr bwMode="auto"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76,74%</a:t>
            </a:r>
            <a:r>
              <a:rPr lang="en-US" sz="1350">
                <a:solidFill>
                  <a:srgbClr val="A9BCCC"/>
                </a:solidFill>
                <a:latin typeface="Cambria"/>
                <a:ea typeface="Cambria"/>
                <a:cs typeface="Cambria"/>
              </a:rPr>
              <a:t>  →  </a:t>
            </a:r>
            <a:r>
              <a:rPr lang="en-US" sz="135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81,40%</a:t>
            </a:r>
            <a:endParaRPr lang="en-US" sz="1350"/>
          </a:p>
        </p:txBody>
      </p:sp>
      <p:sp>
        <p:nvSpPr>
          <p:cNvPr id="96736819" name="Text 13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Resultados</a:t>
            </a:r>
            <a:endParaRPr lang="en-US" sz="900"/>
          </a:p>
        </p:txBody>
      </p:sp>
      <p:sp>
        <p:nvSpPr>
          <p:cNvPr id="1817456743" name="Text 14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bg>
      <p:bgPr shadeToTitle="0">
        <a:solidFill>
          <a:srgbClr val="1226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6044485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IMPACTO</a:t>
            </a:r>
            <a:endParaRPr lang="en-US" sz="1050"/>
          </a:p>
        </p:txBody>
      </p:sp>
      <p:sp>
        <p:nvSpPr>
          <p:cNvPr id="1219203300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 que a metodologia entrega</a:t>
            </a:r>
            <a:endParaRPr lang="en-US" sz="2800"/>
          </a:p>
        </p:txBody>
      </p:sp>
      <p:sp>
        <p:nvSpPr>
          <p:cNvPr id="1292525265" name="Shape 2"/>
          <p:cNvSpPr/>
          <p:nvPr/>
        </p:nvSpPr>
        <p:spPr bwMode="auto"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36928583" name="Text 3"/>
          <p:cNvSpPr/>
          <p:nvPr/>
        </p:nvSpPr>
        <p:spPr bwMode="auto"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49,12% → 75,76%</a:t>
            </a:r>
            <a:endParaRPr lang="en-US" sz="2400"/>
          </a:p>
        </p:txBody>
      </p:sp>
      <p:sp>
        <p:nvSpPr>
          <p:cNvPr id="90800695" name="Text 4"/>
          <p:cNvSpPr/>
          <p:nvPr/>
        </p:nvSpPr>
        <p:spPr bwMode="auto"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Ganho de desempenho</a:t>
            </a:r>
            <a:endParaRPr lang="en-US" sz="1300"/>
          </a:p>
        </p:txBody>
      </p:sp>
      <p:sp>
        <p:nvSpPr>
          <p:cNvPr id="1664907369" name="Text 5"/>
          <p:cNvSpPr/>
          <p:nvPr/>
        </p:nvSpPr>
        <p:spPr bwMode="auto"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F1-score da imagem original à melhor combinação, no DRNPW</a:t>
            </a:r>
            <a:endParaRPr lang="en-US" sz="1100"/>
          </a:p>
        </p:txBody>
      </p:sp>
      <p:sp>
        <p:nvSpPr>
          <p:cNvPr id="949488342" name="Shape 6"/>
          <p:cNvSpPr/>
          <p:nvPr/>
        </p:nvSpPr>
        <p:spPr bwMode="auto"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3113213" name="Text 7"/>
          <p:cNvSpPr/>
          <p:nvPr/>
        </p:nvSpPr>
        <p:spPr bwMode="auto"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5BB4D6"/>
                </a:solidFill>
                <a:latin typeface="Cambria"/>
                <a:ea typeface="Cambria"/>
                <a:cs typeface="Cambria"/>
              </a:rPr>
              <a:t>93,02% → 67,44%</a:t>
            </a:r>
            <a:endParaRPr lang="en-US" sz="2400"/>
          </a:p>
        </p:txBody>
      </p:sp>
      <p:sp>
        <p:nvSpPr>
          <p:cNvPr id="1287691205" name="Text 8"/>
          <p:cNvSpPr/>
          <p:nvPr/>
        </p:nvSpPr>
        <p:spPr bwMode="auto"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Proteção contra a escolha errada</a:t>
            </a:r>
            <a:endParaRPr lang="en-US" sz="1300"/>
          </a:p>
        </p:txBody>
      </p:sp>
      <p:sp>
        <p:nvSpPr>
          <p:cNvPr id="1703401174" name="Text 9"/>
          <p:cNvSpPr/>
          <p:nvPr/>
        </p:nvSpPr>
        <p:spPr bwMode="auto"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acurácia da imagem original ao desfoque gaussiano, no CPLID</a:t>
            </a:r>
            <a:endParaRPr lang="en-US" sz="1100"/>
          </a:p>
        </p:txBody>
      </p:sp>
      <p:sp>
        <p:nvSpPr>
          <p:cNvPr id="670811881" name="Shape 10"/>
          <p:cNvSpPr/>
          <p:nvPr/>
        </p:nvSpPr>
        <p:spPr bwMode="auto"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94636340" name="Text 11"/>
          <p:cNvSpPr/>
          <p:nvPr/>
        </p:nvSpPr>
        <p:spPr bwMode="auto">
          <a:xfrm>
            <a:off x="731520" y="3017519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5BB4D6"/>
                </a:solidFill>
                <a:latin typeface="Cambria"/>
                <a:ea typeface="Cambria"/>
                <a:cs typeface="Cambria"/>
              </a:rPr>
              <a:t>84,55% × 66,28%</a:t>
            </a:r>
            <a:endParaRPr lang="en-US" sz="2400"/>
          </a:p>
        </p:txBody>
      </p:sp>
      <p:sp>
        <p:nvSpPr>
          <p:cNvPr id="1641383175" name="Text 12"/>
          <p:cNvSpPr/>
          <p:nvPr/>
        </p:nvSpPr>
        <p:spPr bwMode="auto"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Onde investir</a:t>
            </a:r>
            <a:endParaRPr lang="en-US" sz="1300"/>
          </a:p>
        </p:txBody>
      </p:sp>
      <p:sp>
        <p:nvSpPr>
          <p:cNvPr id="35107985" name="Text 13"/>
          <p:cNvSpPr/>
          <p:nvPr/>
        </p:nvSpPr>
        <p:spPr bwMode="auto"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a arquitetura maior e pré-treinada não superou a CNN, no CPLID</a:t>
            </a:r>
            <a:endParaRPr lang="en-US" sz="1100"/>
          </a:p>
        </p:txBody>
      </p:sp>
      <p:sp>
        <p:nvSpPr>
          <p:cNvPr id="859648877" name="Shape 14"/>
          <p:cNvSpPr/>
          <p:nvPr/>
        </p:nvSpPr>
        <p:spPr bwMode="auto"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84976838" name="Text 15"/>
          <p:cNvSpPr/>
          <p:nvPr/>
        </p:nvSpPr>
        <p:spPr bwMode="auto">
          <a:xfrm>
            <a:off x="4846320" y="3017519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5A54A"/>
                </a:solidFill>
                <a:latin typeface="Cambria"/>
                <a:ea typeface="Cambria"/>
                <a:cs typeface="Cambria"/>
              </a:rPr>
              <a:t>↺</a:t>
            </a:r>
            <a:endParaRPr lang="en-US" sz="2400"/>
          </a:p>
        </p:txBody>
      </p:sp>
      <p:sp>
        <p:nvSpPr>
          <p:cNvPr id="1494883858" name="Text 16"/>
          <p:cNvSpPr/>
          <p:nvPr/>
        </p:nvSpPr>
        <p:spPr bwMode="auto"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Reexecução controlada</a:t>
            </a:r>
            <a:endParaRPr lang="en-US" sz="1300"/>
          </a:p>
        </p:txBody>
      </p:sp>
      <p:sp>
        <p:nvSpPr>
          <p:cNvPr id="257165711" name="Text 17"/>
          <p:cNvSpPr/>
          <p:nvPr/>
        </p:nvSpPr>
        <p:spPr bwMode="auto"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seleção refeita a cada mudança de modelo ou de conjunto de dados</a:t>
            </a:r>
            <a:endParaRPr lang="en-US" sz="1100"/>
          </a:p>
        </p:txBody>
      </p:sp>
      <p:sp>
        <p:nvSpPr>
          <p:cNvPr id="911613137" name="Text 1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Impacto</a:t>
            </a:r>
            <a:endParaRPr lang="en-US" sz="900"/>
          </a:p>
        </p:txBody>
      </p:sp>
      <p:sp>
        <p:nvSpPr>
          <p:cNvPr id="2140578513" name="Text 19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23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931587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IMPACTO</a:t>
            </a:r>
            <a:endParaRPr lang="en-US" sz="1050"/>
          </a:p>
        </p:txBody>
      </p:sp>
      <p:sp>
        <p:nvSpPr>
          <p:cNvPr id="415398912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Vantagens para o sistema elétrico</a:t>
            </a:r>
            <a:endParaRPr lang="en-US" sz="2800"/>
          </a:p>
        </p:txBody>
      </p:sp>
      <p:sp>
        <p:nvSpPr>
          <p:cNvPr id="1053537478" name="Shape 2"/>
          <p:cNvSpPr/>
          <p:nvPr/>
        </p:nvSpPr>
        <p:spPr bwMode="auto"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254181266" name="Shape 3"/>
          <p:cNvSpPr/>
          <p:nvPr/>
        </p:nvSpPr>
        <p:spPr bwMode="auto"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07509768" name="Shape 4"/>
          <p:cNvSpPr/>
          <p:nvPr/>
        </p:nvSpPr>
        <p:spPr bwMode="auto">
          <a:xfrm>
            <a:off x="685800" y="1508759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82005060" name="Text 5"/>
          <p:cNvSpPr/>
          <p:nvPr/>
        </p:nvSpPr>
        <p:spPr bwMode="auto">
          <a:xfrm>
            <a:off x="685800" y="150875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1006979330" name="Text 6"/>
          <p:cNvSpPr/>
          <p:nvPr/>
        </p:nvSpPr>
        <p:spPr bwMode="auto">
          <a:xfrm>
            <a:off x="1234440" y="1508759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Continuidade</a:t>
            </a:r>
            <a:endParaRPr lang="en-US" sz="1350"/>
          </a:p>
        </p:txBody>
      </p:sp>
      <p:sp>
        <p:nvSpPr>
          <p:cNvPr id="1175984205" name="Text 7"/>
          <p:cNvSpPr/>
          <p:nvPr/>
        </p:nvSpPr>
        <p:spPr bwMode="auto"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 detecção precoce de falhas evita interrupções no fornecimento</a:t>
            </a:r>
            <a:endParaRPr lang="en-US" sz="1050"/>
          </a:p>
        </p:txBody>
      </p:sp>
      <p:sp>
        <p:nvSpPr>
          <p:cNvPr id="2103155946" name="Shape 8"/>
          <p:cNvSpPr/>
          <p:nvPr/>
        </p:nvSpPr>
        <p:spPr bwMode="auto"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94064744" name="Shape 9"/>
          <p:cNvSpPr/>
          <p:nvPr/>
        </p:nvSpPr>
        <p:spPr bwMode="auto"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03918719" name="Shape 10"/>
          <p:cNvSpPr/>
          <p:nvPr/>
        </p:nvSpPr>
        <p:spPr bwMode="auto">
          <a:xfrm>
            <a:off x="3474720" y="1508759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2908675" name="Text 11"/>
          <p:cNvSpPr/>
          <p:nvPr/>
        </p:nvSpPr>
        <p:spPr bwMode="auto">
          <a:xfrm>
            <a:off x="3474720" y="150875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1200902781" name="Text 12"/>
          <p:cNvSpPr/>
          <p:nvPr/>
        </p:nvSpPr>
        <p:spPr bwMode="auto">
          <a:xfrm>
            <a:off x="4023360" y="1508759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Custo de manutenção</a:t>
            </a:r>
            <a:endParaRPr lang="en-US" sz="1350"/>
          </a:p>
        </p:txBody>
      </p:sp>
      <p:sp>
        <p:nvSpPr>
          <p:cNvPr id="1654767266" name="Text 13"/>
          <p:cNvSpPr/>
          <p:nvPr/>
        </p:nvSpPr>
        <p:spPr bwMode="auto"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Identificar a falha cedo reduz os custos de manutenção</a:t>
            </a:r>
            <a:endParaRPr lang="en-US" sz="1050"/>
          </a:p>
        </p:txBody>
      </p:sp>
      <p:sp>
        <p:nvSpPr>
          <p:cNvPr id="1958872339" name="Shape 14"/>
          <p:cNvSpPr/>
          <p:nvPr/>
        </p:nvSpPr>
        <p:spPr bwMode="auto"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297691528" name="Shape 15"/>
          <p:cNvSpPr/>
          <p:nvPr/>
        </p:nvSpPr>
        <p:spPr bwMode="auto"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52935600" name="Shape 16"/>
          <p:cNvSpPr/>
          <p:nvPr/>
        </p:nvSpPr>
        <p:spPr bwMode="auto">
          <a:xfrm>
            <a:off x="6263640" y="1508759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75729863" name="Text 17"/>
          <p:cNvSpPr/>
          <p:nvPr/>
        </p:nvSpPr>
        <p:spPr bwMode="auto">
          <a:xfrm>
            <a:off x="6263640" y="150875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1480199152" name="Text 18"/>
          <p:cNvSpPr/>
          <p:nvPr/>
        </p:nvSpPr>
        <p:spPr bwMode="auto">
          <a:xfrm>
            <a:off x="6812280" y="1508759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Segurança</a:t>
            </a:r>
            <a:endParaRPr lang="en-US" sz="1350"/>
          </a:p>
        </p:txBody>
      </p:sp>
      <p:sp>
        <p:nvSpPr>
          <p:cNvPr id="2102801802" name="Text 19"/>
          <p:cNvSpPr/>
          <p:nvPr/>
        </p:nvSpPr>
        <p:spPr bwMode="auto"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Evita intervenções manuais em locais de difícil acesso</a:t>
            </a:r>
            <a:endParaRPr lang="en-US" sz="1050"/>
          </a:p>
        </p:txBody>
      </p:sp>
      <p:sp>
        <p:nvSpPr>
          <p:cNvPr id="1810756128" name="Shape 20"/>
          <p:cNvSpPr/>
          <p:nvPr/>
        </p:nvSpPr>
        <p:spPr bwMode="auto"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19473625" name="Shape 21"/>
          <p:cNvSpPr/>
          <p:nvPr/>
        </p:nvSpPr>
        <p:spPr bwMode="auto"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734611107" name="Shape 22"/>
          <p:cNvSpPr/>
          <p:nvPr/>
        </p:nvSpPr>
        <p:spPr bwMode="auto"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510192172" name="Text 23"/>
          <p:cNvSpPr/>
          <p:nvPr/>
        </p:nvSpPr>
        <p:spPr bwMode="auto"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200"/>
          </a:p>
        </p:txBody>
      </p:sp>
      <p:sp>
        <p:nvSpPr>
          <p:cNvPr id="1897845169" name="Text 24"/>
          <p:cNvSpPr/>
          <p:nvPr/>
        </p:nvSpPr>
        <p:spPr bwMode="auto"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Grandes extensões</a:t>
            </a:r>
            <a:endParaRPr lang="en-US" sz="1350"/>
          </a:p>
        </p:txBody>
      </p:sp>
      <p:sp>
        <p:nvSpPr>
          <p:cNvPr id="2123566954" name="Text 25"/>
          <p:cNvSpPr/>
          <p:nvPr/>
        </p:nvSpPr>
        <p:spPr bwMode="auto"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Drones facilitam a inspeção de longos trechos de linha</a:t>
            </a:r>
            <a:endParaRPr lang="en-US" sz="1050"/>
          </a:p>
        </p:txBody>
      </p:sp>
      <p:sp>
        <p:nvSpPr>
          <p:cNvPr id="1732369423" name="Shape 26"/>
          <p:cNvSpPr/>
          <p:nvPr/>
        </p:nvSpPr>
        <p:spPr bwMode="auto"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85547785" name="Shape 27"/>
          <p:cNvSpPr/>
          <p:nvPr/>
        </p:nvSpPr>
        <p:spPr bwMode="auto"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133711075" name="Shape 28"/>
          <p:cNvSpPr/>
          <p:nvPr/>
        </p:nvSpPr>
        <p:spPr bwMode="auto"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82266138" name="Text 29"/>
          <p:cNvSpPr/>
          <p:nvPr/>
        </p:nvSpPr>
        <p:spPr bwMode="auto"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200"/>
          </a:p>
        </p:txBody>
      </p:sp>
      <p:sp>
        <p:nvSpPr>
          <p:cNvPr id="1371259851" name="Text 30"/>
          <p:cNvSpPr/>
          <p:nvPr/>
        </p:nvSpPr>
        <p:spPr bwMode="auto"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Reprodutibilidade</a:t>
            </a:r>
            <a:endParaRPr lang="en-US" sz="1350"/>
          </a:p>
        </p:txBody>
      </p:sp>
      <p:sp>
        <p:nvSpPr>
          <p:cNvPr id="1953717094" name="Text 31"/>
          <p:cNvSpPr/>
          <p:nvPr/>
        </p:nvSpPr>
        <p:spPr bwMode="auto"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Diagnóstico mais rápido, econômico e menos subjetivo</a:t>
            </a:r>
            <a:endParaRPr lang="en-US" sz="1050"/>
          </a:p>
        </p:txBody>
      </p:sp>
      <p:sp>
        <p:nvSpPr>
          <p:cNvPr id="778279706" name="Shape 32"/>
          <p:cNvSpPr/>
          <p:nvPr/>
        </p:nvSpPr>
        <p:spPr bwMode="auto"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31735075" name="Shape 33"/>
          <p:cNvSpPr/>
          <p:nvPr/>
        </p:nvSpPr>
        <p:spPr bwMode="auto"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481992522" name="Shape 34"/>
          <p:cNvSpPr/>
          <p:nvPr/>
        </p:nvSpPr>
        <p:spPr bwMode="auto"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475446560" name="Text 35"/>
          <p:cNvSpPr/>
          <p:nvPr/>
        </p:nvSpPr>
        <p:spPr bwMode="auto"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200"/>
          </a:p>
        </p:txBody>
      </p:sp>
      <p:sp>
        <p:nvSpPr>
          <p:cNvPr id="1601250246" name="Text 36"/>
          <p:cNvSpPr/>
          <p:nvPr/>
        </p:nvSpPr>
        <p:spPr bwMode="auto"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Manutenção preditiva</a:t>
            </a:r>
            <a:endParaRPr lang="en-US" sz="1350"/>
          </a:p>
        </p:txBody>
      </p:sp>
      <p:sp>
        <p:nvSpPr>
          <p:cNvPr id="1410582874" name="Text 37"/>
          <p:cNvSpPr/>
          <p:nvPr/>
        </p:nvSpPr>
        <p:spPr bwMode="auto"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0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Danos identificados antes de se tornarem críticos</a:t>
            </a:r>
            <a:endParaRPr lang="en-US" sz="1050"/>
          </a:p>
        </p:txBody>
      </p:sp>
      <p:sp>
        <p:nvSpPr>
          <p:cNvPr id="144459195" name="Text 3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Impacto</a:t>
            </a:r>
            <a:endParaRPr lang="en-US" sz="900"/>
          </a:p>
        </p:txBody>
      </p:sp>
      <p:sp>
        <p:nvSpPr>
          <p:cNvPr id="1183215124" name="Text 39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12152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CONCLUSÕES</a:t>
            </a:r>
            <a:endParaRPr lang="en-US" sz="1050"/>
          </a:p>
        </p:txBody>
      </p:sp>
      <p:sp>
        <p:nvSpPr>
          <p:cNvPr id="421586250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O que os resultados sustentam</a:t>
            </a:r>
            <a:endParaRPr lang="en-US" sz="2800"/>
          </a:p>
        </p:txBody>
      </p:sp>
      <p:sp>
        <p:nvSpPr>
          <p:cNvPr id="1306810404" name="Shape 2"/>
          <p:cNvSpPr/>
          <p:nvPr/>
        </p:nvSpPr>
        <p:spPr bwMode="auto"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33527732" name="Shape 3"/>
          <p:cNvSpPr/>
          <p:nvPr/>
        </p:nvSpPr>
        <p:spPr bwMode="auto"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13598763" name="Text 4"/>
          <p:cNvSpPr/>
          <p:nvPr/>
        </p:nvSpPr>
        <p:spPr bwMode="auto"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1189949261" name="Text 5"/>
          <p:cNvSpPr/>
          <p:nvPr/>
        </p:nvSpPr>
        <p:spPr bwMode="auto"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O pré-processamento é determinante na detecção de falhas em isoladores</a:t>
            </a:r>
            <a:endParaRPr lang="en-US" sz="1400"/>
          </a:p>
        </p:txBody>
      </p:sp>
      <p:sp>
        <p:nvSpPr>
          <p:cNvPr id="2079617837" name="Text 6"/>
          <p:cNvSpPr/>
          <p:nvPr/>
        </p:nvSpPr>
        <p:spPr bwMode="auto"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Elevou o F1-score de 49,12% para 75,76% no DRNPW e, mal escolhido, levou a acurácia de 93,02% a 67,44% no CPLID.</a:t>
            </a:r>
            <a:endParaRPr lang="en-US" sz="1150"/>
          </a:p>
        </p:txBody>
      </p:sp>
      <p:sp>
        <p:nvSpPr>
          <p:cNvPr id="2016312639" name="Shape 7"/>
          <p:cNvSpPr/>
          <p:nvPr/>
        </p:nvSpPr>
        <p:spPr bwMode="auto"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63591129" name="Shape 8"/>
          <p:cNvSpPr/>
          <p:nvPr/>
        </p:nvSpPr>
        <p:spPr bwMode="auto"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9999615" name="Text 9"/>
          <p:cNvSpPr/>
          <p:nvPr/>
        </p:nvSpPr>
        <p:spPr bwMode="auto"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1309843351" name="Text 10"/>
          <p:cNvSpPr/>
          <p:nvPr/>
        </p:nvSpPr>
        <p:spPr bwMode="auto"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Não há técnica universalmente superior</a:t>
            </a:r>
            <a:endParaRPr lang="en-US" sz="1400"/>
          </a:p>
        </p:txBody>
      </p:sp>
      <p:sp>
        <p:nvSpPr>
          <p:cNvPr id="386017327" name="Text 11"/>
          <p:cNvSpPr/>
          <p:nvPr/>
        </p:nvSpPr>
        <p:spPr bwMode="auto"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Realce de contraste para defeito estrutural em cadeias cerâmicas. Combinações híbridas para fundos com poluição visual.</a:t>
            </a:r>
            <a:endParaRPr lang="en-US" sz="1150"/>
          </a:p>
        </p:txBody>
      </p:sp>
      <p:sp>
        <p:nvSpPr>
          <p:cNvPr id="1046214805" name="Shape 12"/>
          <p:cNvSpPr/>
          <p:nvPr/>
        </p:nvSpPr>
        <p:spPr bwMode="auto"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02142740" name="Shape 13"/>
          <p:cNvSpPr/>
          <p:nvPr/>
        </p:nvSpPr>
        <p:spPr bwMode="auto"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6907851" name="Text 14"/>
          <p:cNvSpPr/>
          <p:nvPr/>
        </p:nvSpPr>
        <p:spPr bwMode="auto"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2263A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907845178" name="Text 15"/>
          <p:cNvSpPr/>
          <p:nvPr/>
        </p:nvSpPr>
        <p:spPr bwMode="auto"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A seleção do pré-processamento depende do modelo</a:t>
            </a:r>
            <a:endParaRPr lang="en-US" sz="1400"/>
          </a:p>
        </p:txBody>
      </p:sp>
      <p:sp>
        <p:nvSpPr>
          <p:cNvPr id="558904825" name="Text 16"/>
          <p:cNvSpPr/>
          <p:nvPr/>
        </p:nvSpPr>
        <p:spPr bwMode="auto">
          <a:xfrm>
            <a:off x="1325880" y="3867911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  <a:defRPr/>
            </a:pPr>
            <a:r>
              <a:rPr lang="en-US" sz="115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A ordem de mérito se inverteu entre a CNN e o YOLOv8n-cls, e a escolha deve ser refeita a cada mudança.</a:t>
            </a:r>
            <a:endParaRPr lang="en-US" sz="1150"/>
          </a:p>
        </p:txBody>
      </p:sp>
      <p:sp>
        <p:nvSpPr>
          <p:cNvPr id="269150158" name="Text 17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Conclusões</a:t>
            </a:r>
            <a:endParaRPr lang="en-US" sz="900"/>
          </a:p>
        </p:txBody>
      </p:sp>
      <p:sp>
        <p:nvSpPr>
          <p:cNvPr id="504698930" name="Text 18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27694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CONCLUSÕES</a:t>
            </a:r>
            <a:endParaRPr lang="en-US" sz="1050"/>
          </a:p>
        </p:txBody>
      </p:sp>
      <p:sp>
        <p:nvSpPr>
          <p:cNvPr id="1412858118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1B2A3A"/>
                </a:solidFill>
                <a:latin typeface="Cambria"/>
                <a:ea typeface="Cambria"/>
                <a:cs typeface="Cambria"/>
              </a:rPr>
              <a:t>Limitações e trabalhos futuros</a:t>
            </a:r>
            <a:endParaRPr lang="en-US" sz="2800"/>
          </a:p>
        </p:txBody>
      </p:sp>
      <p:sp>
        <p:nvSpPr>
          <p:cNvPr id="665081536" name="Shape 2"/>
          <p:cNvSpPr/>
          <p:nvPr/>
        </p:nvSpPr>
        <p:spPr bwMode="auto"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4162828" name="Text 3"/>
          <p:cNvSpPr/>
          <p:nvPr/>
        </p:nvSpPr>
        <p:spPr bwMode="auto"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Limitações</a:t>
            </a:r>
            <a:endParaRPr lang="en-US" sz="1400"/>
          </a:p>
        </p:txBody>
      </p:sp>
      <p:sp>
        <p:nvSpPr>
          <p:cNvPr id="1864059129" name="Text 4"/>
          <p:cNvSpPr/>
          <p:nvPr/>
        </p:nvSpPr>
        <p:spPr bwMode="auto"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Escassez de imagens públicas com defeitos anotados</a:t>
            </a:r>
            <a:endParaRPr lang="en-US" sz="125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Conjuntos de dados fortemente desbalanceados</a:t>
            </a:r>
            <a:endParaRPr lang="en-US" sz="125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1B2A3A"/>
                </a:solidFill>
                <a:latin typeface="Calibri"/>
                <a:ea typeface="Calibri"/>
                <a:cs typeface="Calibri"/>
              </a:rPr>
              <a:t>Explosão combinatória ao otimizar todos os parâmetros</a:t>
            </a:r>
            <a:endParaRPr lang="en-US" sz="1250"/>
          </a:p>
        </p:txBody>
      </p:sp>
      <p:sp>
        <p:nvSpPr>
          <p:cNvPr id="699054189" name="Shape 5"/>
          <p:cNvSpPr/>
          <p:nvPr/>
        </p:nvSpPr>
        <p:spPr bwMode="auto"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blurRad="152400" dist="25400" dir="5400000" sx="100000" sy="100000" kx="0" ky="0" algn="bl" rotWithShape="0">
              <a:srgbClr val="1B2A3A">
                <a:alpha val="12000"/>
              </a:srgbClr>
            </a:outerShdw>
          </a:effectLst>
        </p:spPr>
      </p:sp>
      <p:sp>
        <p:nvSpPr>
          <p:cNvPr id="2090064597" name="Text 6"/>
          <p:cNvSpPr/>
          <p:nvPr/>
        </p:nvSpPr>
        <p:spPr bwMode="auto"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Trabalhos futuros</a:t>
            </a:r>
            <a:endParaRPr lang="en-US" sz="1400"/>
          </a:p>
        </p:txBody>
      </p:sp>
      <p:sp>
        <p:nvSpPr>
          <p:cNvPr id="1818532265" name="Text 7"/>
          <p:cNvSpPr/>
          <p:nvPr/>
        </p:nvSpPr>
        <p:spPr bwMode="auto"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Otimização bayesiana de múltiplos parâmetros</a:t>
            </a:r>
            <a:endParaRPr lang="en-US" sz="125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Aumento de dados com GANs</a:t>
            </a:r>
            <a:endParaRPr lang="en-US" sz="125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Integração com arquiteturas de detecção</a:t>
            </a:r>
            <a:endParaRPr lang="en-US" sz="125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Métricas robustas ao desbalanceamento</a:t>
            </a:r>
            <a:endParaRPr lang="en-US" sz="125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Execução embarcada em drones</a:t>
            </a:r>
            <a:endParaRPr lang="en-US" sz="1250"/>
          </a:p>
        </p:txBody>
      </p:sp>
      <p:sp>
        <p:nvSpPr>
          <p:cNvPr id="969879116" name="Text 8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C6F80"/>
                </a:solidFill>
                <a:latin typeface="Calibri"/>
                <a:ea typeface="Calibri"/>
                <a:cs typeface="Calibri"/>
              </a:rPr>
              <a:t>Conclusões</a:t>
            </a:r>
            <a:endParaRPr lang="en-US" sz="900"/>
          </a:p>
        </p:txBody>
      </p:sp>
      <p:sp>
        <p:nvSpPr>
          <p:cNvPr id="1741089213" name="Text 9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26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7">
    <p:bg>
      <p:bgPr shadeToTitle="0">
        <a:solidFill>
          <a:srgbClr val="1226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3723477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27017541" name="Text 0"/>
          <p:cNvSpPr/>
          <p:nvPr/>
        </p:nvSpPr>
        <p:spPr bwMode="auto"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 spc="160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IMPACTO</a:t>
            </a:r>
            <a:endParaRPr lang="en-US" sz="1050"/>
          </a:p>
        </p:txBody>
      </p:sp>
      <p:sp>
        <p:nvSpPr>
          <p:cNvPr id="750495336" name="Text 1"/>
          <p:cNvSpPr/>
          <p:nvPr/>
        </p:nvSpPr>
        <p:spPr bwMode="auto"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 impacto para a engenharia elétrica</a:t>
            </a:r>
            <a:endParaRPr lang="en-US" sz="2800"/>
          </a:p>
        </p:txBody>
      </p:sp>
      <p:sp>
        <p:nvSpPr>
          <p:cNvPr id="1814977100" name="Shape 2"/>
          <p:cNvSpPr/>
          <p:nvPr/>
        </p:nvSpPr>
        <p:spPr bwMode="auto"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772272729" name="Text 3"/>
          <p:cNvSpPr/>
          <p:nvPr/>
        </p:nvSpPr>
        <p:spPr bwMode="auto"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Confiabilidade do sistema</a:t>
            </a:r>
            <a:endParaRPr lang="en-US" sz="1500"/>
          </a:p>
        </p:txBody>
      </p:sp>
      <p:sp>
        <p:nvSpPr>
          <p:cNvPr id="280625390" name="Text 4"/>
          <p:cNvSpPr/>
          <p:nvPr/>
        </p:nvSpPr>
        <p:spPr bwMode="auto"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Modelos que identificam melhor as falhas nos isoladores, antes das interrupções</a:t>
            </a:r>
            <a:endParaRPr lang="en-US" sz="1200"/>
          </a:p>
        </p:txBody>
      </p:sp>
      <p:sp>
        <p:nvSpPr>
          <p:cNvPr id="182426123" name="Shape 5"/>
          <p:cNvSpPr/>
          <p:nvPr/>
        </p:nvSpPr>
        <p:spPr bwMode="auto"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5676922" name="Text 6"/>
          <p:cNvSpPr/>
          <p:nvPr/>
        </p:nvSpPr>
        <p:spPr bwMode="auto"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Manutenção de linhas</a:t>
            </a:r>
            <a:endParaRPr lang="en-US" sz="1500"/>
          </a:p>
        </p:txBody>
      </p:sp>
      <p:sp>
        <p:nvSpPr>
          <p:cNvPr id="309914323" name="Text 7"/>
          <p:cNvSpPr/>
          <p:nvPr/>
        </p:nvSpPr>
        <p:spPr bwMode="auto"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Inspeção por drone e IA mais rápida, econômica, segura e reprodutível</a:t>
            </a:r>
            <a:endParaRPr lang="en-US" sz="1200"/>
          </a:p>
        </p:txBody>
      </p:sp>
      <p:sp>
        <p:nvSpPr>
          <p:cNvPr id="133825211" name="Shape 8"/>
          <p:cNvSpPr/>
          <p:nvPr/>
        </p:nvSpPr>
        <p:spPr bwMode="auto">
          <a:xfrm>
            <a:off x="502920" y="3017519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128564537" name="Text 9"/>
          <p:cNvSpPr/>
          <p:nvPr/>
        </p:nvSpPr>
        <p:spPr bwMode="auto"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Método para a inspeção automatizada</a:t>
            </a:r>
            <a:endParaRPr lang="en-US" sz="1500"/>
          </a:p>
        </p:txBody>
      </p:sp>
      <p:sp>
        <p:nvSpPr>
          <p:cNvPr id="780594295" name="Text 10"/>
          <p:cNvSpPr/>
          <p:nvPr/>
        </p:nvSpPr>
        <p:spPr bwMode="auto"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Procedimento sistemático para escolher e ajustar o tratamento das imagens</a:t>
            </a:r>
            <a:endParaRPr lang="en-US" sz="1200"/>
          </a:p>
        </p:txBody>
      </p:sp>
      <p:sp>
        <p:nvSpPr>
          <p:cNvPr id="1382880131" name="Text 11"/>
          <p:cNvSpPr/>
          <p:nvPr/>
        </p:nvSpPr>
        <p:spPr bwMode="auto"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Tratar bem a imagem bruta é tão relevante quanto escolher a arquitetura da rede.</a:t>
            </a:r>
            <a:endParaRPr lang="en-US" sz="1600"/>
          </a:p>
        </p:txBody>
      </p:sp>
      <p:sp>
        <p:nvSpPr>
          <p:cNvPr id="80606760" name="Text 12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Conclusões</a:t>
            </a:r>
            <a:endParaRPr lang="en-US" sz="900"/>
          </a:p>
        </p:txBody>
      </p:sp>
      <p:sp>
        <p:nvSpPr>
          <p:cNvPr id="2016259342" name="Text 13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27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8">
    <p:bg>
      <p:bgPr shadeToTitle="0">
        <a:solidFill>
          <a:srgbClr val="12263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9529615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82590998" name="Text 0"/>
          <p:cNvSpPr/>
          <p:nvPr/>
        </p:nvSpPr>
        <p:spPr bwMode="auto"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Obrigado pela atenção</a:t>
            </a:r>
            <a:endParaRPr lang="en-US" sz="3400"/>
          </a:p>
        </p:txBody>
      </p:sp>
      <p:sp>
        <p:nvSpPr>
          <p:cNvPr id="1539381604" name="Text 1"/>
          <p:cNvSpPr/>
          <p:nvPr/>
        </p:nvSpPr>
        <p:spPr bwMode="auto"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Fico à disposição da banca para as arguições.</a:t>
            </a:r>
            <a:endParaRPr lang="en-US" sz="1400"/>
          </a:p>
        </p:txBody>
      </p:sp>
      <p:sp>
        <p:nvSpPr>
          <p:cNvPr id="1314786143" name="Text 2"/>
          <p:cNvSpPr/>
          <p:nvPr/>
        </p:nvSpPr>
        <p:spPr bwMode="auto">
          <a:xfrm>
            <a:off x="502920" y="3017519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Luan Willig Silveira</a:t>
            </a:r>
            <a:endParaRPr lang="en-US" sz="1300"/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luan.w.silveira@gmail.com</a:t>
            </a:r>
            <a:endParaRPr lang="en-US" sz="1300"/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1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PPGEE, Universidade Federal de Santa Maria</a:t>
            </a:r>
            <a:endParaRPr lang="en-US" sz="1300"/>
          </a:p>
        </p:txBody>
      </p:sp>
      <p:sp>
        <p:nvSpPr>
          <p:cNvPr id="1173059060" name="Text 3"/>
          <p:cNvSpPr/>
          <p:nvPr/>
        </p:nvSpPr>
        <p:spPr bwMode="auto"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A9BCCC"/>
                </a:solidFill>
                <a:latin typeface="Calibri"/>
                <a:ea typeface="Calibri"/>
                <a:cs typeface="Calibri"/>
              </a:rPr>
              <a:t>Encerramento</a:t>
            </a:r>
            <a:endParaRPr lang="en-US" sz="900"/>
          </a:p>
        </p:txBody>
      </p:sp>
      <p:sp>
        <p:nvSpPr>
          <p:cNvPr id="276780034" name="Text 4"/>
          <p:cNvSpPr/>
          <p:nvPr/>
        </p:nvSpPr>
        <p:spPr bwMode="auto"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900" b="1">
                <a:solidFill>
                  <a:srgbClr val="F5A54A"/>
                </a:solidFill>
                <a:latin typeface="Calibri"/>
                <a:ea typeface="Calibri"/>
                <a:cs typeface="Calibri"/>
              </a:rPr>
              <a:t>28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28</Slides>
  <Notes>28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/>
  <cp:revision>2</cp:revision>
  <dcterms:created xsi:type="dcterms:W3CDTF">2026-09-15T00:41:55Z</dcterms:created>
  <dcterms:modified xsi:type="dcterms:W3CDTF">2026-09-16T05:00:59Z</dcterms:modified>
</cp:coreProperties>
</file>